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comments/comment1.xml" ContentType="application/vnd.openxmlformats-officedocument.presentationml.comments+xml"/>
  <Override PartName="/ppt/slides/slide2.xml" ContentType="application/vnd.openxmlformats-officedocument.presentationml.slide+xml"/>
  <Override PartName="/ppt/comments/comment2.xml" ContentType="application/vnd.openxmlformats-officedocument.presentationml.comments+xml"/>
  <Override PartName="/ppt/slides/slide3.xml" ContentType="application/vnd.openxmlformats-officedocument.presentationml.slide+xml"/>
  <Override PartName="/ppt/comments/comment3.xml" ContentType="application/vnd.openxmlformats-officedocument.presentationml.comments+xml"/>
  <Override PartName="/ppt/slides/slide4.xml" ContentType="application/vnd.openxmlformats-officedocument.presentationml.slide+xml"/>
  <Override PartName="/ppt/comments/comment4.xml" ContentType="application/vnd.openxmlformats-officedocument.presentationml.comments+xml"/>
  <Override PartName="/ppt/slides/slide5.xml" ContentType="application/vnd.openxmlformats-officedocument.presentationml.slide+xml"/>
  <Override PartName="/ppt/comments/comment5.xml" ContentType="application/vnd.openxmlformats-officedocument.presentationml.comments+xml"/>
  <Override PartName="/ppt/slides/slide6.xml" ContentType="application/vnd.openxmlformats-officedocument.presentationml.slide+xml"/>
  <Override PartName="/ppt/comments/comment6.xml" ContentType="application/vnd.openxmlformats-officedocument.presentationml.comment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10"/>
    <p:sldId id="258" r:id="rId12"/>
    <p:sldId id="259" r:id="rId14"/>
    <p:sldId id="260" r:id="rId16"/>
    <p:sldId id="261" r:id="rId1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Author id="0" name="John Tracy" initials="JT" lastIdx="932" clrIdx="0"/>
  <p:cmAuthor id="1" name="Nellie Tanguay" initials="NT" lastIdx="59" clrIdx="0"/>
</p:cmAuthorLst>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comments" Target="comments/comment1.xml"/><Relationship Id="rId10" Type="http://schemas.openxmlformats.org/officeDocument/2006/relationships/slide" Target="slides/slide2.xml"/><Relationship Id="rId11" Type="http://schemas.openxmlformats.org/officeDocument/2006/relationships/comments" Target="comments/comment2.xml"/><Relationship Id="rId12" Type="http://schemas.openxmlformats.org/officeDocument/2006/relationships/slide" Target="slides/slide3.xml"/><Relationship Id="rId13" Type="http://schemas.openxmlformats.org/officeDocument/2006/relationships/comments" Target="comments/comment3.xml"/><Relationship Id="rId14" Type="http://schemas.openxmlformats.org/officeDocument/2006/relationships/slide" Target="slides/slide4.xml"/><Relationship Id="rId15" Type="http://schemas.openxmlformats.org/officeDocument/2006/relationships/comments" Target="comments/comment4.xml"/><Relationship Id="rId16" Type="http://schemas.openxmlformats.org/officeDocument/2006/relationships/slide" Target="slides/slide5.xml"/><Relationship Id="rId17" Type="http://schemas.openxmlformats.org/officeDocument/2006/relationships/comments" Target="comments/comment5.xml"/><Relationship Id="rId18" Type="http://schemas.openxmlformats.org/officeDocument/2006/relationships/slide" Target="slides/slide6.xml"/><Relationship Id="rId19" Type="http://schemas.openxmlformats.org/officeDocument/2006/relationships/comments" Target="comments/comment6.xml"/></Relationships>

</file>

<file path=ppt/comments/comment1.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6-05-20T00:01:28.656" idx="1">
    <p:pos x="2163" y="2425"/>
    <p:text>1.0 = Proven / operational today
0.75 = Operational but immature or limited scale
0.5 = Capability exists but not demonstrated for HWTE scope
0.25 = Theoretical capability only (i.e. Amp Thai)
TBD = Insufficient validation / roadmap only (I.e.maybe VVDN 🤷‍♂️ )
0 = Does not meet requirement</p:text>
    <p:extLst>
      <p:ext uri="{C676402C-5697-4E1C-873F-D02D1690AC5C}">
        <p15:threadingInfo xmlns:p15="http://schemas.microsoft.com/office/powerpoint/2012/main" timeZoneBias="420"/>
      </p:ext>
    </p:extLst>
  </p:cm>
  <p:cm authorId="0" dt="2026-05-19T19:52:35.442" idx="2">
    <p:pos x="1681" y="3375"/>
    <p:text>Have had assurances from Apple leadership that Amphenol is committed to working on TE stations. However, we’ve seen several verbal commits throughout the last twelve months that Amphenol subsequently backed out of. K12p will be last opportunity to have them bid on projects.</p:text>
    <p:extLst>
      <p:ext uri="{C676402C-5697-4E1C-873F-D02D1690AC5C}">
        <p15:threadingInfo xmlns:p15="http://schemas.microsoft.com/office/powerpoint/2012/main" timeZoneBias="420"/>
      </p:ext>
    </p:extLst>
  </p:cm>
  <p:cm authorId="0" dt="2026-05-12T15:35:54.130" idx="3">
    <p:pos x="4094" y="3375"/>
    <p:text>Strong Apple manufacturing/integration experience with expanding automation capability. Global facilities need follow up but can support from CN for this project. Need conveyor experience.</p:text>
    <p:extLst>
      <p:ext uri="{C676402C-5697-4E1C-873F-D02D1690AC5C}">
        <p15:threadingInfo xmlns:p15="http://schemas.microsoft.com/office/powerpoint/2012/main" timeZoneBias="420"/>
      </p:ext>
    </p:extLst>
  </p:cm>
  <p:cm authorId="0" dt="2026-05-12T15:35:54.130" idx="4">
    <p:pos x="4576" y="3375"/>
    <p:text>Support retrofits only for Ironman stations on V6y programs. </p:text>
    <p:extLst>
      <p:ext uri="{C676402C-5697-4E1C-873F-D02D1690AC5C}">
        <p15:threadingInfo xmlns:p15="http://schemas.microsoft.com/office/powerpoint/2012/main" timeZoneBias="420"/>
      </p:ext>
    </p:extLst>
  </p:cm>
  <p:cm authorId="0" dt="2026-05-20T00:05:26.554" idx="5">
    <p:pos x="5059" y="3375"/>
    <p:text>Thailand site unvetted, pending SQE audit</p:text>
    <p:extLst>
      <p:ext uri="{C676402C-5697-4E1C-873F-D02D1690AC5C}">
        <p15:threadingInfo xmlns:p15="http://schemas.microsoft.com/office/powerpoint/2012/main" timeZoneBias="420"/>
      </p:ext>
    </p:extLst>
  </p:cm>
  <p:cm authorId="0" dt="2026-05-12T15:36:06.879" idx="6">
    <p:pos x="5554" y="3375"/>
    <p:text>Significant apple experience but needs a conveyor/automation project to stress-test capability</p:text>
    <p:extLst>
      <p:ext uri="{C676402C-5697-4E1C-873F-D02D1690AC5C}">
        <p15:threadingInfo xmlns:p15="http://schemas.microsoft.com/office/powerpoint/2012/main" timeZoneBias="420"/>
      </p:ext>
    </p:extLst>
  </p:cm>
  <p:cm authorId="0" dt="2026-05-19T19:52:35.442" idx="7">
    <p:pos x="9970" y="3375"/>
    <p:text>Have had assurances from Apple leadership that Amphenol is committed to working on TE stations. However, we’ve seen several verbal commits throughout the last twelve months that Amphenol subsequently backed out of. K12p will be last opportunity to have them bid on projects.</p:text>
    <p:extLst>
      <p:ext uri="{C676402C-5697-4E1C-873F-D02D1690AC5C}">
        <p15:threadingInfo xmlns:p15="http://schemas.microsoft.com/office/powerpoint/2012/main" timeZoneBias="420"/>
      </p:ext>
    </p:extLst>
  </p:cm>
  <p:cm authorId="0" dt="2026-05-12T15:47:20.969" idx="8">
    <p:pos x="1681" y="3563"/>
    <p:text>Cannot meet MP pricing targets</p:text>
    <p:extLst>
      <p:ext uri="{C676402C-5697-4E1C-873F-D02D1690AC5C}">
        <p15:threadingInfo xmlns:p15="http://schemas.microsoft.com/office/powerpoint/2012/main" timeZoneBias="420"/>
      </p:ext>
    </p:extLst>
  </p:cm>
  <p:cm authorId="0" dt="2026-05-12T15:38:38.148" idx="9">
    <p:pos x="4094" y="3563"/>
    <p:text>Elite technical capability for advanced metrology/test/cal systems.</p:text>
    <p:extLst>
      <p:ext uri="{C676402C-5697-4E1C-873F-D02D1690AC5C}">
        <p15:threadingInfo xmlns:p15="http://schemas.microsoft.com/office/powerpoint/2012/main" timeZoneBias="420"/>
      </p:ext>
    </p:extLst>
  </p:cm>
  <p:cm authorId="0" dt="2026-05-12T15:38:38.148" idx="10">
    <p:pos x="4576" y="3563"/>
    <p:text>Elite technical capability for advanced metrology/test/cal systems.</p:text>
    <p:extLst>
      <p:ext uri="{C676402C-5697-4E1C-873F-D02D1690AC5C}">
        <p15:threadingInfo xmlns:p15="http://schemas.microsoft.com/office/powerpoint/2012/main" timeZoneBias="420"/>
      </p:ext>
    </p:extLst>
  </p:cm>
  <p:cm authorId="0" dt="2026-05-12T15:38:38.148" idx="11">
    <p:pos x="5059" y="3563"/>
    <p:text>Elite technical capability for advanced metrology/test/cal systems.</p:text>
    <p:extLst>
      <p:ext uri="{C676402C-5697-4E1C-873F-D02D1690AC5C}">
        <p15:threadingInfo xmlns:p15="http://schemas.microsoft.com/office/powerpoint/2012/main" timeZoneBias="420"/>
      </p:ext>
    </p:extLst>
  </p:cm>
  <p:cm authorId="0" dt="2026-05-12T19:51:01.997" idx="12">
    <p:pos x="7530" y="3563"/>
    <p:text>Missed EIH on some stations during early engagements (need list from teams).</p:text>
    <p:extLst>
      <p:ext uri="{C676402C-5697-4E1C-873F-D02D1690AC5C}">
        <p15:threadingInfo xmlns:p15="http://schemas.microsoft.com/office/powerpoint/2012/main" timeZoneBias="420"/>
      </p:ext>
    </p:extLst>
  </p:cm>
  <p:cm authorId="0" dt="2026-05-14T02:05:54.779" idx="13">
    <p:pos x="716" y="3759"/>
    <p:text>Overcharge for OSS (J312 Wavesight), Slow comms (have to go back to Italy for everything)</p:text>
    <p:extLst>
      <p:ext uri="{C676402C-5697-4E1C-873F-D02D1690AC5C}">
        <p15:threadingInfo xmlns:p15="http://schemas.microsoft.com/office/powerpoint/2012/main" timeZoneBias="420"/>
      </p:ext>
    </p:extLst>
  </p:cm>
  <p:cm authorId="0" dt="2026-05-12T20:00:58.422" idx="14">
    <p:pos x="1681" y="3759"/>
    <p:text>Need GSMs to confirm pricing targets can be met, but historically have supplied stations so in theory should be ok.</p:text>
    <p:extLst>
      <p:ext uri="{C676402C-5697-4E1C-873F-D02D1690AC5C}">
        <p15:threadingInfo xmlns:p15="http://schemas.microsoft.com/office/powerpoint/2012/main" timeZoneBias="420"/>
      </p:ext>
    </p:extLst>
  </p:cm>
  <p:cm authorId="0" dt="2026-05-12T15:42:08.349" idx="15">
    <p:pos x="4094" y="3759"/>
    <p:text>Proven Apple SI with strong electronics and test-domain expertise</p:text>
    <p:extLst>
      <p:ext uri="{C676402C-5697-4E1C-873F-D02D1690AC5C}">
        <p15:threadingInfo xmlns:p15="http://schemas.microsoft.com/office/powerpoint/2012/main" timeZoneBias="420"/>
      </p:ext>
    </p:extLst>
  </p:cm>
  <p:cm authorId="0" dt="2026-05-20T00:34:38.714" idx="16">
    <p:pos x="4576" y="3759"/>
    <p:text>Would support IN from their IT and TH facility. unclear how their OSS speed and retrofit capability would work, Bob to further vet.</p:text>
    <p:extLst>
      <p:ext uri="{C676402C-5697-4E1C-873F-D02D1690AC5C}">
        <p15:threadingInfo xmlns:p15="http://schemas.microsoft.com/office/powerpoint/2012/main" timeZoneBias="420"/>
      </p:ext>
    </p:extLst>
  </p:cm>
  <p:cm authorId="0" dt="2026-05-20T00:34:38.714" idx="17">
    <p:pos x="5059" y="3759"/>
    <p:text>Would support IN from their IT and TH facility. unclear how their OSS speed and retrofit capability would work, Bob to further vet.</p:text>
    <p:extLst>
      <p:ext uri="{C676402C-5697-4E1C-873F-D02D1690AC5C}">
        <p15:threadingInfo xmlns:p15="http://schemas.microsoft.com/office/powerpoint/2012/main" timeZoneBias="420"/>
      </p:ext>
    </p:extLst>
  </p:cm>
  <p:cm authorId="0" dt="2026-05-12T20:01:24.734" idx="18">
    <p:pos x="5554" y="3759"/>
    <p:text>Experienced with complex automation but haven’t completed a conveyor qual. would be a good candidate station for SPEA to learn and scale on.</p:text>
    <p:extLst>
      <p:ext uri="{C676402C-5697-4E1C-873F-D02D1690AC5C}">
        <p15:threadingInfo xmlns:p15="http://schemas.microsoft.com/office/powerpoint/2012/main" timeZoneBias="420"/>
      </p:ext>
    </p:extLst>
  </p:cm>
  <p:cm authorId="0" dt="2026-05-20T00:36:27.033" idx="19">
    <p:pos x="9153" y="3759"/>
    <p:text>Performance issues highlighted around speed of feedback. major concern is on scalability/ability to support large quantifies of projects in and outside of CN.</p:text>
    <p:extLst>
      <p:ext uri="{C676402C-5697-4E1C-873F-D02D1690AC5C}">
        <p15:threadingInfo xmlns:p15="http://schemas.microsoft.com/office/powerpoint/2012/main" timeZoneBias="420"/>
      </p:ext>
    </p:extLst>
  </p:cm>
  <p:cm authorId="0" dt="2026-05-29T02:22:50.166" idx="20">
    <p:pos x="9233" y="3679"/>
    <p:text>From Leon: I remember their support is very slow on portable project before and the OSS is not from their company(should from 3rd part if I remember correctly). </p:text>
    <p:extLst>
      <p:ext uri="{C676402C-5697-4E1C-873F-D02D1690AC5C}">
        <p15:threadingInfo xmlns:p15="http://schemas.microsoft.com/office/powerpoint/2012/main" timeZoneBias="420">
          <p15:parentCm authorId="0" idx="19"/>
        </p15:threadingInfo>
      </p:ext>
    </p:extLst>
  </p:cm>
  <p:cm authorId="0" dt="2026-05-20T00:53:06.290" idx="21">
    <p:pos x="10405" y="3759"/>
    <p:text>Need to confirm scalability/ability to support ramp.</p:text>
    <p:extLst>
      <p:ext uri="{C676402C-5697-4E1C-873F-D02D1690AC5C}">
        <p15:threadingInfo xmlns:p15="http://schemas.microsoft.com/office/powerpoint/2012/main" timeZoneBias="420"/>
      </p:ext>
    </p:extLst>
  </p:cm>
  <p:cm authorId="0" dt="2026-05-12T15:33:06.628" idx="22">
    <p:pos x="4094" y="3947"/>
    <p:text>From Bob: Strong India infrastructure, machining capability, and growing technical alignment to HWTE needs</p:text>
    <p:extLst>
      <p:ext uri="{C676402C-5697-4E1C-873F-D02D1690AC5C}">
        <p15:threadingInfo xmlns:p15="http://schemas.microsoft.com/office/powerpoint/2012/main" timeZoneBias="420"/>
      </p:ext>
    </p:extLst>
  </p:cm>
  <p:cm authorId="0" dt="2026-05-20T00:05:26.554" idx="23">
    <p:pos x="4576" y="3947"/>
    <p:text>IN Facility built (has it been approved yet, Bob?). ready to take on new projects/orders.</p:text>
    <p:extLst>
      <p:ext uri="{C676402C-5697-4E1C-873F-D02D1690AC5C}">
        <p15:threadingInfo xmlns:p15="http://schemas.microsoft.com/office/powerpoint/2012/main" timeZoneBias="420"/>
      </p:ext>
    </p:extLst>
  </p:cm>
  <p:cm authorId="0" dt="2026-05-12T15:33:06.628" idx="24">
    <p:pos x="5059" y="3947"/>
    <p:text>Can support from KR site and deploy OSS to VN.</p:text>
    <p:extLst>
      <p:ext uri="{C676402C-5697-4E1C-873F-D02D1690AC5C}">
        <p15:threadingInfo xmlns:p15="http://schemas.microsoft.com/office/powerpoint/2012/main" timeZoneBias="420"/>
      </p:ext>
    </p:extLst>
  </p:cm>
  <p:cm authorId="0" dt="2026-05-22T02:17:27.328" idx="25">
    <p:pos x="5554" y="3947"/>
    <p:text>Qualifying on B798 for NPI support. no bandwidth to work on these projects.</p:text>
    <p:extLst>
      <p:ext uri="{C676402C-5697-4E1C-873F-D02D1690AC5C}">
        <p15:threadingInfo xmlns:p15="http://schemas.microsoft.com/office/powerpoint/2012/main" timeZoneBias="420"/>
      </p:ext>
    </p:extLst>
  </p:cm>
  <p:cm authorId="1" dt="2026-05-19T11:21:27.636" idx="1">
    <p:pos x="5972" y="3947"/>
    <p:text>Focus needs to be on B798; capacity is available but should not be spread thin</p:text>
    <p:extLst>
      <p:ext uri="{C676402C-5697-4E1C-873F-D02D1690AC5C}">
        <p15:threadingInfo xmlns:p15="http://schemas.microsoft.com/office/powerpoint/2012/main" timeZoneBias="420"/>
      </p:ext>
    </p:extLst>
  </p:cm>
  <p:cm authorId="0" dt="2026-05-12T19:43:09.708" idx="26">
    <p:pos x="6506" y="3947"/>
    <p:text>Fully booked on B798 readiness. Need to confirm if they have additional resources to support.</p:text>
    <p:extLst>
      <p:ext uri="{C676402C-5697-4E1C-873F-D02D1690AC5C}">
        <p15:threadingInfo xmlns:p15="http://schemas.microsoft.com/office/powerpoint/2012/main" timeZoneBias="420"/>
      </p:ext>
    </p:extLst>
  </p:cm>
  <p:cm authorId="0" dt="2026-05-12T19:46:24.566" idx="27">
    <p:pos x="7530" y="3947"/>
    <p:text>Delivery of V68 stations was delayed, but partially contributed by Apple team not setting up for success given compressed schedule.</p:text>
    <p:extLst>
      <p:ext uri="{C676402C-5697-4E1C-873F-D02D1690AC5C}">
        <p15:threadingInfo xmlns:p15="http://schemas.microsoft.com/office/powerpoint/2012/main" timeZoneBias="420"/>
      </p:ext>
    </p:extLst>
  </p:cm>
  <p:cm authorId="0" dt="2026-05-15T07:07:36.404" idx="28">
    <p:pos x="8612" y="3947"/>
    <p:text>Need to confirm for V68</p:text>
    <p:extLst>
      <p:ext uri="{C676402C-5697-4E1C-873F-D02D1690AC5C}">
        <p15:threadingInfo xmlns:p15="http://schemas.microsoft.com/office/powerpoint/2012/main" timeZoneBias="420"/>
      </p:ext>
    </p:extLst>
  </p:cm>
  <p:cm authorId="0" dt="2026-05-20T19:20:30.660" idx="29">
    <p:pos x="9153" y="3947"/>
    <p:text>Bumpy experience on V68 shadow sets but many of those issues related to issues on our end.</p:text>
    <p:extLst>
      <p:ext uri="{C676402C-5697-4E1C-873F-D02D1690AC5C}">
        <p15:threadingInfo xmlns:p15="http://schemas.microsoft.com/office/powerpoint/2012/main" timeZoneBias="420"/>
      </p:ext>
    </p:extLst>
  </p:cm>
  <p:cm authorId="0" dt="2026-05-20T00:05:26.554" idx="30">
    <p:pos x="5059" y="4132"/>
    <p:text>VN site can support retrofits for MP.</p:text>
    <p:extLst>
      <p:ext uri="{C676402C-5697-4E1C-873F-D02D1690AC5C}">
        <p15:threadingInfo xmlns:p15="http://schemas.microsoft.com/office/powerpoint/2012/main" timeZoneBias="420"/>
      </p:ext>
    </p:extLst>
  </p:cm>
  <p:cm authorId="0" dt="2026-05-12T19:34:34.942" idx="31">
    <p:pos x="5972" y="4132"/>
    <p:text>Can be available if this is a priority project, but want to save for other projects if possible.</p:text>
    <p:extLst>
      <p:ext uri="{C676402C-5697-4E1C-873F-D02D1690AC5C}">
        <p15:threadingInfo xmlns:p15="http://schemas.microsoft.com/office/powerpoint/2012/main" timeZoneBias="420"/>
      </p:ext>
    </p:extLst>
  </p:cm>
  <p:cm authorId="0" dt="2026-05-12T19:36:08.136" idx="32">
    <p:pos x="6506" y="4132"/>
    <p:text>Significant performance issues in TTM (N50 Vader, Grape/Touch, delays on B798 conveyor design) point to limited availability</p:text>
    <p:extLst>
      <p:ext uri="{C676402C-5697-4E1C-873F-D02D1690AC5C}">
        <p15:threadingInfo xmlns:p15="http://schemas.microsoft.com/office/powerpoint/2012/main" timeZoneBias="420"/>
      </p:ext>
    </p:extLst>
  </p:cm>
  <p:cm authorId="0" dt="2026-05-13T22:20:01.677" idx="33">
    <p:pos x="6989" y="4132"/>
    <p:text>https://jira.apple.com/browse/HWECMP-6433 was a potential build blocker, massive efficiency hit to the team.</p:text>
    <p:extLst>
      <p:ext uri="{C676402C-5697-4E1C-873F-D02D1690AC5C}">
        <p15:threadingInfo xmlns:p15="http://schemas.microsoft.com/office/powerpoint/2012/main" timeZoneBias="420"/>
      </p:ext>
    </p:extLst>
  </p:cm>
  <p:cm authorId="0" dt="2026-05-12T19:50:23.571" idx="34">
    <p:pos x="7530" y="4132"/>
    <p:text>Significant performance issues in TTM (N50 Vader, Grape/Touch, delays on B798 conveyor design).</p:text>
    <p:extLst>
      <p:ext uri="{C676402C-5697-4E1C-873F-D02D1690AC5C}">
        <p15:threadingInfo xmlns:p15="http://schemas.microsoft.com/office/powerpoint/2012/main" timeZoneBias="420"/>
      </p:ext>
    </p:extLst>
  </p:cm>
  <p:cm authorId="0" dt="2026-05-15T07:07:07.716" idx="35">
    <p:pos x="8071" y="4132"/>
    <p:text>Missed design lock for B798 project will cause it to miss EIH target.</p:text>
    <p:extLst>
      <p:ext uri="{C676402C-5697-4E1C-873F-D02D1690AC5C}">
        <p15:threadingInfo xmlns:p15="http://schemas.microsoft.com/office/powerpoint/2012/main" timeZoneBias="420"/>
      </p:ext>
    </p:extLst>
  </p:cm>
  <p:cm authorId="0" dt="2026-05-15T07:07:07.716" idx="36">
    <p:pos x="8612" y="4132"/>
    <p:text>Missed design lock for B798 project.</p:text>
    <p:extLst>
      <p:ext uri="{C676402C-5697-4E1C-873F-D02D1690AC5C}">
        <p15:threadingInfo xmlns:p15="http://schemas.microsoft.com/office/powerpoint/2012/main" timeZoneBias="420"/>
      </p:ext>
    </p:extLst>
  </p:cm>
  <p:cm authorId="0" dt="2026-05-15T07:12:55.246" idx="37">
    <p:pos x="9153" y="4132"/>
    <p:text>JLK (HWECMP-6528) - FY26 Q3 (Apr-Jun) Infrequent communication between JLK-IN and JLK-CN led to divergent design conclusions. Deliverable requests were funneled to Apple near the design lock phase instead of early in the design phase.
Quote: "...funneling deliver requests near design lock instead of early design phase" (Summary)</p:text>
    <p:extLst>
      <p:ext uri="{C676402C-5697-4E1C-873F-D02D1690AC5C}">
        <p15:threadingInfo xmlns:p15="http://schemas.microsoft.com/office/powerpoint/2012/main" timeZoneBias="420"/>
      </p:ext>
    </p:extLst>
  </p:cm>
  <p:cm authorId="0" dt="2026-05-12T20:00:58.422" idx="38">
    <p:pos x="1681" y="4320"/>
    <p:text>PRM inflating prices in advance of their IPO and causing commercial issues. proceed with caution.</p:text>
    <p:extLst>
      <p:ext uri="{C676402C-5697-4E1C-873F-D02D1690AC5C}">
        <p15:threadingInfo xmlns:p15="http://schemas.microsoft.com/office/powerpoint/2012/main" timeZoneBias="420"/>
      </p:ext>
    </p:extLst>
  </p:cm>
  <p:cm authorId="0" dt="2026-05-12T15:35:54.130" idx="39">
    <p:pos x="5059" y="4320"/>
    <p:text>Support retrofits for MP programs</p:text>
    <p:extLst>
      <p:ext uri="{C676402C-5697-4E1C-873F-D02D1690AC5C}">
        <p15:threadingInfo xmlns:p15="http://schemas.microsoft.com/office/powerpoint/2012/main" timeZoneBias="420"/>
      </p:ext>
    </p:extLst>
  </p:cm>
  <p:cm authorId="0" dt="2026-06-04T18:16:31.651" idx="40">
    <p:pos x="6989" y="4320"/>
    <p:text>Would have blocked V68 EVT main due to performance issues on CCB block for Grape station.
Able to deliver Helios in several weeks with tons of design changes. invaluable partner to get things done quickly and a much bigger value to NPI.</p:text>
    <p:extLst>
      <p:ext uri="{C676402C-5697-4E1C-873F-D02D1690AC5C}">
        <p15:threadingInfo xmlns:p15="http://schemas.microsoft.com/office/powerpoint/2012/main" timeZoneBias="420"/>
      </p:ext>
    </p:extLst>
  </p:cm>
  <p:cm authorId="0" dt="2026-05-20T00:17:50.013" idx="41">
    <p:pos x="9153" y="4320"/>
    <p:text>From Capex SQE Alan:
- Critical specs are not required in quality check or not reasonable, eg belt roller height inspection position not defined, belt tension inspection point not defined, belt driver shaft runout speed not defined, no specific position defined for sensors position check in IPQC etc;
- GB name and version are not marked on GB, and assembly SOP/IPQC didn’t mention which GB is needed for specific steps;
- QA didn’t use latest measurement tool GO/No GO GB for conveyor width check;
- Grape grounding cable routing and screw fix method is not well defined and no IPQC re-do process after onsite retrofit during SQE onsite audit at CM.
- CM escalation on no dedicate onsite PM during LXKU LBU.
- unproven for ramp, need to monitor closely</p:text>
    <p:extLst>
      <p:ext uri="{C676402C-5697-4E1C-873F-D02D1690AC5C}">
        <p15:threadingInfo xmlns:p15="http://schemas.microsoft.com/office/powerpoint/2012/main" timeZoneBias="420"/>
      </p:ext>
    </p:extLst>
  </p:cm>
  <p:cm authorId="0" dt="2026-05-28T00:15:32.682" idx="42">
    <p:pos x="9233" y="4240"/>
    <p:text>From Rachel Shi: Aligned. In short, 1) their management level is short of ramp knowhow, cannot find the issues by themselves; 2) they have serious resource issue: many key roles like PM are new hiring or no rich Apple ramp experience; 3) technical PM is limited: the senior ones are strong, but only few are capable.</p:text>
    <p:extLst>
      <p:ext uri="{C676402C-5697-4E1C-873F-D02D1690AC5C}">
        <p15:threadingInfo xmlns:p15="http://schemas.microsoft.com/office/powerpoint/2012/main" timeZoneBias="420">
          <p15:parentCm authorId="0" idx="41"/>
        </p15:threadingInfo>
      </p:ext>
    </p:extLst>
  </p:cm>
  <p:cm authorId="0" dt="2026-06-04T18:15:21.821" idx="43">
    <p:pos x="9233" y="4240"/>
    <p:text>From Roy: https://jira.corp.apple.com/browse/HWECMP-6485
Bad support on CCD jig for Edge probe alignment. There is not SW support to this station, and the edge/feature capture is not accurate, which would have blocked EVT main build. iPD was able to implement a workaround to avoid blocking the build. Still waiting on corrective actions from PRM.</p:text>
    <p:extLst>
      <p:ext uri="{C676402C-5697-4E1C-873F-D02D1690AC5C}">
        <p15:threadingInfo xmlns:p15="http://schemas.microsoft.com/office/powerpoint/2012/main" timeZoneBias="420">
          <p15:parentCm authorId="0" idx="41"/>
        </p15:threadingInfo>
      </p:ext>
    </p:extLst>
  </p:cm>
  <p:cm authorId="0" dt="2026-05-12T15:35:54.130" idx="44">
    <p:pos x="5059" y="4508"/>
    <p:text>Support retrofits for MP programs</p:text>
    <p:extLst>
      <p:ext uri="{C676402C-5697-4E1C-873F-D02D1690AC5C}">
        <p15:threadingInfo xmlns:p15="http://schemas.microsoft.com/office/powerpoint/2012/main" timeZoneBias="420"/>
      </p:ext>
    </p:extLst>
  </p:cm>
  <p:cm authorId="0" dt="2026-05-13T22:24:26.244" idx="45">
    <p:pos x="7530" y="4508"/>
    <p:text>Cencorp failed to validate the PLC code with the Coreless script before shipping the fixture, despite repeated instructions to do so. This omission jeopardized the PLC code readiness detection. https://jira.apple.com/browse/HWECMP-6278. </p:text>
    <p:extLst>
      <p:ext uri="{C676402C-5697-4E1C-873F-D02D1690AC5C}">
        <p15:threadingInfo xmlns:p15="http://schemas.microsoft.com/office/powerpoint/2012/main" timeZoneBias="420"/>
      </p:ext>
    </p:extLst>
  </p:cm>
  <p:cm authorId="0" dt="2026-05-13T22:26:56.020" idx="46">
    <p:pos x="9153" y="4508"/>
    <p:text>Cencorp (HWECMP-6277) - FY25 Q4 (Jul-Sep) Cencorp's TPM failed to provide timely feedback on Beckhoff tuning and OQC status. This lack of communication put the fixture EIH and vendor site PLC validation plans at risk.</p:text>
    <p:extLst>
      <p:ext uri="{C676402C-5697-4E1C-873F-D02D1690AC5C}">
        <p15:threadingInfo xmlns:p15="http://schemas.microsoft.com/office/powerpoint/2012/main" timeZoneBias="420"/>
      </p:ext>
    </p:extLst>
  </p:cm>
  <p:cm authorId="0" dt="2026-05-12T15:35:54.130" idx="47">
    <p:pos x="5059" y="4703"/>
    <p:text>Support retrofits for MP programs</p:text>
    <p:extLst>
      <p:ext uri="{C676402C-5697-4E1C-873F-D02D1690AC5C}">
        <p15:threadingInfo xmlns:p15="http://schemas.microsoft.com/office/powerpoint/2012/main" timeZoneBias="420"/>
      </p:ext>
    </p:extLst>
  </p:cm>
  <p:cm authorId="0" dt="2026-05-12T19:43:09.708" idx="48">
    <p:pos x="6506" y="4703"/>
    <p:text>Performance issues pointing to significant capacity issues, suggest hold any engagements until performance improvement plan approved.</p:text>
    <p:extLst>
      <p:ext uri="{C676402C-5697-4E1C-873F-D02D1690AC5C}">
        <p15:threadingInfo xmlns:p15="http://schemas.microsoft.com/office/powerpoint/2012/main" timeZoneBias="420"/>
      </p:ext>
    </p:extLst>
  </p:cm>
  <p:cm authorId="0" dt="2026-05-20T19:00:31.666" idx="49">
    <p:pos x="6989" y="4703"/>
    <p:text>Falsified data. From Capex SQE Alan on 5/20/26: During SQE audit for phone program we found skip whole quality check for one tester, and input make data into quality check sheet, etc.</p:text>
    <p:extLst>
      <p:ext uri="{C676402C-5697-4E1C-873F-D02D1690AC5C}">
        <p15:threadingInfo xmlns:p15="http://schemas.microsoft.com/office/powerpoint/2012/main" timeZoneBias="420"/>
      </p:ext>
    </p:extLst>
  </p:cm>
  <p:cm authorId="0" dt="2026-05-12T19:53:30.889" idx="50">
    <p:pos x="7530" y="4703"/>
    <p:text>Multiple EIH and MBO bringup delays on V68, N50 programs resulting in delays.</p:text>
    <p:extLst>
      <p:ext uri="{C676402C-5697-4E1C-873F-D02D1690AC5C}">
        <p15:threadingInfo xmlns:p15="http://schemas.microsoft.com/office/powerpoint/2012/main" timeZoneBias="420"/>
      </p:ext>
    </p:extLst>
  </p:cm>
  <p:cm authorId="0" dt="2026-05-13T22:26:40.333" idx="51">
    <p:pos x="8071" y="4703"/>
    <p:text>Innorev (HWECMP-6404) - FY26 Q2 (Jan-Mar) Poor quality control on the Brontes Freja station (e.g., OGB bracket issues, wrong tray loading pins) slowed down fixture bring-up. These tray quality issues continuously delayed the EIH of OVB trays.
Quote: "...recently keep delaying the EIH of OVB trays..."
Innorev (HWECMP-6383) - FY26 Q1 (Oct-Dec) Innorev experienced multiple ETA delays for LDCM and QT1 fixtures, severely impacting the build schedule and missing the required P1 EIH date.
Quote: "P1 required EIH date 11/24... Innorev PM informed LDCM ETA delay... QT1 ETD delay to 12/8..."
Innorev (HWECMP-6274) - FY25 Q4 (Jul-Sep) Failure to perform OQC inspections as required, such as failing to separate signal and grounding wires, resulted in signal interference and a 1-2 day delay in the fixture's EIH.
Quote: "...resulting in a 1-2 day delay in the fixture's EIH?"
Innorev (HWECMP-6271) - FY25 Q4 (Jul-Sep) The QT/LDCM fixture experienced ETA and EIH delays tied to late deliveries from a material supplier.
Quote: "...8/20 required EIH, 9/1 delayed ETA..."
Innorev (HWECMP-6270) - FY25 Q4 (Jul-Sep) The iSD Thermal DOE fixture missed its required EIH and suffered ETA delays due to ongoing debugging and uncertain issues described by the vendor.
Quote: "...7/30 required EIH, 8/24 delayed ETA..."
Innorev (HWECMP-6269) - FY25 Q4 (Jul-Sep) No ETA or delivery status updates were provided for the J65 camera, causing it to miss its required EIH.
Quote: "...8/18 required EIH..."</p:text>
    <p:extLst>
      <p:ext uri="{C676402C-5697-4E1C-873F-D02D1690AC5C}">
        <p15:threadingInfo xmlns:p15="http://schemas.microsoft.com/office/powerpoint/2012/main" timeZoneBias="420"/>
      </p:ext>
    </p:extLst>
  </p:cm>
  <p:cm authorId="0" dt="2026-05-15T07:12:21.986" idx="52">
    <p:pos x="9153" y="4703"/>
    <p:text>Innorev (HWECMP-6405) - FY26 Q2 (Jan-Mar) A significant 53-day delay in delivering the Acktar chart for the J917/J920 P1 build occurred due to poor ETA management. While mitigated to avoid an immediate POC blocker, it posed a massive delay risk for subsequent builds.
Quote: "To avoid blocker for POC build..." and "...it is not a blocker yet it a huge delay..."
Innorev (HWECMP-6361) - FY26 Q1 (Oct-Dec) Poor delivery quality of the B790 FATP Freja station risked blocking the build. Issues included missing important components, poorly checked parts, and a failure to implement past lessons learned.
Quote: "FATP Freja delivery quality is very concerning, risk to block the build..."</p:text>
    <p:extLst>
      <p:ext uri="{C676402C-5697-4E1C-873F-D02D1690AC5C}">
        <p15:threadingInfo xmlns:p15="http://schemas.microsoft.com/office/powerpoint/2012/main" timeZoneBias="420"/>
      </p:ext>
    </p:extLst>
  </p:cm>
  <p:cm authorId="0" dt="2026-05-20T00:20:07.337" idx="53">
    <p:pos x="4094" y="4889"/>
    <p:text>Partner with Strong for CN-based fabrication for AE teams for 6+ months. Also partnering with Strong for retrofit kit fabrication on the V68 Magnolia station, where their fab + OSS would support on the ground with Pentamaster’s engineers. Partnership needs help from GSM to reduce lead times (current project has a 6-8 week lead time but help required to pull that in).</p:text>
    <p:extLst>
      <p:ext uri="{C676402C-5697-4E1C-873F-D02D1690AC5C}">
        <p15:threadingInfo xmlns:p15="http://schemas.microsoft.com/office/powerpoint/2012/main" timeZoneBias="420"/>
      </p:ext>
    </p:extLst>
  </p:cm>
  <p:cm authorId="0" dt="2026-05-20T00:20:07.337" idx="54">
    <p:pos x="4576" y="4889"/>
    <p:text>Similar to China, they have a local partnership that will make parts which have proven lead times through AE experience. Would also send their OSS/Engineers from Malaysia to support. </p:text>
    <p:extLst>
      <p:ext uri="{C676402C-5697-4E1C-873F-D02D1690AC5C}">
        <p15:threadingInfo xmlns:p15="http://schemas.microsoft.com/office/powerpoint/2012/main" timeZoneBias="420"/>
      </p:ext>
    </p:extLst>
  </p:cm>
  <p:cm authorId="0" dt="2026-05-12T15:42:27.278" idx="55">
    <p:pos x="5059" y="4889"/>
    <p:text>Promising automation/integration capability with growing strategic relevance</p:text>
    <p:extLst>
      <p:ext uri="{C676402C-5697-4E1C-873F-D02D1690AC5C}">
        <p15:threadingInfo xmlns:p15="http://schemas.microsoft.com/office/powerpoint/2012/main" timeZoneBias="420"/>
      </p:ext>
    </p:extLst>
  </p:cm>
  <p:cm authorId="0" dt="2026-05-22T02:17:27.328" idx="56">
    <p:pos x="5554" y="4889"/>
    <p:text>Have not yet completed a build cycle on their stations, recommend waiting and give a shadow set in the meantime.
Pentamaster turned down MP 2nd source for Chocolate due to bandwidth, demonstrates constraint.</p:text>
    <p:extLst>
      <p:ext uri="{C676402C-5697-4E1C-873F-D02D1690AC5C}">
        <p15:threadingInfo xmlns:p15="http://schemas.microsoft.com/office/powerpoint/2012/main" timeZoneBias="420"/>
      </p:ext>
    </p:extLst>
  </p:cm>
  <p:cm authorId="0" dt="2026-05-12T20:02:15.231" idx="57">
    <p:pos x="6989" y="4889"/>
    <p:text>No recent performance in TTM</p:text>
    <p:extLst>
      <p:ext uri="{C676402C-5697-4E1C-873F-D02D1690AC5C}">
        <p15:threadingInfo xmlns:p15="http://schemas.microsoft.com/office/powerpoint/2012/main" timeZoneBias="420"/>
      </p:ext>
    </p:extLst>
  </p:cm>
  <p:cm authorId="0" dt="2026-05-12T20:02:15.231" idx="58">
    <p:pos x="7530" y="4889"/>
    <p:text>No recent performance in TTM</p:text>
    <p:extLst>
      <p:ext uri="{C676402C-5697-4E1C-873F-D02D1690AC5C}">
        <p15:threadingInfo xmlns:p15="http://schemas.microsoft.com/office/powerpoint/2012/main" timeZoneBias="420"/>
      </p:ext>
    </p:extLst>
  </p:cm>
  <p:cm authorId="0" dt="2026-05-12T20:02:15.231" idx="59">
    <p:pos x="8612" y="4889"/>
    <p:text>No recent performance in TTM</p:text>
    <p:extLst>
      <p:ext uri="{C676402C-5697-4E1C-873F-D02D1690AC5C}">
        <p15:threadingInfo xmlns:p15="http://schemas.microsoft.com/office/powerpoint/2012/main" timeZoneBias="420"/>
      </p:ext>
    </p:extLst>
  </p:cm>
  <p:cm authorId="0" dt="2026-05-20T00:53:06.290" idx="60">
    <p:pos x="10405" y="4889"/>
    <p:text>Slow turnaround times but do have apple module experience. need to evaluate.</p:text>
    <p:extLst>
      <p:ext uri="{C676402C-5697-4E1C-873F-D02D1690AC5C}">
        <p15:threadingInfo xmlns:p15="http://schemas.microsoft.com/office/powerpoint/2012/main" timeZoneBias="420"/>
      </p:ext>
    </p:extLst>
  </p:cm>
  <p:cm authorId="1" dt="2026-05-19T11:17:57.452" idx="2">
    <p:pos x="1681" y="5084"/>
    <p:text>IVD is untested in quoting as of now; will need to gauge once RFPs shared</p:text>
    <p:extLst>
      <p:ext uri="{C676402C-5697-4E1C-873F-D02D1690AC5C}">
        <p15:threadingInfo xmlns:p15="http://schemas.microsoft.com/office/powerpoint/2012/main" timeZoneBias="420"/>
      </p:ext>
    </p:extLst>
  </p:cm>
  <p:cm authorId="0" dt="2026-05-22T18:43:00.572" idx="61">
    <p:pos x="1761" y="5004"/>
    <p:text>Future business success appears overly reliant on Apple Capex business, need to vet if they will be willing to work with us given size of opportunity.</p:text>
    <p:extLst>
      <p:ext uri="{C676402C-5697-4E1C-873F-D02D1690AC5C}">
        <p15:threadingInfo xmlns:p15="http://schemas.microsoft.com/office/powerpoint/2012/main" timeZoneBias="420">
          <p15:parentCm authorId="1" idx="2"/>
        </p15:threadingInfo>
      </p:ext>
    </p:extLst>
  </p:cm>
  <p:cm authorId="0" dt="2026-05-20T00:34:03.592" idx="62">
    <p:pos x="4094" y="5084"/>
    <p:text>Has a CN facility but is only bidding for non-CN work. Pending visit to this facility to understand what they do.</p:text>
    <p:extLst>
      <p:ext uri="{C676402C-5697-4E1C-873F-D02D1690AC5C}">
        <p15:threadingInfo xmlns:p15="http://schemas.microsoft.com/office/powerpoint/2012/main" timeZoneBias="420"/>
      </p:ext>
    </p:extLst>
  </p:cm>
  <p:cm authorId="0" dt="2026-05-20T00:34:38.714" idx="63">
    <p:pos x="4576" y="5084"/>
    <p:text>Would support IN from their VN facility.</p:text>
    <p:extLst>
      <p:ext uri="{C676402C-5697-4E1C-873F-D02D1690AC5C}">
        <p15:threadingInfo xmlns:p15="http://schemas.microsoft.com/office/powerpoint/2012/main" timeZoneBias="420"/>
      </p:ext>
    </p:extLst>
  </p:cm>
  <p:cm authorId="0" dt="2026-05-20T00:35:19.146" idx="64">
    <p:pos x="5059" y="5084"/>
    <p:text>Working on test stations for other customers. </p:text>
    <p:extLst>
      <p:ext uri="{C676402C-5697-4E1C-873F-D02D1690AC5C}">
        <p15:threadingInfo xmlns:p15="http://schemas.microsoft.com/office/powerpoint/2012/main" timeZoneBias="420"/>
      </p:ext>
    </p:extLst>
  </p:cm>
  <p:cm authorId="0" dt="2026-05-12T20:02:15.231" idx="65">
    <p:pos x="6989" y="5084"/>
    <p:text>No recent performance in TTM</p:text>
    <p:extLst>
      <p:ext uri="{C676402C-5697-4E1C-873F-D02D1690AC5C}">
        <p15:threadingInfo xmlns:p15="http://schemas.microsoft.com/office/powerpoint/2012/main" timeZoneBias="420"/>
      </p:ext>
    </p:extLst>
  </p:cm>
  <p:cm authorId="0" dt="2026-05-12T20:02:15.231" idx="66">
    <p:pos x="7530" y="5084"/>
    <p:text>No recent performance in TTM</p:text>
    <p:extLst>
      <p:ext uri="{C676402C-5697-4E1C-873F-D02D1690AC5C}">
        <p15:threadingInfo xmlns:p15="http://schemas.microsoft.com/office/powerpoint/2012/main" timeZoneBias="420"/>
      </p:ext>
    </p:extLst>
  </p:cm>
  <p:cm authorId="0" dt="2026-05-12T20:02:15.231" idx="67">
    <p:pos x="8612" y="5084"/>
    <p:text>No recent performance in TTM</p:text>
    <p:extLst>
      <p:ext uri="{C676402C-5697-4E1C-873F-D02D1690AC5C}">
        <p15:threadingInfo xmlns:p15="http://schemas.microsoft.com/office/powerpoint/2012/main" timeZoneBias="420"/>
      </p:ext>
    </p:extLst>
  </p:cm>
  <p:cm authorId="0" dt="2026-05-20T00:53:38.672" idx="68">
    <p:pos x="9970" y="5084"/>
    <p:text>Need to prove out technical capability. newly assembled team who has not worked together on complex projects.	</p:text>
    <p:extLst>
      <p:ext uri="{C676402C-5697-4E1C-873F-D02D1690AC5C}">
        <p15:threadingInfo xmlns:p15="http://schemas.microsoft.com/office/powerpoint/2012/main" timeZoneBias="420"/>
      </p:ext>
    </p:extLst>
  </p:cm>
  <p:cm authorId="0" dt="2026-05-20T00:53:38.672" idx="69">
    <p:pos x="10405" y="5084"/>
    <p:text>Need to prove out technical capability. newly assembled team who has not worked together on complex projects.	</p:text>
    <p:extLst>
      <p:ext uri="{C676402C-5697-4E1C-873F-D02D1690AC5C}">
        <p15:threadingInfo xmlns:p15="http://schemas.microsoft.com/office/powerpoint/2012/main" timeZoneBias="420"/>
      </p:ext>
    </p:extLst>
  </p:cm>
  <p:cm authorId="0" dt="2026-05-12T15:43:49.417" idx="70">
    <p:pos x="3128" y="5287"/>
    <p:text>CN/VN support strategy not vetted, not likely to clear by deadline</p:text>
    <p:extLst>
      <p:ext uri="{C676402C-5697-4E1C-873F-D02D1690AC5C}">
        <p15:threadingInfo xmlns:p15="http://schemas.microsoft.com/office/powerpoint/2012/main" timeZoneBias="420"/>
      </p:ext>
    </p:extLst>
  </p:cm>
  <p:cm authorId="1" dt="2026-05-19T11:20:19.982" idx="3">
    <p:pos x="3611" y="5287"/>
    <p:text>Partnership manufacturing sites; unlikely to be used by Apple</p:text>
    <p:extLst>
      <p:ext uri="{C676402C-5697-4E1C-873F-D02D1690AC5C}">
        <p15:threadingInfo xmlns:p15="http://schemas.microsoft.com/office/powerpoint/2012/main" timeZoneBias="420"/>
      </p:ext>
    </p:extLst>
  </p:cm>
  <p:cm authorId="0" dt="2026-05-13T21:16:51.780" idx="71">
    <p:pos x="4094" y="5287"/>
    <p:text>No existing infrastructure in VN/CN for HWTE to validate.</p:text>
    <p:extLst>
      <p:ext uri="{C676402C-5697-4E1C-873F-D02D1690AC5C}">
        <p15:threadingInfo xmlns:p15="http://schemas.microsoft.com/office/powerpoint/2012/main" timeZoneBias="420"/>
      </p:ext>
    </p:extLst>
  </p:cm>
  <p:cm authorId="0" dt="2026-05-13T21:16:51.780" idx="72">
    <p:pos x="5059" y="5287"/>
    <p:text>No existing infrastructure in VN/CN for HWTE to validate.</p:text>
    <p:extLst>
      <p:ext uri="{C676402C-5697-4E1C-873F-D02D1690AC5C}">
        <p15:threadingInfo xmlns:p15="http://schemas.microsoft.com/office/powerpoint/2012/main" timeZoneBias="420"/>
      </p:ext>
    </p:extLst>
  </p:cm>
  <p:cm authorId="0" dt="2026-05-12T20:11:44.560" idx="73">
    <p:pos x="5554" y="5287"/>
    <p:text>Doing conveyors as part of ramp, need YK to confirm performance</p:text>
    <p:extLst>
      <p:ext uri="{C676402C-5697-4E1C-873F-D02D1690AC5C}">
        <p15:threadingInfo xmlns:p15="http://schemas.microsoft.com/office/powerpoint/2012/main" timeZoneBias="420"/>
      </p:ext>
    </p:extLst>
  </p:cm>
  <p:cm authorId="0" dt="2026-05-12T20:02:15.231" idx="74">
    <p:pos x="7530" y="5287"/>
    <p:text>NPI: No recent performance in TTM
MP: VVDN do has issue. Magnolia cannot even setup running at India. India fall back to standalone. We have concern for VVDN for conveyor. They block station bringup Station even cannot start run. Cannot functional. With pull all our engineering resource, still cannot function </p:text>
    <p:extLst>
      <p:ext uri="{C676402C-5697-4E1C-873F-D02D1690AC5C}">
        <p15:threadingInfo xmlns:p15="http://schemas.microsoft.com/office/powerpoint/2012/main" timeZoneBias="420"/>
      </p:ext>
    </p:extLst>
  </p:cm>
  <p:cm authorId="0" dt="2026-05-15T07:08:37.727" idx="75">
    <p:pos x="8612" y="5287"/>
    <p:text>Need to confirm</p:text>
    <p:extLst>
      <p:ext uri="{C676402C-5697-4E1C-873F-D02D1690AC5C}">
        <p15:threadingInfo xmlns:p15="http://schemas.microsoft.com/office/powerpoint/2012/main" timeZoneBias="420"/>
      </p:ext>
    </p:extLst>
  </p:cm>
  <p:cm authorId="0" dt="2026-05-12T15:43:54.140" idx="76">
    <p:pos x="3128" y="5490"/>
    <p:text>CN/VN support strategy not vetted, not likely to clear by deadline</p:text>
    <p:extLst>
      <p:ext uri="{C676402C-5697-4E1C-873F-D02D1690AC5C}">
        <p15:threadingInfo xmlns:p15="http://schemas.microsoft.com/office/powerpoint/2012/main" timeZoneBias="420"/>
      </p:ext>
    </p:extLst>
  </p:cm>
  <p:cm authorId="0" dt="2026-05-12T15:44:09.216" idx="77">
    <p:pos x="3611" y="5490"/>
    <p:text>CN/VN support strategy not vetted, not likely to clear by deadline</p:text>
    <p:extLst>
      <p:ext uri="{C676402C-5697-4E1C-873F-D02D1690AC5C}">
        <p15:threadingInfo xmlns:p15="http://schemas.microsoft.com/office/powerpoint/2012/main" timeZoneBias="420"/>
      </p:ext>
    </p:extLst>
  </p:cm>
  <p:cm authorId="0" dt="2026-05-13T21:16:51.780" idx="78">
    <p:pos x="4094" y="5490"/>
    <p:text>No existing infrastructure in VN/CN for HWTE to validate.</p:text>
    <p:extLst>
      <p:ext uri="{C676402C-5697-4E1C-873F-D02D1690AC5C}">
        <p15:threadingInfo xmlns:p15="http://schemas.microsoft.com/office/powerpoint/2012/main" timeZoneBias="420"/>
      </p:ext>
    </p:extLst>
  </p:cm>
  <p:cm authorId="0" dt="2026-05-13T21:16:51.780" idx="79">
    <p:pos x="5059" y="5490"/>
    <p:text>No existing infrastructure in VN/CN for HWTE to validate.</p:text>
    <p:extLst>
      <p:ext uri="{C676402C-5697-4E1C-873F-D02D1690AC5C}">
        <p15:threadingInfo xmlns:p15="http://schemas.microsoft.com/office/powerpoint/2012/main" timeZoneBias="420"/>
      </p:ext>
    </p:extLst>
  </p:cm>
  <p:cm authorId="0" dt="2026-05-12T20:13:41.808" idx="80">
    <p:pos x="5554" y="5490"/>
    <p:text>No plan to qualify for conveyor projects due to capability limitations</p:text>
    <p:extLst>
      <p:ext uri="{C676402C-5697-4E1C-873F-D02D1690AC5C}">
        <p15:threadingInfo xmlns:p15="http://schemas.microsoft.com/office/powerpoint/2012/main" timeZoneBias="420"/>
      </p:ext>
    </p:extLst>
  </p:cm>
  <p:cm authorId="0" dt="2026-05-15T07:08:37.727" idx="81">
    <p:pos x="8612" y="5490"/>
    <p:text>Need to confirm</p:text>
    <p:extLst>
      <p:ext uri="{C676402C-5697-4E1C-873F-D02D1690AC5C}">
        <p15:threadingInfo xmlns:p15="http://schemas.microsoft.com/office/powerpoint/2012/main" timeZoneBias="420"/>
      </p:ext>
    </p:extLst>
  </p:cm>
  <p:cm authorId="0" dt="2026-05-12T15:43:49.417" idx="82">
    <p:pos x="3128" y="5692"/>
    <p:text>CN/VN support strategy not vetted, not likely to clear by deadline</p:text>
    <p:extLst>
      <p:ext uri="{C676402C-5697-4E1C-873F-D02D1690AC5C}">
        <p15:threadingInfo xmlns:p15="http://schemas.microsoft.com/office/powerpoint/2012/main" timeZoneBias="420"/>
      </p:ext>
    </p:extLst>
  </p:cm>
  <p:cm authorId="0" dt="2026-05-12T15:43:49.417" idx="83">
    <p:pos x="3611" y="5692"/>
    <p:text>CN/VN support strategy not vetted, not likely to clear by deadline</p:text>
    <p:extLst>
      <p:ext uri="{C676402C-5697-4E1C-873F-D02D1690AC5C}">
        <p15:threadingInfo xmlns:p15="http://schemas.microsoft.com/office/powerpoint/2012/main" timeZoneBias="420"/>
      </p:ext>
    </p:extLst>
  </p:cm>
  <p:cm authorId="0" dt="2026-05-13T21:16:51.780" idx="84">
    <p:pos x="4094" y="5692"/>
    <p:text>No existing infrastructure in VN/CN for HWTE to validate.</p:text>
    <p:extLst>
      <p:ext uri="{C676402C-5697-4E1C-873F-D02D1690AC5C}">
        <p15:threadingInfo xmlns:p15="http://schemas.microsoft.com/office/powerpoint/2012/main" timeZoneBias="420"/>
      </p:ext>
    </p:extLst>
  </p:cm>
  <p:cm authorId="0" dt="2026-05-13T21:16:51.780" idx="85">
    <p:pos x="5059" y="5692"/>
    <p:text>No existing infrastructure in VN/CN for HWTE to validate.</p:text>
    <p:extLst>
      <p:ext uri="{C676402C-5697-4E1C-873F-D02D1690AC5C}">
        <p15:threadingInfo xmlns:p15="http://schemas.microsoft.com/office/powerpoint/2012/main" timeZoneBias="420"/>
      </p:ext>
    </p:extLst>
  </p:cm>
  <p:cm authorId="0" dt="2026-05-12T20:20:14.345" idx="86">
    <p:pos x="6506" y="5692"/>
    <p:text>Performance issues in NPI point to limited bandwidth for team to focus on project.</p:text>
    <p:extLst>
      <p:ext uri="{C676402C-5697-4E1C-873F-D02D1690AC5C}">
        <p15:threadingInfo xmlns:p15="http://schemas.microsoft.com/office/powerpoint/2012/main" timeZoneBias="420"/>
      </p:ext>
    </p:extLst>
  </p:cm>
  <p:cm authorId="0" dt="2026-05-12T20:20:35.597" idx="87">
    <p:pos x="6989" y="5692"/>
    <p:text>Multiple line-down issues in MP and NPI</p:text>
    <p:extLst>
      <p:ext uri="{C676402C-5697-4E1C-873F-D02D1690AC5C}">
        <p15:threadingInfo xmlns:p15="http://schemas.microsoft.com/office/powerpoint/2012/main" timeZoneBias="420"/>
      </p:ext>
    </p:extLst>
  </p:cm>
  <p:cm authorId="0" dt="2026-05-12T20:20:35.597" idx="88">
    <p:pos x="7530" y="5692"/>
    <p:text>Multiple line-down issues in MP and NPI</p:text>
    <p:extLst>
      <p:ext uri="{C676402C-5697-4E1C-873F-D02D1690AC5C}">
        <p15:threadingInfo xmlns:p15="http://schemas.microsoft.com/office/powerpoint/2012/main" timeZoneBias="420"/>
      </p:ext>
    </p:extLst>
  </p:cm>
  <p:cm authorId="0" dt="2026-05-15T07:08:37.727" idx="89">
    <p:pos x="8612" y="5692"/>
    <p:text>Need to confirm</p:text>
    <p:extLst>
      <p:ext uri="{C676402C-5697-4E1C-873F-D02D1690AC5C}">
        <p15:threadingInfo xmlns:p15="http://schemas.microsoft.com/office/powerpoint/2012/main" timeZoneBias="420"/>
      </p:ext>
    </p:extLst>
  </p:cm>
  <p:cm authorId="0" dt="2026-05-12T20:16:03.969" idx="90">
    <p:pos x="4094" y="5878"/>
    <p:text>Not KO’ed since Anora was not identified as a high-priority SI.</p:text>
    <p:extLst>
      <p:ext uri="{C676402C-5697-4E1C-873F-D02D1690AC5C}">
        <p15:threadingInfo xmlns:p15="http://schemas.microsoft.com/office/powerpoint/2012/main" timeZoneBias="420"/>
      </p:ext>
    </p:extLst>
  </p:cm>
  <p:cm authorId="0" dt="2026-05-12T20:16:03.969" idx="91">
    <p:pos x="5554" y="5878"/>
    <p:text>Not KO’ed since Anora was not identified as a high-priority SI.</p:text>
    <p:extLst>
      <p:ext uri="{C676402C-5697-4E1C-873F-D02D1690AC5C}">
        <p15:threadingInfo xmlns:p15="http://schemas.microsoft.com/office/powerpoint/2012/main" timeZoneBias="420"/>
      </p:ext>
    </p:extLst>
  </p:cm>
  <p:cm authorId="0" dt="2026-05-12T20:17:13.365" idx="92">
    <p:pos x="5972" y="5878"/>
    <p:text>GSM to confirm</p:text>
    <p:extLst>
      <p:ext uri="{C676402C-5697-4E1C-873F-D02D1690AC5C}">
        <p15:threadingInfo xmlns:p15="http://schemas.microsoft.com/office/powerpoint/2012/main" timeZoneBias="420"/>
      </p:ext>
    </p:extLst>
  </p:cm>
  <p:cm authorId="0" dt="2026-05-12T20:17:13.365" idx="93">
    <p:pos x="6506" y="5878"/>
    <p:text>GSM to confirm</p:text>
    <p:extLst>
      <p:ext uri="{C676402C-5697-4E1C-873F-D02D1690AC5C}">
        <p15:threadingInfo xmlns:p15="http://schemas.microsoft.com/office/powerpoint/2012/main" timeZoneBias="420"/>
      </p:ext>
    </p:extLst>
  </p:cm>
  <p:cm authorId="0" dt="2026-05-12T20:02:15.231" idx="94">
    <p:pos x="6989" y="5878"/>
    <p:text>No recent performance in TTM</p:text>
    <p:extLst>
      <p:ext uri="{C676402C-5697-4E1C-873F-D02D1690AC5C}">
        <p15:threadingInfo xmlns:p15="http://schemas.microsoft.com/office/powerpoint/2012/main" timeZoneBias="420"/>
      </p:ext>
    </p:extLst>
  </p:cm>
  <p:cm authorId="0" dt="2026-05-12T20:02:15.231" idx="95">
    <p:pos x="7530" y="5878"/>
    <p:text>No recent performance in TTM</p:text>
    <p:extLst>
      <p:ext uri="{C676402C-5697-4E1C-873F-D02D1690AC5C}">
        <p15:threadingInfo xmlns:p15="http://schemas.microsoft.com/office/powerpoint/2012/main" timeZoneBias="420"/>
      </p:ext>
    </p:extLst>
  </p:cm>
  <p:cm authorId="0" dt="2026-05-12T20:02:15.231" idx="96">
    <p:pos x="8071" y="5878"/>
    <p:text>No recent performance in TTM</p:text>
    <p:extLst>
      <p:ext uri="{C676402C-5697-4E1C-873F-D02D1690AC5C}">
        <p15:threadingInfo xmlns:p15="http://schemas.microsoft.com/office/powerpoint/2012/main" timeZoneBias="420"/>
      </p:ext>
    </p:extLst>
  </p:cm>
  <p:cm authorId="0" dt="2026-05-12T20:02:15.231" idx="97">
    <p:pos x="8612" y="5878"/>
    <p:text>No recent performance in TTM</p:text>
    <p:extLst>
      <p:ext uri="{C676402C-5697-4E1C-873F-D02D1690AC5C}">
        <p15:threadingInfo xmlns:p15="http://schemas.microsoft.com/office/powerpoint/2012/main" timeZoneBias="420"/>
      </p:ext>
    </p:extLst>
  </p:cm>
  <p:cm authorId="0" dt="2026-05-12T20:02:15.231" idx="98">
    <p:pos x="9153" y="5878"/>
    <p:text>No recent performance in TTM</p:text>
    <p:extLst>
      <p:ext uri="{C676402C-5697-4E1C-873F-D02D1690AC5C}">
        <p15:threadingInfo xmlns:p15="http://schemas.microsoft.com/office/powerpoint/2012/main" timeZoneBias="420"/>
      </p:ext>
    </p:extLst>
  </p:cm>
  <p:cm authorId="1" dt="2026-05-19T11:22:38.531" idx="4">
    <p:pos x="1681" y="6073"/>
    <p:text>Redacting on prior commitments and declining RFPs</p:text>
    <p:extLst>
      <p:ext uri="{C676402C-5697-4E1C-873F-D02D1690AC5C}">
        <p15:threadingInfo xmlns:p15="http://schemas.microsoft.com/office/powerpoint/2012/main" timeZoneBias="420"/>
      </p:ext>
    </p:extLst>
  </p:cm>
  <p:cm authorId="0" dt="2026-05-12T20:05:16.904" idx="99">
    <p:pos x="4094" y="6073"/>
    <p:text>Pass but audit seems to indicate they would fail commercials.</p:text>
    <p:extLst>
      <p:ext uri="{C676402C-5697-4E1C-873F-D02D1690AC5C}">
        <p15:threadingInfo xmlns:p15="http://schemas.microsoft.com/office/powerpoint/2012/main" timeZoneBias="420"/>
      </p:ext>
    </p:extLst>
  </p:cm>
  <p:cm authorId="1" dt="2026-05-19T11:23:37.583" idx="5">
    <p:pos x="5972" y="6073"/>
    <p:text>Redacting on prior commitments and declining RFPs</p:text>
    <p:extLst>
      <p:ext uri="{C676402C-5697-4E1C-873F-D02D1690AC5C}">
        <p15:threadingInfo xmlns:p15="http://schemas.microsoft.com/office/powerpoint/2012/main" timeZoneBias="420"/>
      </p:ext>
    </p:extLst>
  </p:cm>
  <p:cm authorId="0" dt="2026-05-12T20:02:15.231" idx="100">
    <p:pos x="6989" y="6073"/>
    <p:text>No recent performance in TTM</p:text>
    <p:extLst>
      <p:ext uri="{C676402C-5697-4E1C-873F-D02D1690AC5C}">
        <p15:threadingInfo xmlns:p15="http://schemas.microsoft.com/office/powerpoint/2012/main" timeZoneBias="420"/>
      </p:ext>
    </p:extLst>
  </p:cm>
  <p:cm authorId="0" dt="2026-05-12T20:02:15.231" idx="101">
    <p:pos x="7530" y="6073"/>
    <p:text>No recent performance in TTM</p:text>
    <p:extLst>
      <p:ext uri="{C676402C-5697-4E1C-873F-D02D1690AC5C}">
        <p15:threadingInfo xmlns:p15="http://schemas.microsoft.com/office/powerpoint/2012/main" timeZoneBias="420"/>
      </p:ext>
    </p:extLst>
  </p:cm>
  <p:cm authorId="0" dt="2026-05-12T20:02:15.231" idx="102">
    <p:pos x="8071" y="6073"/>
    <p:text>No recent performance in TTM</p:text>
    <p:extLst>
      <p:ext uri="{C676402C-5697-4E1C-873F-D02D1690AC5C}">
        <p15:threadingInfo xmlns:p15="http://schemas.microsoft.com/office/powerpoint/2012/main" timeZoneBias="420"/>
      </p:ext>
    </p:extLst>
  </p:cm>
  <p:cm authorId="0" dt="2026-05-12T20:02:15.231" idx="103">
    <p:pos x="8612" y="6073"/>
    <p:text>No recent performance in TTM</p:text>
    <p:extLst>
      <p:ext uri="{C676402C-5697-4E1C-873F-D02D1690AC5C}">
        <p15:threadingInfo xmlns:p15="http://schemas.microsoft.com/office/powerpoint/2012/main" timeZoneBias="420"/>
      </p:ext>
    </p:extLst>
  </p:cm>
  <p:cm authorId="0" dt="2026-05-12T20:02:15.231" idx="104">
    <p:pos x="9153" y="6073"/>
    <p:text>No recent performance in TTM</p:text>
    <p:extLst>
      <p:ext uri="{C676402C-5697-4E1C-873F-D02D1690AC5C}">
        <p15:threadingInfo xmlns:p15="http://schemas.microsoft.com/office/powerpoint/2012/main" timeZoneBias="420"/>
      </p:ext>
    </p:extLst>
  </p:cm>
  <p:cm authorId="1" dt="2026-05-19T11:24:21.777" idx="6">
    <p:pos x="11444" y="6073"/>
    <p:text>Declining RFPs currently</p:text>
    <p:extLst>
      <p:ext uri="{C676402C-5697-4E1C-873F-D02D1690AC5C}">
        <p15:threadingInfo xmlns:p15="http://schemas.microsoft.com/office/powerpoint/2012/main" timeZoneBias="420"/>
      </p:ext>
    </p:extLst>
  </p:cm>
  <p:cm authorId="1" dt="2026-05-19T11:54:33.441" idx="7">
    <p:pos x="1681" y="6259"/>
    <p:text>Not historically competitive in VPG</p:text>
    <p:extLst>
      <p:ext uri="{C676402C-5697-4E1C-873F-D02D1690AC5C}">
        <p15:threadingInfo xmlns:p15="http://schemas.microsoft.com/office/powerpoint/2012/main" timeZoneBias="420"/>
      </p:ext>
    </p:extLst>
  </p:cm>
  <p:cm authorId="0" dt="2026-05-12T20:18:12.677" idx="105">
    <p:pos x="4094" y="6259"/>
    <p:text>gated by GSM Ok2Engage</p:text>
    <p:extLst>
      <p:ext uri="{C676402C-5697-4E1C-873F-D02D1690AC5C}">
        <p15:threadingInfo xmlns:p15="http://schemas.microsoft.com/office/powerpoint/2012/main" timeZoneBias="420"/>
      </p:ext>
    </p:extLst>
  </p:cm>
  <p:cm authorId="0" dt="2026-05-12T20:18:12.677" idx="106">
    <p:pos x="5554" y="6259"/>
    <p:text>gated by GSM Ok2Engage</p:text>
    <p:extLst>
      <p:ext uri="{C676402C-5697-4E1C-873F-D02D1690AC5C}">
        <p15:threadingInfo xmlns:p15="http://schemas.microsoft.com/office/powerpoint/2012/main" timeZoneBias="420"/>
      </p:ext>
    </p:extLst>
  </p:cm>
  <p:cm authorId="0" dt="2026-05-12T20:18:12.677" idx="107">
    <p:pos x="6506" y="6259"/>
    <p:text>gated by GSM Ok2Engage</p:text>
    <p:extLst>
      <p:ext uri="{C676402C-5697-4E1C-873F-D02D1690AC5C}">
        <p15:threadingInfo xmlns:p15="http://schemas.microsoft.com/office/powerpoint/2012/main" timeZoneBias="420"/>
      </p:ext>
    </p:extLst>
  </p:cm>
  <p:cm authorId="0" dt="2026-05-12T20:18:12.677" idx="108">
    <p:pos x="6989" y="6259"/>
    <p:text>gated by GSM Ok2Engage</p:text>
    <p:extLst>
      <p:ext uri="{C676402C-5697-4E1C-873F-D02D1690AC5C}">
        <p15:threadingInfo xmlns:p15="http://schemas.microsoft.com/office/powerpoint/2012/main" timeZoneBias="420"/>
      </p:ext>
    </p:extLst>
  </p:cm>
  <p:cm authorId="0" dt="2026-05-12T20:18:12.677" idx="109">
    <p:pos x="7530" y="6259"/>
    <p:text>gated by GSM Ok2Engage</p:text>
    <p:extLst>
      <p:ext uri="{C676402C-5697-4E1C-873F-D02D1690AC5C}">
        <p15:threadingInfo xmlns:p15="http://schemas.microsoft.com/office/powerpoint/2012/main" timeZoneBias="420"/>
      </p:ext>
    </p:extLst>
  </p:cm>
  <p:cm authorId="0" dt="2026-05-12T20:02:15.231" idx="110">
    <p:pos x="8071" y="6259"/>
    <p:text>No recent performance in TTM</p:text>
    <p:extLst>
      <p:ext uri="{C676402C-5697-4E1C-873F-D02D1690AC5C}">
        <p15:threadingInfo xmlns:p15="http://schemas.microsoft.com/office/powerpoint/2012/main" timeZoneBias="420"/>
      </p:ext>
    </p:extLst>
  </p:cm>
  <p:cm authorId="0" dt="2026-05-12T20:02:15.231" idx="111">
    <p:pos x="8612" y="6259"/>
    <p:text>No recent performance in TTM</p:text>
    <p:extLst>
      <p:ext uri="{C676402C-5697-4E1C-873F-D02D1690AC5C}">
        <p15:threadingInfo xmlns:p15="http://schemas.microsoft.com/office/powerpoint/2012/main" timeZoneBias="420"/>
      </p:ext>
    </p:extLst>
  </p:cm>
  <p:cm authorId="0" dt="2026-05-12T20:02:15.231" idx="112">
    <p:pos x="9153" y="6259"/>
    <p:text>No recent performance in TTM</p:text>
    <p:extLst>
      <p:ext uri="{C676402C-5697-4E1C-873F-D02D1690AC5C}">
        <p15:threadingInfo xmlns:p15="http://schemas.microsoft.com/office/powerpoint/2012/main" timeZoneBias="420"/>
      </p:ext>
    </p:extLst>
  </p:cm>
  <p:cm authorId="0" dt="2026-05-12T20:18:12.677" idx="113">
    <p:pos x="9557" y="6259"/>
    <p:text>gated by GSM Ok2Engage</p:text>
    <p:extLst>
      <p:ext uri="{C676402C-5697-4E1C-873F-D02D1690AC5C}">
        <p15:threadingInfo xmlns:p15="http://schemas.microsoft.com/office/powerpoint/2012/main" timeZoneBias="420"/>
      </p:ext>
    </p:extLst>
  </p:cm>
  <p:cm authorId="0" dt="2026-05-12T20:18:12.677" idx="114">
    <p:pos x="9970" y="6259"/>
    <p:text>gated by GSM Ok2Engage</p:text>
    <p:extLst>
      <p:ext uri="{C676402C-5697-4E1C-873F-D02D1690AC5C}">
        <p15:threadingInfo xmlns:p15="http://schemas.microsoft.com/office/powerpoint/2012/main" timeZoneBias="420"/>
      </p:ext>
    </p:extLst>
  </p:cm>
  <p:cm authorId="0" dt="2026-05-12T20:18:12.677" idx="115">
    <p:pos x="10405" y="6259"/>
    <p:text>gated by GSM Ok2Engage</p:text>
    <p:extLst>
      <p:ext uri="{C676402C-5697-4E1C-873F-D02D1690AC5C}">
        <p15:threadingInfo xmlns:p15="http://schemas.microsoft.com/office/powerpoint/2012/main" timeZoneBias="420"/>
      </p:ext>
    </p:extLst>
  </p:cm>
  <p:cm authorId="1" dt="2026-05-19T11:44:09.068" idx="8">
    <p:pos x="1198" y="6454"/>
    <p:text>ARPA and EDPA still in negotiation</p:text>
    <p:extLst>
      <p:ext uri="{C676402C-5697-4E1C-873F-D02D1690AC5C}">
        <p15:threadingInfo xmlns:p15="http://schemas.microsoft.com/office/powerpoint/2012/main" timeZoneBias="420"/>
      </p:ext>
    </p:extLst>
  </p:cm>
  <p:cm authorId="0" dt="2026-05-12T20:18:12.677" idx="116">
    <p:pos x="1681" y="6454"/>
    <p:text>pending GSM feedback</p:text>
    <p:extLst>
      <p:ext uri="{C676402C-5697-4E1C-873F-D02D1690AC5C}">
        <p15:threadingInfo xmlns:p15="http://schemas.microsoft.com/office/powerpoint/2012/main" timeZoneBias="420"/>
      </p:ext>
    </p:extLst>
  </p:cm>
  <p:cm authorId="0" dt="2026-05-12T20:18:12.677" idx="117">
    <p:pos x="4094" y="6454"/>
    <p:text>gated by GSM Ok2Engage</p:text>
    <p:extLst>
      <p:ext uri="{C676402C-5697-4E1C-873F-D02D1690AC5C}">
        <p15:threadingInfo xmlns:p15="http://schemas.microsoft.com/office/powerpoint/2012/main" timeZoneBias="420"/>
      </p:ext>
    </p:extLst>
  </p:cm>
  <p:cm authorId="0" dt="2026-05-12T20:18:12.677" idx="118">
    <p:pos x="5554" y="6454"/>
    <p:text>gated by GSM Ok2Engage</p:text>
    <p:extLst>
      <p:ext uri="{C676402C-5697-4E1C-873F-D02D1690AC5C}">
        <p15:threadingInfo xmlns:p15="http://schemas.microsoft.com/office/powerpoint/2012/main" timeZoneBias="420"/>
      </p:ext>
    </p:extLst>
  </p:cm>
  <p:cm authorId="0" dt="2026-05-12T20:18:12.677" idx="119">
    <p:pos x="5972" y="6454"/>
    <p:text>gated by GSM Ok2Engage</p:text>
    <p:extLst>
      <p:ext uri="{C676402C-5697-4E1C-873F-D02D1690AC5C}">
        <p15:threadingInfo xmlns:p15="http://schemas.microsoft.com/office/powerpoint/2012/main" timeZoneBias="420"/>
      </p:ext>
    </p:extLst>
  </p:cm>
  <p:cm authorId="0" dt="2026-05-12T20:18:12.677" idx="120">
    <p:pos x="6506" y="6454"/>
    <p:text>gated by GSM Ok2Engage</p:text>
    <p:extLst>
      <p:ext uri="{C676402C-5697-4E1C-873F-D02D1690AC5C}">
        <p15:threadingInfo xmlns:p15="http://schemas.microsoft.com/office/powerpoint/2012/main" timeZoneBias="420"/>
      </p:ext>
    </p:extLst>
  </p:cm>
  <p:cm authorId="0" dt="2026-05-12T20:18:12.677" idx="121">
    <p:pos x="6989" y="6454"/>
    <p:text>gated by GSM Ok2Engage</p:text>
    <p:extLst>
      <p:ext uri="{C676402C-5697-4E1C-873F-D02D1690AC5C}">
        <p15:threadingInfo xmlns:p15="http://schemas.microsoft.com/office/powerpoint/2012/main" timeZoneBias="420"/>
      </p:ext>
    </p:extLst>
  </p:cm>
  <p:cm authorId="0" dt="2026-05-12T20:18:12.677" idx="122">
    <p:pos x="7530" y="6454"/>
    <p:text>gated by GSM Ok2Engage</p:text>
    <p:extLst>
      <p:ext uri="{C676402C-5697-4E1C-873F-D02D1690AC5C}">
        <p15:threadingInfo xmlns:p15="http://schemas.microsoft.com/office/powerpoint/2012/main" timeZoneBias="420"/>
      </p:ext>
    </p:extLst>
  </p:cm>
  <p:cm authorId="0" dt="2026-05-12T20:02:15.231" idx="123">
    <p:pos x="8071" y="6454"/>
    <p:text>No recent performance in TTM</p:text>
    <p:extLst>
      <p:ext uri="{C676402C-5697-4E1C-873F-D02D1690AC5C}">
        <p15:threadingInfo xmlns:p15="http://schemas.microsoft.com/office/powerpoint/2012/main" timeZoneBias="420"/>
      </p:ext>
    </p:extLst>
  </p:cm>
  <p:cm authorId="0" dt="2026-05-12T20:02:15.231" idx="124">
    <p:pos x="8612" y="6454"/>
    <p:text>No recent performance in TTM</p:text>
    <p:extLst>
      <p:ext uri="{C676402C-5697-4E1C-873F-D02D1690AC5C}">
        <p15:threadingInfo xmlns:p15="http://schemas.microsoft.com/office/powerpoint/2012/main" timeZoneBias="420"/>
      </p:ext>
    </p:extLst>
  </p:cm>
  <p:cm authorId="0" dt="2026-05-12T20:02:15.231" idx="125">
    <p:pos x="9153" y="6454"/>
    <p:text>No recent performance in TTM</p:text>
    <p:extLst>
      <p:ext uri="{C676402C-5697-4E1C-873F-D02D1690AC5C}">
        <p15:threadingInfo xmlns:p15="http://schemas.microsoft.com/office/powerpoint/2012/main" timeZoneBias="420"/>
      </p:ext>
    </p:extLst>
  </p:cm>
  <p:cm authorId="0" dt="2026-05-12T20:18:12.677" idx="126">
    <p:pos x="9557" y="6454"/>
    <p:text>gated by GSM Ok2Engage</p:text>
    <p:extLst>
      <p:ext uri="{C676402C-5697-4E1C-873F-D02D1690AC5C}">
        <p15:threadingInfo xmlns:p15="http://schemas.microsoft.com/office/powerpoint/2012/main" timeZoneBias="420"/>
      </p:ext>
    </p:extLst>
  </p:cm>
  <p:cm authorId="0" dt="2026-05-12T20:18:12.677" idx="127">
    <p:pos x="9970" y="6454"/>
    <p:text>gated by GSM Ok2Engage</p:text>
    <p:extLst>
      <p:ext uri="{C676402C-5697-4E1C-873F-D02D1690AC5C}">
        <p15:threadingInfo xmlns:p15="http://schemas.microsoft.com/office/powerpoint/2012/main" timeZoneBias="420"/>
      </p:ext>
    </p:extLst>
  </p:cm>
  <p:cm authorId="0" dt="2026-05-12T20:18:12.677" idx="128">
    <p:pos x="10405" y="6454"/>
    <p:text>gated by GSM Ok2Engage</p:text>
    <p:extLst>
      <p:ext uri="{C676402C-5697-4E1C-873F-D02D1690AC5C}">
        <p15:threadingInfo xmlns:p15="http://schemas.microsoft.com/office/powerpoint/2012/main" timeZoneBias="420"/>
      </p:ext>
    </p:extLst>
  </p:cm>
  <p:cm authorId="0" dt="2026-05-12T20:18:12.677" idx="129">
    <p:pos x="1198" y="6640"/>
    <p:text>pending GSM feedback</p:text>
    <p:extLst>
      <p:ext uri="{C676402C-5697-4E1C-873F-D02D1690AC5C}">
        <p15:threadingInfo xmlns:p15="http://schemas.microsoft.com/office/powerpoint/2012/main" timeZoneBias="420"/>
      </p:ext>
    </p:extLst>
  </p:cm>
  <p:cm authorId="1" dt="2026-05-19T11:19:07.729" idx="9">
    <p:pos x="1278" y="6560"/>
    <p:text>Refuse to sign EDPA- not likely to be engaged moving forward</p:text>
    <p:extLst>
      <p:ext uri="{C676402C-5697-4E1C-873F-D02D1690AC5C}">
        <p15:threadingInfo xmlns:p15="http://schemas.microsoft.com/office/powerpoint/2012/main" timeZoneBias="420">
          <p15:parentCm authorId="0" idx="129"/>
        </p15:threadingInfo>
      </p:ext>
    </p:extLst>
  </p:cm>
  <p:cm authorId="0" dt="2026-05-12T20:18:12.677" idx="130">
    <p:pos x="1681" y="6640"/>
    <p:text>pending GSM feedback</p:text>
    <p:extLst>
      <p:ext uri="{C676402C-5697-4E1C-873F-D02D1690AC5C}">
        <p15:threadingInfo xmlns:p15="http://schemas.microsoft.com/office/powerpoint/2012/main" timeZoneBias="420"/>
      </p:ext>
    </p:extLst>
  </p:cm>
  <p:cm authorId="0" dt="2026-05-12T20:18:12.677" idx="131">
    <p:pos x="4094" y="6640"/>
    <p:text>gated by GSM Ok2Engage</p:text>
    <p:extLst>
      <p:ext uri="{C676402C-5697-4E1C-873F-D02D1690AC5C}">
        <p15:threadingInfo xmlns:p15="http://schemas.microsoft.com/office/powerpoint/2012/main" timeZoneBias="420"/>
      </p:ext>
    </p:extLst>
  </p:cm>
  <p:cm authorId="0" dt="2026-05-12T20:18:12.677" idx="132">
    <p:pos x="5554" y="6640"/>
    <p:text>gated by GSM Ok2Engage</p:text>
    <p:extLst>
      <p:ext uri="{C676402C-5697-4E1C-873F-D02D1690AC5C}">
        <p15:threadingInfo xmlns:p15="http://schemas.microsoft.com/office/powerpoint/2012/main" timeZoneBias="420"/>
      </p:ext>
    </p:extLst>
  </p:cm>
  <p:cm authorId="0" dt="2026-05-12T20:18:12.677" idx="133">
    <p:pos x="5972" y="6640"/>
    <p:text>gated by GSM Ok2Engage</p:text>
    <p:extLst>
      <p:ext uri="{C676402C-5697-4E1C-873F-D02D1690AC5C}">
        <p15:threadingInfo xmlns:p15="http://schemas.microsoft.com/office/powerpoint/2012/main" timeZoneBias="420"/>
      </p:ext>
    </p:extLst>
  </p:cm>
  <p:cm authorId="0" dt="2026-05-12T20:18:12.677" idx="134">
    <p:pos x="6506" y="6640"/>
    <p:text>gated by GSM Ok2Engage</p:text>
    <p:extLst>
      <p:ext uri="{C676402C-5697-4E1C-873F-D02D1690AC5C}">
        <p15:threadingInfo xmlns:p15="http://schemas.microsoft.com/office/powerpoint/2012/main" timeZoneBias="420"/>
      </p:ext>
    </p:extLst>
  </p:cm>
  <p:cm authorId="0" dt="2026-05-12T20:18:12.677" idx="135">
    <p:pos x="6989" y="6640"/>
    <p:text>gated by GSM Ok2Engage</p:text>
    <p:extLst>
      <p:ext uri="{C676402C-5697-4E1C-873F-D02D1690AC5C}">
        <p15:threadingInfo xmlns:p15="http://schemas.microsoft.com/office/powerpoint/2012/main" timeZoneBias="420"/>
      </p:ext>
    </p:extLst>
  </p:cm>
  <p:cm authorId="0" dt="2026-05-12T20:18:12.677" idx="136">
    <p:pos x="7530" y="6640"/>
    <p:text>gated by GSM Ok2Engage</p:text>
    <p:extLst>
      <p:ext uri="{C676402C-5697-4E1C-873F-D02D1690AC5C}">
        <p15:threadingInfo xmlns:p15="http://schemas.microsoft.com/office/powerpoint/2012/main" timeZoneBias="420"/>
      </p:ext>
    </p:extLst>
  </p:cm>
  <p:cm authorId="0" dt="2026-05-12T20:02:15.231" idx="137">
    <p:pos x="8071" y="6640"/>
    <p:text>No recent performance in TTM</p:text>
    <p:extLst>
      <p:ext uri="{C676402C-5697-4E1C-873F-D02D1690AC5C}">
        <p15:threadingInfo xmlns:p15="http://schemas.microsoft.com/office/powerpoint/2012/main" timeZoneBias="420"/>
      </p:ext>
    </p:extLst>
  </p:cm>
  <p:cm authorId="0" dt="2026-05-12T20:02:15.231" idx="138">
    <p:pos x="8612" y="6640"/>
    <p:text>No recent performance in TTM</p:text>
    <p:extLst>
      <p:ext uri="{C676402C-5697-4E1C-873F-D02D1690AC5C}">
        <p15:threadingInfo xmlns:p15="http://schemas.microsoft.com/office/powerpoint/2012/main" timeZoneBias="420"/>
      </p:ext>
    </p:extLst>
  </p:cm>
  <p:cm authorId="0" dt="2026-05-12T20:02:15.231" idx="139">
    <p:pos x="9153" y="6640"/>
    <p:text>No recent performance in TTM</p:text>
    <p:extLst>
      <p:ext uri="{C676402C-5697-4E1C-873F-D02D1690AC5C}">
        <p15:threadingInfo xmlns:p15="http://schemas.microsoft.com/office/powerpoint/2012/main" timeZoneBias="420"/>
      </p:ext>
    </p:extLst>
  </p:cm>
  <p:cm authorId="0" dt="2026-05-12T20:18:12.677" idx="140">
    <p:pos x="9557" y="6640"/>
    <p:text>gated by GSM Ok2Engage</p:text>
    <p:extLst>
      <p:ext uri="{C676402C-5697-4E1C-873F-D02D1690AC5C}">
        <p15:threadingInfo xmlns:p15="http://schemas.microsoft.com/office/powerpoint/2012/main" timeZoneBias="420"/>
      </p:ext>
    </p:extLst>
  </p:cm>
  <p:cm authorId="0" dt="2026-05-12T20:18:12.677" idx="141">
    <p:pos x="9970" y="6640"/>
    <p:text>gated by GSM Ok2Engage</p:text>
    <p:extLst>
      <p:ext uri="{C676402C-5697-4E1C-873F-D02D1690AC5C}">
        <p15:threadingInfo xmlns:p15="http://schemas.microsoft.com/office/powerpoint/2012/main" timeZoneBias="420"/>
      </p:ext>
    </p:extLst>
  </p:cm>
  <p:cm authorId="0" dt="2026-05-12T20:18:12.677" idx="142">
    <p:pos x="10405" y="6640"/>
    <p:text>gated by GSM Ok2Engage</p:text>
    <p:extLst>
      <p:ext uri="{C676402C-5697-4E1C-873F-D02D1690AC5C}">
        <p15:threadingInfo xmlns:p15="http://schemas.microsoft.com/office/powerpoint/2012/main" timeZoneBias="420"/>
      </p:ext>
    </p:extLst>
  </p:cm>
  <p:cm authorId="1" dt="2026-05-19T11:44:09.068" idx="10">
    <p:pos x="1198" y="6835"/>
    <p:text>ARPA and EDPA still in negotiation</p:text>
    <p:extLst>
      <p:ext uri="{C676402C-5697-4E1C-873F-D02D1690AC5C}">
        <p15:threadingInfo xmlns:p15="http://schemas.microsoft.com/office/powerpoint/2012/main" timeZoneBias="420"/>
      </p:ext>
    </p:extLst>
  </p:cm>
  <p:cm authorId="0" dt="2026-05-12T20:18:12.677" idx="143">
    <p:pos x="1681" y="6835"/>
    <p:text>pending GSM feedback</p:text>
    <p:extLst>
      <p:ext uri="{C676402C-5697-4E1C-873F-D02D1690AC5C}">
        <p15:threadingInfo xmlns:p15="http://schemas.microsoft.com/office/powerpoint/2012/main" timeZoneBias="420"/>
      </p:ext>
    </p:extLst>
  </p:cm>
  <p:cm authorId="0" dt="2026-05-12T20:18:12.677" idx="144">
    <p:pos x="4094" y="6835"/>
    <p:text>gated by GSM Ok2Engage</p:text>
    <p:extLst>
      <p:ext uri="{C676402C-5697-4E1C-873F-D02D1690AC5C}">
        <p15:threadingInfo xmlns:p15="http://schemas.microsoft.com/office/powerpoint/2012/main" timeZoneBias="420"/>
      </p:ext>
    </p:extLst>
  </p:cm>
  <p:cm authorId="0" dt="2026-05-12T20:18:12.677" idx="145">
    <p:pos x="5554" y="6835"/>
    <p:text>gated by GSM Ok2Engage</p:text>
    <p:extLst>
      <p:ext uri="{C676402C-5697-4E1C-873F-D02D1690AC5C}">
        <p15:threadingInfo xmlns:p15="http://schemas.microsoft.com/office/powerpoint/2012/main" timeZoneBias="420"/>
      </p:ext>
    </p:extLst>
  </p:cm>
  <p:cm authorId="0" dt="2026-05-12T20:18:12.677" idx="146">
    <p:pos x="5972" y="6835"/>
    <p:text>gated by GSM Ok2Engage</p:text>
    <p:extLst>
      <p:ext uri="{C676402C-5697-4E1C-873F-D02D1690AC5C}">
        <p15:threadingInfo xmlns:p15="http://schemas.microsoft.com/office/powerpoint/2012/main" timeZoneBias="420"/>
      </p:ext>
    </p:extLst>
  </p:cm>
  <p:cm authorId="0" dt="2026-05-12T20:18:12.677" idx="147">
    <p:pos x="6506" y="6835"/>
    <p:text>gated by GSM Ok2Engage</p:text>
    <p:extLst>
      <p:ext uri="{C676402C-5697-4E1C-873F-D02D1690AC5C}">
        <p15:threadingInfo xmlns:p15="http://schemas.microsoft.com/office/powerpoint/2012/main" timeZoneBias="420"/>
      </p:ext>
    </p:extLst>
  </p:cm>
  <p:cm authorId="0" dt="2026-05-12T20:18:12.677" idx="148">
    <p:pos x="6989" y="6835"/>
    <p:text>gated by GSM Ok2Engage</p:text>
    <p:extLst>
      <p:ext uri="{C676402C-5697-4E1C-873F-D02D1690AC5C}">
        <p15:threadingInfo xmlns:p15="http://schemas.microsoft.com/office/powerpoint/2012/main" timeZoneBias="420"/>
      </p:ext>
    </p:extLst>
  </p:cm>
  <p:cm authorId="0" dt="2026-05-12T20:18:12.677" idx="149">
    <p:pos x="7530" y="6835"/>
    <p:text>gated by GSM Ok2Engage</p:text>
    <p:extLst>
      <p:ext uri="{C676402C-5697-4E1C-873F-D02D1690AC5C}">
        <p15:threadingInfo xmlns:p15="http://schemas.microsoft.com/office/powerpoint/2012/main" timeZoneBias="420"/>
      </p:ext>
    </p:extLst>
  </p:cm>
  <p:cm authorId="0" dt="2026-05-12T20:02:15.231" idx="150">
    <p:pos x="8071" y="6835"/>
    <p:text>No recent performance in TTM</p:text>
    <p:extLst>
      <p:ext uri="{C676402C-5697-4E1C-873F-D02D1690AC5C}">
        <p15:threadingInfo xmlns:p15="http://schemas.microsoft.com/office/powerpoint/2012/main" timeZoneBias="420"/>
      </p:ext>
    </p:extLst>
  </p:cm>
  <p:cm authorId="0" dt="2026-05-12T20:02:15.231" idx="151">
    <p:pos x="8612" y="6835"/>
    <p:text>No recent performance in TTM</p:text>
    <p:extLst>
      <p:ext uri="{C676402C-5697-4E1C-873F-D02D1690AC5C}">
        <p15:threadingInfo xmlns:p15="http://schemas.microsoft.com/office/powerpoint/2012/main" timeZoneBias="420"/>
      </p:ext>
    </p:extLst>
  </p:cm>
  <p:cm authorId="0" dt="2026-05-12T20:02:15.231" idx="152">
    <p:pos x="9153" y="6835"/>
    <p:text>No recent performance in TTM</p:text>
    <p:extLst>
      <p:ext uri="{C676402C-5697-4E1C-873F-D02D1690AC5C}">
        <p15:threadingInfo xmlns:p15="http://schemas.microsoft.com/office/powerpoint/2012/main" timeZoneBias="420"/>
      </p:ext>
    </p:extLst>
  </p:cm>
  <p:cm authorId="0" dt="2026-05-12T20:18:12.677" idx="153">
    <p:pos x="9557" y="6835"/>
    <p:text>gated by GSM Ok2Engage</p:text>
    <p:extLst>
      <p:ext uri="{C676402C-5697-4E1C-873F-D02D1690AC5C}">
        <p15:threadingInfo xmlns:p15="http://schemas.microsoft.com/office/powerpoint/2012/main" timeZoneBias="420"/>
      </p:ext>
    </p:extLst>
  </p:cm>
  <p:cm authorId="0" dt="2026-05-12T20:18:12.677" idx="154">
    <p:pos x="9970" y="6835"/>
    <p:text>gated by GSM Ok2Engage</p:text>
    <p:extLst>
      <p:ext uri="{C676402C-5697-4E1C-873F-D02D1690AC5C}">
        <p15:threadingInfo xmlns:p15="http://schemas.microsoft.com/office/powerpoint/2012/main" timeZoneBias="420"/>
      </p:ext>
    </p:extLst>
  </p:cm>
  <p:cm authorId="0" dt="2026-05-12T20:18:12.677" idx="155">
    <p:pos x="10405" y="6835"/>
    <p:text>gated by GSM Ok2Engage</p:text>
    <p:extLst>
      <p:ext uri="{C676402C-5697-4E1C-873F-D02D1690AC5C}">
        <p15:threadingInfo xmlns:p15="http://schemas.microsoft.com/office/powerpoint/2012/main" timeZoneBias="420"/>
      </p:ext>
    </p:extLst>
  </p:cm>
</p:cmLst>
</file>

<file path=ppt/comments/comment2.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6-05-20T00:01:28.656" idx="156">
    <p:pos x="2163" y="2425"/>
    <p:text>1.0 = Proven / operational today
0.75 = Operational but immature or limited scale
0.5 = Capability exists but not demonstrated for HWTE scope
0.25 = Theoretical capability only (i.e. Amp Thai)
TBD = Insufficient validation / roadmap only (I.e.maybe VVDN 🤷‍♂️ )
0 = Does not meet requirement</p:text>
    <p:extLst>
      <p:ext uri="{C676402C-5697-4E1C-873F-D02D1690AC5C}">
        <p15:threadingInfo xmlns:p15="http://schemas.microsoft.com/office/powerpoint/2012/main" timeZoneBias="420"/>
      </p:ext>
    </p:extLst>
  </p:cm>
  <p:cm authorId="0" dt="2026-05-19T19:52:35.442" idx="157">
    <p:pos x="1681" y="3375"/>
    <p:text>Have had assurances from Apple leadership that Amphenol is committed to working on TE stations. However, we’ve seen several verbal commits throughout the last twelve months that Amphenol subsequently backed out of. K12p will be last opportunity to have them bid on projects.</p:text>
    <p:extLst>
      <p:ext uri="{C676402C-5697-4E1C-873F-D02D1690AC5C}">
        <p15:threadingInfo xmlns:p15="http://schemas.microsoft.com/office/powerpoint/2012/main" timeZoneBias="420"/>
      </p:ext>
    </p:extLst>
  </p:cm>
  <p:cm authorId="0" dt="2026-05-12T15:35:54.130" idx="158">
    <p:pos x="4094" y="3375"/>
    <p:text>Strong Apple manufacturing/integration experience with expanding automation capability. Global facilities need follow up but can support from CN for this project. Need conveyor experience.</p:text>
    <p:extLst>
      <p:ext uri="{C676402C-5697-4E1C-873F-D02D1690AC5C}">
        <p15:threadingInfo xmlns:p15="http://schemas.microsoft.com/office/powerpoint/2012/main" timeZoneBias="420"/>
      </p:ext>
    </p:extLst>
  </p:cm>
  <p:cm authorId="0" dt="2026-05-12T15:35:54.130" idx="159">
    <p:pos x="4576" y="3375"/>
    <p:text>Support retrofits only for Ironman stations on V6y programs. </p:text>
    <p:extLst>
      <p:ext uri="{C676402C-5697-4E1C-873F-D02D1690AC5C}">
        <p15:threadingInfo xmlns:p15="http://schemas.microsoft.com/office/powerpoint/2012/main" timeZoneBias="420"/>
      </p:ext>
    </p:extLst>
  </p:cm>
  <p:cm authorId="0" dt="2026-05-20T00:05:26.554" idx="160">
    <p:pos x="5059" y="3375"/>
    <p:text>Thailand site unvetted, pending SQE audit</p:text>
    <p:extLst>
      <p:ext uri="{C676402C-5697-4E1C-873F-D02D1690AC5C}">
        <p15:threadingInfo xmlns:p15="http://schemas.microsoft.com/office/powerpoint/2012/main" timeZoneBias="420"/>
      </p:ext>
    </p:extLst>
  </p:cm>
  <p:cm authorId="0" dt="2026-05-12T15:36:06.879" idx="161">
    <p:pos x="5554" y="3375"/>
    <p:text>Significant apple experience but needs a conveyor/automation project to stress-test capability</p:text>
    <p:extLst>
      <p:ext uri="{C676402C-5697-4E1C-873F-D02D1690AC5C}">
        <p15:threadingInfo xmlns:p15="http://schemas.microsoft.com/office/powerpoint/2012/main" timeZoneBias="420"/>
      </p:ext>
    </p:extLst>
  </p:cm>
  <p:cm authorId="0" dt="2026-05-19T19:52:35.442" idx="162">
    <p:pos x="9970" y="3375"/>
    <p:text>Have had assurances from Apple leadership that Amphenol is committed to working on TE stations. However, we’ve seen several verbal commits throughout the last twelve months that Amphenol subsequently backed out of. K12p will be last opportunity to have them bid on projects.</p:text>
    <p:extLst>
      <p:ext uri="{C676402C-5697-4E1C-873F-D02D1690AC5C}">
        <p15:threadingInfo xmlns:p15="http://schemas.microsoft.com/office/powerpoint/2012/main" timeZoneBias="420"/>
      </p:ext>
    </p:extLst>
  </p:cm>
  <p:cm authorId="0" dt="2026-05-12T15:47:20.969" idx="163">
    <p:pos x="1681" y="3563"/>
    <p:text>Cannot meet MP pricing targets</p:text>
    <p:extLst>
      <p:ext uri="{C676402C-5697-4E1C-873F-D02D1690AC5C}">
        <p15:threadingInfo xmlns:p15="http://schemas.microsoft.com/office/powerpoint/2012/main" timeZoneBias="420"/>
      </p:ext>
    </p:extLst>
  </p:cm>
  <p:cm authorId="0" dt="2026-05-12T15:38:38.148" idx="164">
    <p:pos x="4094" y="3563"/>
    <p:text>Elite technical capability for advanced metrology/test/cal systems.</p:text>
    <p:extLst>
      <p:ext uri="{C676402C-5697-4E1C-873F-D02D1690AC5C}">
        <p15:threadingInfo xmlns:p15="http://schemas.microsoft.com/office/powerpoint/2012/main" timeZoneBias="420"/>
      </p:ext>
    </p:extLst>
  </p:cm>
  <p:cm authorId="0" dt="2026-05-12T15:38:38.148" idx="165">
    <p:pos x="4576" y="3563"/>
    <p:text>Elite technical capability for advanced metrology/test/cal systems.</p:text>
    <p:extLst>
      <p:ext uri="{C676402C-5697-4E1C-873F-D02D1690AC5C}">
        <p15:threadingInfo xmlns:p15="http://schemas.microsoft.com/office/powerpoint/2012/main" timeZoneBias="420"/>
      </p:ext>
    </p:extLst>
  </p:cm>
  <p:cm authorId="0" dt="2026-05-12T15:38:38.148" idx="166">
    <p:pos x="5059" y="3563"/>
    <p:text>Elite technical capability for advanced metrology/test/cal systems.</p:text>
    <p:extLst>
      <p:ext uri="{C676402C-5697-4E1C-873F-D02D1690AC5C}">
        <p15:threadingInfo xmlns:p15="http://schemas.microsoft.com/office/powerpoint/2012/main" timeZoneBias="420"/>
      </p:ext>
    </p:extLst>
  </p:cm>
  <p:cm authorId="0" dt="2026-05-12T19:51:01.997" idx="167">
    <p:pos x="7530" y="3563"/>
    <p:text>Missed EIH on some stations during early engagements (need list from teams).</p:text>
    <p:extLst>
      <p:ext uri="{C676402C-5697-4E1C-873F-D02D1690AC5C}">
        <p15:threadingInfo xmlns:p15="http://schemas.microsoft.com/office/powerpoint/2012/main" timeZoneBias="420"/>
      </p:ext>
    </p:extLst>
  </p:cm>
  <p:cm authorId="0" dt="2026-05-14T02:05:54.779" idx="168">
    <p:pos x="716" y="3759"/>
    <p:text>Overcharge for OSS (J312 Wavesight), Slow comms (have to go back to Italy for everything)</p:text>
    <p:extLst>
      <p:ext uri="{C676402C-5697-4E1C-873F-D02D1690AC5C}">
        <p15:threadingInfo xmlns:p15="http://schemas.microsoft.com/office/powerpoint/2012/main" timeZoneBias="420"/>
      </p:ext>
    </p:extLst>
  </p:cm>
  <p:cm authorId="0" dt="2026-05-12T20:00:58.422" idx="169">
    <p:pos x="1681" y="3759"/>
    <p:text>Need GSMs to confirm pricing targets can be met, but historically have supplied stations so in theory should be ok.</p:text>
    <p:extLst>
      <p:ext uri="{C676402C-5697-4E1C-873F-D02D1690AC5C}">
        <p15:threadingInfo xmlns:p15="http://schemas.microsoft.com/office/powerpoint/2012/main" timeZoneBias="420"/>
      </p:ext>
    </p:extLst>
  </p:cm>
  <p:cm authorId="0" dt="2026-05-12T15:42:08.349" idx="170">
    <p:pos x="4094" y="3759"/>
    <p:text>Proven Apple SI with strong electronics and test-domain expertise</p:text>
    <p:extLst>
      <p:ext uri="{C676402C-5697-4E1C-873F-D02D1690AC5C}">
        <p15:threadingInfo xmlns:p15="http://schemas.microsoft.com/office/powerpoint/2012/main" timeZoneBias="420"/>
      </p:ext>
    </p:extLst>
  </p:cm>
  <p:cm authorId="0" dt="2026-05-20T00:34:38.714" idx="171">
    <p:pos x="4576" y="3759"/>
    <p:text>Would support IN from their IT and TH facility. unclear how their OSS speed and retrofit capability would work, Bob to further vet.</p:text>
    <p:extLst>
      <p:ext uri="{C676402C-5697-4E1C-873F-D02D1690AC5C}">
        <p15:threadingInfo xmlns:p15="http://schemas.microsoft.com/office/powerpoint/2012/main" timeZoneBias="420"/>
      </p:ext>
    </p:extLst>
  </p:cm>
  <p:cm authorId="0" dt="2026-05-20T00:34:38.714" idx="172">
    <p:pos x="5059" y="3759"/>
    <p:text>Would support IN from their IT and TH facility. unclear how their OSS speed and retrofit capability would work, Bob to further vet.</p:text>
    <p:extLst>
      <p:ext uri="{C676402C-5697-4E1C-873F-D02D1690AC5C}">
        <p15:threadingInfo xmlns:p15="http://schemas.microsoft.com/office/powerpoint/2012/main" timeZoneBias="420"/>
      </p:ext>
    </p:extLst>
  </p:cm>
  <p:cm authorId="0" dt="2026-05-12T20:01:24.734" idx="173">
    <p:pos x="5554" y="3759"/>
    <p:text>Experienced with complex automation but haven’t completed a conveyor qual. would be a good candidate station for SPEA to learn and scale on.</p:text>
    <p:extLst>
      <p:ext uri="{C676402C-5697-4E1C-873F-D02D1690AC5C}">
        <p15:threadingInfo xmlns:p15="http://schemas.microsoft.com/office/powerpoint/2012/main" timeZoneBias="420"/>
      </p:ext>
    </p:extLst>
  </p:cm>
  <p:cm authorId="0" dt="2026-05-20T00:36:27.033" idx="174">
    <p:pos x="9153" y="3759"/>
    <p:text>Performance issues highlighted around speed of feedback. major concern is on scalability/ability to support large quantifies of projects in and outside of CN.</p:text>
    <p:extLst>
      <p:ext uri="{C676402C-5697-4E1C-873F-D02D1690AC5C}">
        <p15:threadingInfo xmlns:p15="http://schemas.microsoft.com/office/powerpoint/2012/main" timeZoneBias="420"/>
      </p:ext>
    </p:extLst>
  </p:cm>
  <p:cm authorId="0" dt="2026-05-29T02:22:50.166" idx="175">
    <p:pos x="9233" y="3679"/>
    <p:text>From Leon: I remember their support is very slow on portable project before and the OSS is not from their company(should from 3rd part if I remember correctly). </p:text>
    <p:extLst>
      <p:ext uri="{C676402C-5697-4E1C-873F-D02D1690AC5C}">
        <p15:threadingInfo xmlns:p15="http://schemas.microsoft.com/office/powerpoint/2012/main" timeZoneBias="420">
          <p15:parentCm authorId="0" idx="174"/>
        </p15:threadingInfo>
      </p:ext>
    </p:extLst>
  </p:cm>
  <p:cm authorId="0" dt="2026-05-20T00:53:06.290" idx="176">
    <p:pos x="10405" y="3759"/>
    <p:text>Need to confirm scalability/ability to support ramp.</p:text>
    <p:extLst>
      <p:ext uri="{C676402C-5697-4E1C-873F-D02D1690AC5C}">
        <p15:threadingInfo xmlns:p15="http://schemas.microsoft.com/office/powerpoint/2012/main" timeZoneBias="420"/>
      </p:ext>
    </p:extLst>
  </p:cm>
  <p:cm authorId="0" dt="2026-05-12T15:33:06.628" idx="177">
    <p:pos x="4094" y="3954"/>
    <p:text>From Bob: Strong India infrastructure, machining capability, and growing technical alignment to HWTE needs</p:text>
    <p:extLst>
      <p:ext uri="{C676402C-5697-4E1C-873F-D02D1690AC5C}">
        <p15:threadingInfo xmlns:p15="http://schemas.microsoft.com/office/powerpoint/2012/main" timeZoneBias="420"/>
      </p:ext>
    </p:extLst>
  </p:cm>
  <p:cm authorId="0" dt="2026-05-20T00:05:26.554" idx="178">
    <p:pos x="4576" y="3954"/>
    <p:text>IN Facility built (has it been approved yet, Bob?). ready to take on new projects/orders.</p:text>
    <p:extLst>
      <p:ext uri="{C676402C-5697-4E1C-873F-D02D1690AC5C}">
        <p15:threadingInfo xmlns:p15="http://schemas.microsoft.com/office/powerpoint/2012/main" timeZoneBias="420"/>
      </p:ext>
    </p:extLst>
  </p:cm>
  <p:cm authorId="0" dt="2026-05-12T15:33:06.628" idx="179">
    <p:pos x="5059" y="3954"/>
    <p:text>Can support from KR site and deploy OSS to VN.</p:text>
    <p:extLst>
      <p:ext uri="{C676402C-5697-4E1C-873F-D02D1690AC5C}">
        <p15:threadingInfo xmlns:p15="http://schemas.microsoft.com/office/powerpoint/2012/main" timeZoneBias="420"/>
      </p:ext>
    </p:extLst>
  </p:cm>
  <p:cm authorId="0" dt="2026-05-22T02:17:27.328" idx="180">
    <p:pos x="5554" y="3954"/>
    <p:text>Qualifying on B798 for NPI support. no bandwidth to work on these projects.</p:text>
    <p:extLst>
      <p:ext uri="{C676402C-5697-4E1C-873F-D02D1690AC5C}">
        <p15:threadingInfo xmlns:p15="http://schemas.microsoft.com/office/powerpoint/2012/main" timeZoneBias="420"/>
      </p:ext>
    </p:extLst>
  </p:cm>
  <p:cm authorId="1" dt="2026-05-19T11:21:27.636" idx="11">
    <p:pos x="5972" y="3954"/>
    <p:text>Focus needs to be on B798; capacity is available but should not be spread thin</p:text>
    <p:extLst>
      <p:ext uri="{C676402C-5697-4E1C-873F-D02D1690AC5C}">
        <p15:threadingInfo xmlns:p15="http://schemas.microsoft.com/office/powerpoint/2012/main" timeZoneBias="420"/>
      </p:ext>
    </p:extLst>
  </p:cm>
  <p:cm authorId="0" dt="2026-05-12T19:43:09.708" idx="181">
    <p:pos x="6506" y="3954"/>
    <p:text>Fully booked on B798 readiness. Need to confirm if they have additional resources to support.</p:text>
    <p:extLst>
      <p:ext uri="{C676402C-5697-4E1C-873F-D02D1690AC5C}">
        <p15:threadingInfo xmlns:p15="http://schemas.microsoft.com/office/powerpoint/2012/main" timeZoneBias="420"/>
      </p:ext>
    </p:extLst>
  </p:cm>
  <p:cm authorId="0" dt="2026-05-12T19:46:24.566" idx="182">
    <p:pos x="7530" y="3954"/>
    <p:text>Delivery of V68 stations was delayed, but partially contributed by Apple team not setting up for success given compressed schedule.</p:text>
    <p:extLst>
      <p:ext uri="{C676402C-5697-4E1C-873F-D02D1690AC5C}">
        <p15:threadingInfo xmlns:p15="http://schemas.microsoft.com/office/powerpoint/2012/main" timeZoneBias="420"/>
      </p:ext>
    </p:extLst>
  </p:cm>
  <p:cm authorId="0" dt="2026-05-15T07:07:36.404" idx="183">
    <p:pos x="8612" y="3954"/>
    <p:text>Need to confirm for V68</p:text>
    <p:extLst>
      <p:ext uri="{C676402C-5697-4E1C-873F-D02D1690AC5C}">
        <p15:threadingInfo xmlns:p15="http://schemas.microsoft.com/office/powerpoint/2012/main" timeZoneBias="420"/>
      </p:ext>
    </p:extLst>
  </p:cm>
  <p:cm authorId="0" dt="2026-05-20T19:20:30.660" idx="184">
    <p:pos x="9153" y="3954"/>
    <p:text>Bumpy experience on V68 shadow sets but many of those issues related to issues on our end.</p:text>
    <p:extLst>
      <p:ext uri="{C676402C-5697-4E1C-873F-D02D1690AC5C}">
        <p15:threadingInfo xmlns:p15="http://schemas.microsoft.com/office/powerpoint/2012/main" timeZoneBias="420"/>
      </p:ext>
    </p:extLst>
  </p:cm>
  <p:cm authorId="0" dt="2026-05-20T00:05:26.554" idx="185">
    <p:pos x="5059" y="4142"/>
    <p:text>VN site can support retrofits for MP.</p:text>
    <p:extLst>
      <p:ext uri="{C676402C-5697-4E1C-873F-D02D1690AC5C}">
        <p15:threadingInfo xmlns:p15="http://schemas.microsoft.com/office/powerpoint/2012/main" timeZoneBias="420"/>
      </p:ext>
    </p:extLst>
  </p:cm>
  <p:cm authorId="0" dt="2026-05-12T19:34:34.942" idx="186">
    <p:pos x="5972" y="4142"/>
    <p:text>Can be available if this is a priority project, but want to save for other projects if possible.</p:text>
    <p:extLst>
      <p:ext uri="{C676402C-5697-4E1C-873F-D02D1690AC5C}">
        <p15:threadingInfo xmlns:p15="http://schemas.microsoft.com/office/powerpoint/2012/main" timeZoneBias="420"/>
      </p:ext>
    </p:extLst>
  </p:cm>
  <p:cm authorId="0" dt="2026-05-12T19:36:08.136" idx="187">
    <p:pos x="6506" y="4142"/>
    <p:text>Significant performance issues in TTM (N50 Vader, Grape/Touch, delays on B798 conveyor design) point to limited availability</p:text>
    <p:extLst>
      <p:ext uri="{C676402C-5697-4E1C-873F-D02D1690AC5C}">
        <p15:threadingInfo xmlns:p15="http://schemas.microsoft.com/office/powerpoint/2012/main" timeZoneBias="420"/>
      </p:ext>
    </p:extLst>
  </p:cm>
  <p:cm authorId="0" dt="2026-05-13T22:20:01.677" idx="188">
    <p:pos x="6989" y="4142"/>
    <p:text>https://jira.apple.com/browse/HWECMP-6433 was a potential build blocker, massive efficiency hit to the team.</p:text>
    <p:extLst>
      <p:ext uri="{C676402C-5697-4E1C-873F-D02D1690AC5C}">
        <p15:threadingInfo xmlns:p15="http://schemas.microsoft.com/office/powerpoint/2012/main" timeZoneBias="420"/>
      </p:ext>
    </p:extLst>
  </p:cm>
  <p:cm authorId="0" dt="2026-05-12T19:50:23.571" idx="189">
    <p:pos x="7530" y="4142"/>
    <p:text>Significant performance issues in TTM (N50 Vader, Grape/Touch, delays on B798 conveyor design).</p:text>
    <p:extLst>
      <p:ext uri="{C676402C-5697-4E1C-873F-D02D1690AC5C}">
        <p15:threadingInfo xmlns:p15="http://schemas.microsoft.com/office/powerpoint/2012/main" timeZoneBias="420"/>
      </p:ext>
    </p:extLst>
  </p:cm>
  <p:cm authorId="0" dt="2026-05-15T07:07:07.716" idx="190">
    <p:pos x="8071" y="4142"/>
    <p:text>Missed design lock for B798 project will cause it to miss EIH target.</p:text>
    <p:extLst>
      <p:ext uri="{C676402C-5697-4E1C-873F-D02D1690AC5C}">
        <p15:threadingInfo xmlns:p15="http://schemas.microsoft.com/office/powerpoint/2012/main" timeZoneBias="420"/>
      </p:ext>
    </p:extLst>
  </p:cm>
  <p:cm authorId="0" dt="2026-05-15T07:07:07.716" idx="191">
    <p:pos x="8612" y="4142"/>
    <p:text>Missed design lock for B798 project.</p:text>
    <p:extLst>
      <p:ext uri="{C676402C-5697-4E1C-873F-D02D1690AC5C}">
        <p15:threadingInfo xmlns:p15="http://schemas.microsoft.com/office/powerpoint/2012/main" timeZoneBias="420"/>
      </p:ext>
    </p:extLst>
  </p:cm>
  <p:cm authorId="0" dt="2026-05-15T07:12:55.246" idx="192">
    <p:pos x="9153" y="4142"/>
    <p:text>JLK (HWECMP-6528) - FY26 Q3 (Apr-Jun) Infrequent communication between JLK-IN and JLK-CN led to divergent design conclusions. Deliverable requests were funneled to Apple near the design lock phase instead of early in the design phase.
Quote: "...funneling deliver requests near design lock instead of early design phase" (Summary)</p:text>
    <p:extLst>
      <p:ext uri="{C676402C-5697-4E1C-873F-D02D1690AC5C}">
        <p15:threadingInfo xmlns:p15="http://schemas.microsoft.com/office/powerpoint/2012/main" timeZoneBias="420"/>
      </p:ext>
    </p:extLst>
  </p:cm>
  <p:cm authorId="0" dt="2026-05-12T20:00:58.422" idx="193">
    <p:pos x="1681" y="4330"/>
    <p:text>PRM inflating prices in advance of their IPO and causing commercial issues. proceed with caution.</p:text>
    <p:extLst>
      <p:ext uri="{C676402C-5697-4E1C-873F-D02D1690AC5C}">
        <p15:threadingInfo xmlns:p15="http://schemas.microsoft.com/office/powerpoint/2012/main" timeZoneBias="420"/>
      </p:ext>
    </p:extLst>
  </p:cm>
  <p:cm authorId="0" dt="2026-05-12T15:35:54.130" idx="194">
    <p:pos x="5059" y="4330"/>
    <p:text>Support retrofits for MP programs</p:text>
    <p:extLst>
      <p:ext uri="{C676402C-5697-4E1C-873F-D02D1690AC5C}">
        <p15:threadingInfo xmlns:p15="http://schemas.microsoft.com/office/powerpoint/2012/main" timeZoneBias="420"/>
      </p:ext>
    </p:extLst>
  </p:cm>
  <p:cm authorId="0" dt="2026-06-04T18:16:31.651" idx="195">
    <p:pos x="6989" y="4330"/>
    <p:text>Would have blocked V68 EVT main due to performance issues on CCB block for Grape station.
Able to deliver Helios in several weeks with tons of design changes. invaluable partner to get things done quickly and a much bigger value to NPI.</p:text>
    <p:extLst>
      <p:ext uri="{C676402C-5697-4E1C-873F-D02D1690AC5C}">
        <p15:threadingInfo xmlns:p15="http://schemas.microsoft.com/office/powerpoint/2012/main" timeZoneBias="420"/>
      </p:ext>
    </p:extLst>
  </p:cm>
  <p:cm authorId="0" dt="2026-05-20T00:17:50.013" idx="196">
    <p:pos x="9153" y="4330"/>
    <p:text>From Capex SQE Alan:
- Critical specs are not required in quality check or not reasonable, eg belt roller height inspection position not defined, belt tension inspection point not defined, belt driver shaft runout speed not defined, no specific position defined for sensors position check in IPQC etc;
- GB name and version are not marked on GB, and assembly SOP/IPQC didn’t mention which GB is needed for specific steps;
- QA didn’t use latest measurement tool GO/No GO GB for conveyor width check;
- Grape grounding cable routing and screw fix method is not well defined and no IPQC re-do process after onsite retrofit during SQE onsite audit at CM.
- CM escalation on no dedicate onsite PM during LXKU LBU.
- unproven for ramp, need to monitor closely</p:text>
    <p:extLst>
      <p:ext uri="{C676402C-5697-4E1C-873F-D02D1690AC5C}">
        <p15:threadingInfo xmlns:p15="http://schemas.microsoft.com/office/powerpoint/2012/main" timeZoneBias="420"/>
      </p:ext>
    </p:extLst>
  </p:cm>
  <p:cm authorId="0" dt="2026-05-28T00:15:32.682" idx="197">
    <p:pos x="9233" y="4250"/>
    <p:text>From Rachel Shi: Aligned. In short, 1) their management level is short of ramp knowhow, cannot find the issues by themselves; 2) they have serious resource issue: many key roles like PM are new hiring or no rich Apple ramp experience; 3) technical PM is limited: the senior ones are strong, but only few are capable.</p:text>
    <p:extLst>
      <p:ext uri="{C676402C-5697-4E1C-873F-D02D1690AC5C}">
        <p15:threadingInfo xmlns:p15="http://schemas.microsoft.com/office/powerpoint/2012/main" timeZoneBias="420">
          <p15:parentCm authorId="0" idx="196"/>
        </p15:threadingInfo>
      </p:ext>
    </p:extLst>
  </p:cm>
  <p:cm authorId="0" dt="2026-06-04T18:15:21.821" idx="198">
    <p:pos x="9233" y="4250"/>
    <p:text>From Roy: https://jira.corp.apple.com/browse/HWECMP-6485
Bad support on CCD jig for Edge probe alignment. There is not SW support to this station, and the edge/feature capture is not accurate, which would have blocked EVT main build. iPD was able to implement a workaround to avoid blocking the build. Still waiting on corrective actions from PRM.</p:text>
    <p:extLst>
      <p:ext uri="{C676402C-5697-4E1C-873F-D02D1690AC5C}">
        <p15:threadingInfo xmlns:p15="http://schemas.microsoft.com/office/powerpoint/2012/main" timeZoneBias="420">
          <p15:parentCm authorId="0" idx="196"/>
        </p15:threadingInfo>
      </p:ext>
    </p:extLst>
  </p:cm>
  <p:cm authorId="0" dt="2026-05-12T15:35:54.130" idx="199">
    <p:pos x="5059" y="4516"/>
    <p:text>Support retrofits for MP programs</p:text>
    <p:extLst>
      <p:ext uri="{C676402C-5697-4E1C-873F-D02D1690AC5C}">
        <p15:threadingInfo xmlns:p15="http://schemas.microsoft.com/office/powerpoint/2012/main" timeZoneBias="420"/>
      </p:ext>
    </p:extLst>
  </p:cm>
  <p:cm authorId="0" dt="2026-05-13T22:24:26.244" idx="200">
    <p:pos x="7530" y="4516"/>
    <p:text>Cencorp failed to validate the PLC code with the Coreless script before shipping the fixture, despite repeated instructions to do so. This omission jeopardized the PLC code readiness detection. https://jira.apple.com/browse/HWECMP-6278. </p:text>
    <p:extLst>
      <p:ext uri="{C676402C-5697-4E1C-873F-D02D1690AC5C}">
        <p15:threadingInfo xmlns:p15="http://schemas.microsoft.com/office/powerpoint/2012/main" timeZoneBias="420"/>
      </p:ext>
    </p:extLst>
  </p:cm>
  <p:cm authorId="0" dt="2026-05-13T22:26:56.020" idx="201">
    <p:pos x="9153" y="4516"/>
    <p:text>Cencorp (HWECMP-6277) - FY25 Q4 (Jul-Sep) Cencorp's TPM failed to provide timely feedback on Beckhoff tuning and OQC status. This lack of communication put the fixture EIH and vendor site PLC validation plans at risk.</p:text>
    <p:extLst>
      <p:ext uri="{C676402C-5697-4E1C-873F-D02D1690AC5C}">
        <p15:threadingInfo xmlns:p15="http://schemas.microsoft.com/office/powerpoint/2012/main" timeZoneBias="420"/>
      </p:ext>
    </p:extLst>
  </p:cm>
  <p:cm authorId="0" dt="2026-05-12T15:35:54.130" idx="202">
    <p:pos x="5059" y="4703"/>
    <p:text>Support retrofits for MP programs</p:text>
    <p:extLst>
      <p:ext uri="{C676402C-5697-4E1C-873F-D02D1690AC5C}">
        <p15:threadingInfo xmlns:p15="http://schemas.microsoft.com/office/powerpoint/2012/main" timeZoneBias="420"/>
      </p:ext>
    </p:extLst>
  </p:cm>
  <p:cm authorId="0" dt="2026-05-12T19:43:09.708" idx="203">
    <p:pos x="6506" y="4703"/>
    <p:text>Performance issues pointing to significant capacity issues, suggest hold any engagements until performance improvement plan approved.</p:text>
    <p:extLst>
      <p:ext uri="{C676402C-5697-4E1C-873F-D02D1690AC5C}">
        <p15:threadingInfo xmlns:p15="http://schemas.microsoft.com/office/powerpoint/2012/main" timeZoneBias="420"/>
      </p:ext>
    </p:extLst>
  </p:cm>
  <p:cm authorId="0" dt="2026-05-20T19:00:31.666" idx="204">
    <p:pos x="6989" y="4703"/>
    <p:text>Falsified data. From Capex SQE Alan on 5/20/26: During SQE audit for phone program we found skip whole quality check for one tester, and input make data into quality check sheet, etc.</p:text>
    <p:extLst>
      <p:ext uri="{C676402C-5697-4E1C-873F-D02D1690AC5C}">
        <p15:threadingInfo xmlns:p15="http://schemas.microsoft.com/office/powerpoint/2012/main" timeZoneBias="420"/>
      </p:ext>
    </p:extLst>
  </p:cm>
  <p:cm authorId="0" dt="2026-05-12T19:53:30.889" idx="205">
    <p:pos x="7530" y="4703"/>
    <p:text>Multiple EIH and MBO bringup delays on V68, N50 programs resulting in delays.</p:text>
    <p:extLst>
      <p:ext uri="{C676402C-5697-4E1C-873F-D02D1690AC5C}">
        <p15:threadingInfo xmlns:p15="http://schemas.microsoft.com/office/powerpoint/2012/main" timeZoneBias="420"/>
      </p:ext>
    </p:extLst>
  </p:cm>
  <p:cm authorId="0" dt="2026-05-13T22:26:40.333" idx="206">
    <p:pos x="8071" y="4703"/>
    <p:text>Innorev (HWECMP-6404) - FY26 Q2 (Jan-Mar) Poor quality control on the Brontes Freja station (e.g., OGB bracket issues, wrong tray loading pins) slowed down fixture bring-up. These tray quality issues continuously delayed the EIH of OVB trays.
Quote: "...recently keep delaying the EIH of OVB trays..."
Innorev (HWECMP-6383) - FY26 Q1 (Oct-Dec) Innorev experienced multiple ETA delays for LDCM and QT1 fixtures, severely impacting the build schedule and missing the required P1 EIH date.
Quote: "P1 required EIH date 11/24... Innorev PM informed LDCM ETA delay... QT1 ETD delay to 12/8..."
Innorev (HWECMP-6274) - FY25 Q4 (Jul-Sep) Failure to perform OQC inspections as required, such as failing to separate signal and grounding wires, resulted in signal interference and a 1-2 day delay in the fixture's EIH.
Quote: "...resulting in a 1-2 day delay in the fixture's EIH?"
Innorev (HWECMP-6271) - FY25 Q4 (Jul-Sep) The QT/LDCM fixture experienced ETA and EIH delays tied to late deliveries from a material supplier.
Quote: "...8/20 required EIH, 9/1 delayed ETA..."
Innorev (HWECMP-6270) - FY25 Q4 (Jul-Sep) The iSD Thermal DOE fixture missed its required EIH and suffered ETA delays due to ongoing debugging and uncertain issues described by the vendor.
Quote: "...7/30 required EIH, 8/24 delayed ETA..."
Innorev (HWECMP-6269) - FY25 Q4 (Jul-Sep) No ETA or delivery status updates were provided for the J65 camera, causing it to miss its required EIH.
Quote: "...8/18 required EIH..."</p:text>
    <p:extLst>
      <p:ext uri="{C676402C-5697-4E1C-873F-D02D1690AC5C}">
        <p15:threadingInfo xmlns:p15="http://schemas.microsoft.com/office/powerpoint/2012/main" timeZoneBias="420"/>
      </p:ext>
    </p:extLst>
  </p:cm>
  <p:cm authorId="0" dt="2026-05-15T07:12:21.986" idx="207">
    <p:pos x="9153" y="4703"/>
    <p:text>Innorev (HWECMP-6405) - FY26 Q2 (Jan-Mar) A significant 53-day delay in delivering the Acktar chart for the J917/J920 P1 build occurred due to poor ETA management. While mitigated to avoid an immediate POC blocker, it posed a massive delay risk for subsequent builds.
Quote: "To avoid blocker for POC build..." and "...it is not a blocker yet it a huge delay..."
Innorev (HWECMP-6361) - FY26 Q1 (Oct-Dec) Poor delivery quality of the B790 FATP Freja station risked blocking the build. Issues included missing important components, poorly checked parts, and a failure to implement past lessons learned.
Quote: "FATP Freja delivery quality is very concerning, risk to block the build..."</p:text>
    <p:extLst>
      <p:ext uri="{C676402C-5697-4E1C-873F-D02D1690AC5C}">
        <p15:threadingInfo xmlns:p15="http://schemas.microsoft.com/office/powerpoint/2012/main" timeZoneBias="420"/>
      </p:ext>
    </p:extLst>
  </p:cm>
  <p:cm authorId="0" dt="2026-05-20T00:20:07.337" idx="208">
    <p:pos x="4094" y="4899"/>
    <p:text>Partner with Strong for CN-based fabrication for AE teams for 6+ months. Also partnering with Strong for retrofit kit fabrication on the V68 Magnolia station, where their fab + OSS would support on the ground with Pentamaster’s engineers. Partnership needs help from GSM to reduce lead times (current project has a 6-8 week lead time but help required to pull that in).</p:text>
    <p:extLst>
      <p:ext uri="{C676402C-5697-4E1C-873F-D02D1690AC5C}">
        <p15:threadingInfo xmlns:p15="http://schemas.microsoft.com/office/powerpoint/2012/main" timeZoneBias="420"/>
      </p:ext>
    </p:extLst>
  </p:cm>
  <p:cm authorId="0" dt="2026-05-20T00:20:07.337" idx="209">
    <p:pos x="4576" y="4899"/>
    <p:text>Similar to China, they have a local partnership that will make parts which have proven lead times through AE experience. Would also send their OSS/Engineers from Malaysia to support. </p:text>
    <p:extLst>
      <p:ext uri="{C676402C-5697-4E1C-873F-D02D1690AC5C}">
        <p15:threadingInfo xmlns:p15="http://schemas.microsoft.com/office/powerpoint/2012/main" timeZoneBias="420"/>
      </p:ext>
    </p:extLst>
  </p:cm>
  <p:cm authorId="0" dt="2026-05-12T15:42:27.278" idx="210">
    <p:pos x="5059" y="4899"/>
    <p:text>Promising automation/integration capability with growing strategic relevance</p:text>
    <p:extLst>
      <p:ext uri="{C676402C-5697-4E1C-873F-D02D1690AC5C}">
        <p15:threadingInfo xmlns:p15="http://schemas.microsoft.com/office/powerpoint/2012/main" timeZoneBias="420"/>
      </p:ext>
    </p:extLst>
  </p:cm>
  <p:cm authorId="0" dt="2026-05-22T02:17:27.328" idx="211">
    <p:pos x="5554" y="4899"/>
    <p:text>Have not yet completed a build cycle on their stations, recommend waiting and give a shadow set in the meantime.
Pentamaster turned down MP 2nd source for Chocolate due to bandwidth, demonstrates constraint.</p:text>
    <p:extLst>
      <p:ext uri="{C676402C-5697-4E1C-873F-D02D1690AC5C}">
        <p15:threadingInfo xmlns:p15="http://schemas.microsoft.com/office/powerpoint/2012/main" timeZoneBias="420"/>
      </p:ext>
    </p:extLst>
  </p:cm>
  <p:cm authorId="0" dt="2026-05-12T20:02:15.231" idx="212">
    <p:pos x="6989" y="4899"/>
    <p:text>No recent performance in TTM</p:text>
    <p:extLst>
      <p:ext uri="{C676402C-5697-4E1C-873F-D02D1690AC5C}">
        <p15:threadingInfo xmlns:p15="http://schemas.microsoft.com/office/powerpoint/2012/main" timeZoneBias="420"/>
      </p:ext>
    </p:extLst>
  </p:cm>
  <p:cm authorId="0" dt="2026-05-12T20:02:15.231" idx="213">
    <p:pos x="7530" y="4899"/>
    <p:text>No recent performance in TTM</p:text>
    <p:extLst>
      <p:ext uri="{C676402C-5697-4E1C-873F-D02D1690AC5C}">
        <p15:threadingInfo xmlns:p15="http://schemas.microsoft.com/office/powerpoint/2012/main" timeZoneBias="420"/>
      </p:ext>
    </p:extLst>
  </p:cm>
  <p:cm authorId="0" dt="2026-05-12T20:02:15.231" idx="214">
    <p:pos x="8612" y="4899"/>
    <p:text>No recent performance in TTM</p:text>
    <p:extLst>
      <p:ext uri="{C676402C-5697-4E1C-873F-D02D1690AC5C}">
        <p15:threadingInfo xmlns:p15="http://schemas.microsoft.com/office/powerpoint/2012/main" timeZoneBias="420"/>
      </p:ext>
    </p:extLst>
  </p:cm>
  <p:cm authorId="0" dt="2026-05-20T00:53:06.290" idx="215">
    <p:pos x="10405" y="4899"/>
    <p:text>Slow turnaround times but do have apple module experience. need to evaluate.</p:text>
    <p:extLst>
      <p:ext uri="{C676402C-5697-4E1C-873F-D02D1690AC5C}">
        <p15:threadingInfo xmlns:p15="http://schemas.microsoft.com/office/powerpoint/2012/main" timeZoneBias="420"/>
      </p:ext>
    </p:extLst>
  </p:cm>
  <p:cm authorId="1" dt="2026-05-19T11:17:57.452" idx="12">
    <p:pos x="1681" y="5084"/>
    <p:text>IVD is untested in quoting as of now; will need to gauge once RFPs shared</p:text>
    <p:extLst>
      <p:ext uri="{C676402C-5697-4E1C-873F-D02D1690AC5C}">
        <p15:threadingInfo xmlns:p15="http://schemas.microsoft.com/office/powerpoint/2012/main" timeZoneBias="420"/>
      </p:ext>
    </p:extLst>
  </p:cm>
  <p:cm authorId="0" dt="2026-05-22T18:43:00.572" idx="216">
    <p:pos x="1761" y="5004"/>
    <p:text>Future business success appears overly reliant on Apple Capex business, need to vet if they will be willing to work with us given size of opportunity.</p:text>
    <p:extLst>
      <p:ext uri="{C676402C-5697-4E1C-873F-D02D1690AC5C}">
        <p15:threadingInfo xmlns:p15="http://schemas.microsoft.com/office/powerpoint/2012/main" timeZoneBias="420">
          <p15:parentCm authorId="1" idx="12"/>
        </p15:threadingInfo>
      </p:ext>
    </p:extLst>
  </p:cm>
  <p:cm authorId="0" dt="2026-05-20T00:34:03.592" idx="217">
    <p:pos x="4094" y="5084"/>
    <p:text>Has a CN facility but is only bidding for non-CN work. Pending visit to this facility to understand what they do.</p:text>
    <p:extLst>
      <p:ext uri="{C676402C-5697-4E1C-873F-D02D1690AC5C}">
        <p15:threadingInfo xmlns:p15="http://schemas.microsoft.com/office/powerpoint/2012/main" timeZoneBias="420"/>
      </p:ext>
    </p:extLst>
  </p:cm>
  <p:cm authorId="0" dt="2026-05-20T00:34:38.714" idx="218">
    <p:pos x="4576" y="5084"/>
    <p:text>Would support IN from their VN facility.</p:text>
    <p:extLst>
      <p:ext uri="{C676402C-5697-4E1C-873F-D02D1690AC5C}">
        <p15:threadingInfo xmlns:p15="http://schemas.microsoft.com/office/powerpoint/2012/main" timeZoneBias="420"/>
      </p:ext>
    </p:extLst>
  </p:cm>
  <p:cm authorId="0" dt="2026-05-20T00:35:19.146" idx="219">
    <p:pos x="5059" y="5084"/>
    <p:text>Working on test stations for other customers. </p:text>
    <p:extLst>
      <p:ext uri="{C676402C-5697-4E1C-873F-D02D1690AC5C}">
        <p15:threadingInfo xmlns:p15="http://schemas.microsoft.com/office/powerpoint/2012/main" timeZoneBias="420"/>
      </p:ext>
    </p:extLst>
  </p:cm>
  <p:cm authorId="0" dt="2026-05-12T20:02:15.231" idx="220">
    <p:pos x="6989" y="5084"/>
    <p:text>No recent performance in TTM</p:text>
    <p:extLst>
      <p:ext uri="{C676402C-5697-4E1C-873F-D02D1690AC5C}">
        <p15:threadingInfo xmlns:p15="http://schemas.microsoft.com/office/powerpoint/2012/main" timeZoneBias="420"/>
      </p:ext>
    </p:extLst>
  </p:cm>
  <p:cm authorId="0" dt="2026-05-12T20:02:15.231" idx="221">
    <p:pos x="7530" y="5084"/>
    <p:text>No recent performance in TTM</p:text>
    <p:extLst>
      <p:ext uri="{C676402C-5697-4E1C-873F-D02D1690AC5C}">
        <p15:threadingInfo xmlns:p15="http://schemas.microsoft.com/office/powerpoint/2012/main" timeZoneBias="420"/>
      </p:ext>
    </p:extLst>
  </p:cm>
  <p:cm authorId="0" dt="2026-05-12T20:02:15.231" idx="222">
    <p:pos x="8612" y="5084"/>
    <p:text>No recent performance in TTM</p:text>
    <p:extLst>
      <p:ext uri="{C676402C-5697-4E1C-873F-D02D1690AC5C}">
        <p15:threadingInfo xmlns:p15="http://schemas.microsoft.com/office/powerpoint/2012/main" timeZoneBias="420"/>
      </p:ext>
    </p:extLst>
  </p:cm>
  <p:cm authorId="0" dt="2026-05-20T00:53:38.672" idx="223">
    <p:pos x="9970" y="5084"/>
    <p:text>Need to prove out technical capability. newly assembled team who has not worked together on complex projects.	</p:text>
    <p:extLst>
      <p:ext uri="{C676402C-5697-4E1C-873F-D02D1690AC5C}">
        <p15:threadingInfo xmlns:p15="http://schemas.microsoft.com/office/powerpoint/2012/main" timeZoneBias="420"/>
      </p:ext>
    </p:extLst>
  </p:cm>
  <p:cm authorId="0" dt="2026-05-20T00:53:38.672" idx="224">
    <p:pos x="10405" y="5084"/>
    <p:text>Need to prove out technical capability. newly assembled team who has not worked together on complex projects.	</p:text>
    <p:extLst>
      <p:ext uri="{C676402C-5697-4E1C-873F-D02D1690AC5C}">
        <p15:threadingInfo xmlns:p15="http://schemas.microsoft.com/office/powerpoint/2012/main" timeZoneBias="420"/>
      </p:ext>
    </p:extLst>
  </p:cm>
  <p:cm authorId="0" dt="2026-05-12T15:43:49.417" idx="225">
    <p:pos x="3128" y="5287"/>
    <p:text>CN/VN support strategy not vetted, not likely to clear by deadline</p:text>
    <p:extLst>
      <p:ext uri="{C676402C-5697-4E1C-873F-D02D1690AC5C}">
        <p15:threadingInfo xmlns:p15="http://schemas.microsoft.com/office/powerpoint/2012/main" timeZoneBias="420"/>
      </p:ext>
    </p:extLst>
  </p:cm>
  <p:cm authorId="1" dt="2026-05-19T11:20:19.982" idx="13">
    <p:pos x="3611" y="5287"/>
    <p:text>Partnership manufacturing sites; unlikely to be used by Apple</p:text>
    <p:extLst>
      <p:ext uri="{C676402C-5697-4E1C-873F-D02D1690AC5C}">
        <p15:threadingInfo xmlns:p15="http://schemas.microsoft.com/office/powerpoint/2012/main" timeZoneBias="420"/>
      </p:ext>
    </p:extLst>
  </p:cm>
  <p:cm authorId="0" dt="2026-05-13T21:16:51.780" idx="226">
    <p:pos x="4094" y="5287"/>
    <p:text>No existing infrastructure in VN/CN for HWTE to validate.</p:text>
    <p:extLst>
      <p:ext uri="{C676402C-5697-4E1C-873F-D02D1690AC5C}">
        <p15:threadingInfo xmlns:p15="http://schemas.microsoft.com/office/powerpoint/2012/main" timeZoneBias="420"/>
      </p:ext>
    </p:extLst>
  </p:cm>
  <p:cm authorId="0" dt="2026-05-13T21:16:51.780" idx="227">
    <p:pos x="5059" y="5287"/>
    <p:text>No existing infrastructure in VN/CN for HWTE to validate.</p:text>
    <p:extLst>
      <p:ext uri="{C676402C-5697-4E1C-873F-D02D1690AC5C}">
        <p15:threadingInfo xmlns:p15="http://schemas.microsoft.com/office/powerpoint/2012/main" timeZoneBias="420"/>
      </p:ext>
    </p:extLst>
  </p:cm>
  <p:cm authorId="0" dt="2026-05-12T20:11:44.560" idx="228">
    <p:pos x="5554" y="5287"/>
    <p:text>Doing conveyors as part of ramp, need YK to confirm performance</p:text>
    <p:extLst>
      <p:ext uri="{C676402C-5697-4E1C-873F-D02D1690AC5C}">
        <p15:threadingInfo xmlns:p15="http://schemas.microsoft.com/office/powerpoint/2012/main" timeZoneBias="420"/>
      </p:ext>
    </p:extLst>
  </p:cm>
  <p:cm authorId="0" dt="2026-05-12T20:02:15.231" idx="229">
    <p:pos x="7530" y="5287"/>
    <p:text>NPI: No recent performance in TTM
MP: VVDN do has issue. Magnolia cannot even setup running at India. India fall back to standalone. We have concern for VVDN for conveyor. They block station bringup Station even cannot start run. Cannot functional. With pull all our engineering resource, still cannot function </p:text>
    <p:extLst>
      <p:ext uri="{C676402C-5697-4E1C-873F-D02D1690AC5C}">
        <p15:threadingInfo xmlns:p15="http://schemas.microsoft.com/office/powerpoint/2012/main" timeZoneBias="420"/>
      </p:ext>
    </p:extLst>
  </p:cm>
  <p:cm authorId="0" dt="2026-05-15T07:08:37.727" idx="230">
    <p:pos x="8612" y="5287"/>
    <p:text>Need to confirm</p:text>
    <p:extLst>
      <p:ext uri="{C676402C-5697-4E1C-873F-D02D1690AC5C}">
        <p15:threadingInfo xmlns:p15="http://schemas.microsoft.com/office/powerpoint/2012/main" timeZoneBias="420"/>
      </p:ext>
    </p:extLst>
  </p:cm>
  <p:cm authorId="0" dt="2026-05-12T15:43:54.140" idx="231">
    <p:pos x="3128" y="5490"/>
    <p:text>CN/VN support strategy not vetted, not likely to clear by deadline</p:text>
    <p:extLst>
      <p:ext uri="{C676402C-5697-4E1C-873F-D02D1690AC5C}">
        <p15:threadingInfo xmlns:p15="http://schemas.microsoft.com/office/powerpoint/2012/main" timeZoneBias="420"/>
      </p:ext>
    </p:extLst>
  </p:cm>
  <p:cm authorId="0" dt="2026-05-12T15:44:09.216" idx="232">
    <p:pos x="3611" y="5490"/>
    <p:text>CN/VN support strategy not vetted, not likely to clear by deadline</p:text>
    <p:extLst>
      <p:ext uri="{C676402C-5697-4E1C-873F-D02D1690AC5C}">
        <p15:threadingInfo xmlns:p15="http://schemas.microsoft.com/office/powerpoint/2012/main" timeZoneBias="420"/>
      </p:ext>
    </p:extLst>
  </p:cm>
  <p:cm authorId="0" dt="2026-05-13T21:16:51.780" idx="233">
    <p:pos x="4094" y="5490"/>
    <p:text>No existing infrastructure in VN/CN for HWTE to validate.</p:text>
    <p:extLst>
      <p:ext uri="{C676402C-5697-4E1C-873F-D02D1690AC5C}">
        <p15:threadingInfo xmlns:p15="http://schemas.microsoft.com/office/powerpoint/2012/main" timeZoneBias="420"/>
      </p:ext>
    </p:extLst>
  </p:cm>
  <p:cm authorId="0" dt="2026-05-13T21:16:51.780" idx="234">
    <p:pos x="5059" y="5490"/>
    <p:text>No existing infrastructure in VN/CN for HWTE to validate.</p:text>
    <p:extLst>
      <p:ext uri="{C676402C-5697-4E1C-873F-D02D1690AC5C}">
        <p15:threadingInfo xmlns:p15="http://schemas.microsoft.com/office/powerpoint/2012/main" timeZoneBias="420"/>
      </p:ext>
    </p:extLst>
  </p:cm>
  <p:cm authorId="0" dt="2026-05-12T20:13:41.808" idx="235">
    <p:pos x="5554" y="5490"/>
    <p:text>No plan to qualify for conveyor projects due to capability limitations</p:text>
    <p:extLst>
      <p:ext uri="{C676402C-5697-4E1C-873F-D02D1690AC5C}">
        <p15:threadingInfo xmlns:p15="http://schemas.microsoft.com/office/powerpoint/2012/main" timeZoneBias="420"/>
      </p:ext>
    </p:extLst>
  </p:cm>
  <p:cm authorId="0" dt="2026-05-15T07:08:37.727" idx="236">
    <p:pos x="8612" y="5490"/>
    <p:text>Need to confirm</p:text>
    <p:extLst>
      <p:ext uri="{C676402C-5697-4E1C-873F-D02D1690AC5C}">
        <p15:threadingInfo xmlns:p15="http://schemas.microsoft.com/office/powerpoint/2012/main" timeZoneBias="420"/>
      </p:ext>
    </p:extLst>
  </p:cm>
  <p:cm authorId="0" dt="2026-05-12T15:43:49.417" idx="237">
    <p:pos x="3128" y="5675"/>
    <p:text>CN/VN support strategy not vetted, not likely to clear by deadline</p:text>
    <p:extLst>
      <p:ext uri="{C676402C-5697-4E1C-873F-D02D1690AC5C}">
        <p15:threadingInfo xmlns:p15="http://schemas.microsoft.com/office/powerpoint/2012/main" timeZoneBias="420"/>
      </p:ext>
    </p:extLst>
  </p:cm>
  <p:cm authorId="0" dt="2026-05-12T15:43:49.417" idx="238">
    <p:pos x="3611" y="5675"/>
    <p:text>CN/VN support strategy not vetted, not likely to clear by deadline</p:text>
    <p:extLst>
      <p:ext uri="{C676402C-5697-4E1C-873F-D02D1690AC5C}">
        <p15:threadingInfo xmlns:p15="http://schemas.microsoft.com/office/powerpoint/2012/main" timeZoneBias="420"/>
      </p:ext>
    </p:extLst>
  </p:cm>
  <p:cm authorId="0" dt="2026-05-13T21:16:51.780" idx="239">
    <p:pos x="4094" y="5675"/>
    <p:text>No existing infrastructure in VN/CN for HWTE to validate.</p:text>
    <p:extLst>
      <p:ext uri="{C676402C-5697-4E1C-873F-D02D1690AC5C}">
        <p15:threadingInfo xmlns:p15="http://schemas.microsoft.com/office/powerpoint/2012/main" timeZoneBias="420"/>
      </p:ext>
    </p:extLst>
  </p:cm>
  <p:cm authorId="0" dt="2026-05-13T21:16:51.780" idx="240">
    <p:pos x="5059" y="5675"/>
    <p:text>No existing infrastructure in VN/CN for HWTE to validate.</p:text>
    <p:extLst>
      <p:ext uri="{C676402C-5697-4E1C-873F-D02D1690AC5C}">
        <p15:threadingInfo xmlns:p15="http://schemas.microsoft.com/office/powerpoint/2012/main" timeZoneBias="420"/>
      </p:ext>
    </p:extLst>
  </p:cm>
  <p:cm authorId="0" dt="2026-05-12T20:20:14.345" idx="241">
    <p:pos x="6506" y="5675"/>
    <p:text>Performance issues in NPI point to limited bandwidth for team to focus on project.</p:text>
    <p:extLst>
      <p:ext uri="{C676402C-5697-4E1C-873F-D02D1690AC5C}">
        <p15:threadingInfo xmlns:p15="http://schemas.microsoft.com/office/powerpoint/2012/main" timeZoneBias="420"/>
      </p:ext>
    </p:extLst>
  </p:cm>
  <p:cm authorId="0" dt="2026-05-12T20:20:35.597" idx="242">
    <p:pos x="6989" y="5675"/>
    <p:text>Multiple line-down issues in MP and NPI</p:text>
    <p:extLst>
      <p:ext uri="{C676402C-5697-4E1C-873F-D02D1690AC5C}">
        <p15:threadingInfo xmlns:p15="http://schemas.microsoft.com/office/powerpoint/2012/main" timeZoneBias="420"/>
      </p:ext>
    </p:extLst>
  </p:cm>
  <p:cm authorId="0" dt="2026-05-12T20:20:35.597" idx="243">
    <p:pos x="7530" y="5675"/>
    <p:text>Multiple line-down issues in MP and NPI</p:text>
    <p:extLst>
      <p:ext uri="{C676402C-5697-4E1C-873F-D02D1690AC5C}">
        <p15:threadingInfo xmlns:p15="http://schemas.microsoft.com/office/powerpoint/2012/main" timeZoneBias="420"/>
      </p:ext>
    </p:extLst>
  </p:cm>
  <p:cm authorId="0" dt="2026-05-15T07:08:37.727" idx="244">
    <p:pos x="8612" y="5675"/>
    <p:text>Need to confirm</p:text>
    <p:extLst>
      <p:ext uri="{C676402C-5697-4E1C-873F-D02D1690AC5C}">
        <p15:threadingInfo xmlns:p15="http://schemas.microsoft.com/office/powerpoint/2012/main" timeZoneBias="420"/>
      </p:ext>
    </p:extLst>
  </p:cm>
  <p:cm authorId="0" dt="2026-05-12T20:16:03.969" idx="245">
    <p:pos x="4094" y="5878"/>
    <p:text>Not KO’ed since Anora was not identified as a high-priority SI.</p:text>
    <p:extLst>
      <p:ext uri="{C676402C-5697-4E1C-873F-D02D1690AC5C}">
        <p15:threadingInfo xmlns:p15="http://schemas.microsoft.com/office/powerpoint/2012/main" timeZoneBias="420"/>
      </p:ext>
    </p:extLst>
  </p:cm>
  <p:cm authorId="0" dt="2026-05-12T20:16:03.969" idx="246">
    <p:pos x="5554" y="5878"/>
    <p:text>Not KO’ed since Anora was not identified as a high-priority SI.</p:text>
    <p:extLst>
      <p:ext uri="{C676402C-5697-4E1C-873F-D02D1690AC5C}">
        <p15:threadingInfo xmlns:p15="http://schemas.microsoft.com/office/powerpoint/2012/main" timeZoneBias="420"/>
      </p:ext>
    </p:extLst>
  </p:cm>
  <p:cm authorId="0" dt="2026-05-12T20:17:13.365" idx="247">
    <p:pos x="5972" y="5878"/>
    <p:text>GSM to confirm</p:text>
    <p:extLst>
      <p:ext uri="{C676402C-5697-4E1C-873F-D02D1690AC5C}">
        <p15:threadingInfo xmlns:p15="http://schemas.microsoft.com/office/powerpoint/2012/main" timeZoneBias="420"/>
      </p:ext>
    </p:extLst>
  </p:cm>
  <p:cm authorId="0" dt="2026-05-12T20:17:13.365" idx="248">
    <p:pos x="6506" y="5878"/>
    <p:text>GSM to confirm</p:text>
    <p:extLst>
      <p:ext uri="{C676402C-5697-4E1C-873F-D02D1690AC5C}">
        <p15:threadingInfo xmlns:p15="http://schemas.microsoft.com/office/powerpoint/2012/main" timeZoneBias="420"/>
      </p:ext>
    </p:extLst>
  </p:cm>
  <p:cm authorId="0" dt="2026-05-12T20:02:15.231" idx="249">
    <p:pos x="6989" y="5878"/>
    <p:text>No recent performance in TTM</p:text>
    <p:extLst>
      <p:ext uri="{C676402C-5697-4E1C-873F-D02D1690AC5C}">
        <p15:threadingInfo xmlns:p15="http://schemas.microsoft.com/office/powerpoint/2012/main" timeZoneBias="420"/>
      </p:ext>
    </p:extLst>
  </p:cm>
  <p:cm authorId="0" dt="2026-05-12T20:02:15.231" idx="250">
    <p:pos x="7530" y="5878"/>
    <p:text>No recent performance in TTM</p:text>
    <p:extLst>
      <p:ext uri="{C676402C-5697-4E1C-873F-D02D1690AC5C}">
        <p15:threadingInfo xmlns:p15="http://schemas.microsoft.com/office/powerpoint/2012/main" timeZoneBias="420"/>
      </p:ext>
    </p:extLst>
  </p:cm>
  <p:cm authorId="0" dt="2026-05-12T20:02:15.231" idx="251">
    <p:pos x="8071" y="5878"/>
    <p:text>No recent performance in TTM</p:text>
    <p:extLst>
      <p:ext uri="{C676402C-5697-4E1C-873F-D02D1690AC5C}">
        <p15:threadingInfo xmlns:p15="http://schemas.microsoft.com/office/powerpoint/2012/main" timeZoneBias="420"/>
      </p:ext>
    </p:extLst>
  </p:cm>
  <p:cm authorId="0" dt="2026-05-12T20:02:15.231" idx="252">
    <p:pos x="8612" y="5878"/>
    <p:text>No recent performance in TTM</p:text>
    <p:extLst>
      <p:ext uri="{C676402C-5697-4E1C-873F-D02D1690AC5C}">
        <p15:threadingInfo xmlns:p15="http://schemas.microsoft.com/office/powerpoint/2012/main" timeZoneBias="420"/>
      </p:ext>
    </p:extLst>
  </p:cm>
  <p:cm authorId="0" dt="2026-05-12T20:02:15.231" idx="253">
    <p:pos x="9153" y="5878"/>
    <p:text>No recent performance in TTM</p:text>
    <p:extLst>
      <p:ext uri="{C676402C-5697-4E1C-873F-D02D1690AC5C}">
        <p15:threadingInfo xmlns:p15="http://schemas.microsoft.com/office/powerpoint/2012/main" timeZoneBias="420"/>
      </p:ext>
    </p:extLst>
  </p:cm>
  <p:cm authorId="1" dt="2026-05-19T11:22:38.531" idx="14">
    <p:pos x="1681" y="6073"/>
    <p:text>Redacting on prior commitments and declining RFPs</p:text>
    <p:extLst>
      <p:ext uri="{C676402C-5697-4E1C-873F-D02D1690AC5C}">
        <p15:threadingInfo xmlns:p15="http://schemas.microsoft.com/office/powerpoint/2012/main" timeZoneBias="420"/>
      </p:ext>
    </p:extLst>
  </p:cm>
  <p:cm authorId="0" dt="2026-05-12T20:05:16.904" idx="254">
    <p:pos x="4094" y="6073"/>
    <p:text>Pass but audit seems to indicate they would fail commercials.</p:text>
    <p:extLst>
      <p:ext uri="{C676402C-5697-4E1C-873F-D02D1690AC5C}">
        <p15:threadingInfo xmlns:p15="http://schemas.microsoft.com/office/powerpoint/2012/main" timeZoneBias="420"/>
      </p:ext>
    </p:extLst>
  </p:cm>
  <p:cm authorId="1" dt="2026-05-19T11:23:37.583" idx="15">
    <p:pos x="5972" y="6073"/>
    <p:text>Redacting on prior commitments and declining RFPs</p:text>
    <p:extLst>
      <p:ext uri="{C676402C-5697-4E1C-873F-D02D1690AC5C}">
        <p15:threadingInfo xmlns:p15="http://schemas.microsoft.com/office/powerpoint/2012/main" timeZoneBias="420"/>
      </p:ext>
    </p:extLst>
  </p:cm>
  <p:cm authorId="0" dt="2026-05-12T20:02:15.231" idx="255">
    <p:pos x="6989" y="6073"/>
    <p:text>No recent performance in TTM</p:text>
    <p:extLst>
      <p:ext uri="{C676402C-5697-4E1C-873F-D02D1690AC5C}">
        <p15:threadingInfo xmlns:p15="http://schemas.microsoft.com/office/powerpoint/2012/main" timeZoneBias="420"/>
      </p:ext>
    </p:extLst>
  </p:cm>
  <p:cm authorId="0" dt="2026-05-12T20:02:15.231" idx="256">
    <p:pos x="7530" y="6073"/>
    <p:text>No recent performance in TTM</p:text>
    <p:extLst>
      <p:ext uri="{C676402C-5697-4E1C-873F-D02D1690AC5C}">
        <p15:threadingInfo xmlns:p15="http://schemas.microsoft.com/office/powerpoint/2012/main" timeZoneBias="420"/>
      </p:ext>
    </p:extLst>
  </p:cm>
  <p:cm authorId="0" dt="2026-05-12T20:02:15.231" idx="257">
    <p:pos x="8071" y="6073"/>
    <p:text>No recent performance in TTM</p:text>
    <p:extLst>
      <p:ext uri="{C676402C-5697-4E1C-873F-D02D1690AC5C}">
        <p15:threadingInfo xmlns:p15="http://schemas.microsoft.com/office/powerpoint/2012/main" timeZoneBias="420"/>
      </p:ext>
    </p:extLst>
  </p:cm>
  <p:cm authorId="0" dt="2026-05-12T20:02:15.231" idx="258">
    <p:pos x="8612" y="6073"/>
    <p:text>No recent performance in TTM</p:text>
    <p:extLst>
      <p:ext uri="{C676402C-5697-4E1C-873F-D02D1690AC5C}">
        <p15:threadingInfo xmlns:p15="http://schemas.microsoft.com/office/powerpoint/2012/main" timeZoneBias="420"/>
      </p:ext>
    </p:extLst>
  </p:cm>
  <p:cm authorId="0" dt="2026-05-12T20:02:15.231" idx="259">
    <p:pos x="9153" y="6073"/>
    <p:text>No recent performance in TTM</p:text>
    <p:extLst>
      <p:ext uri="{C676402C-5697-4E1C-873F-D02D1690AC5C}">
        <p15:threadingInfo xmlns:p15="http://schemas.microsoft.com/office/powerpoint/2012/main" timeZoneBias="420"/>
      </p:ext>
    </p:extLst>
  </p:cm>
  <p:cm authorId="1" dt="2026-05-19T11:24:21.777" idx="16">
    <p:pos x="11444" y="6073"/>
    <p:text>Declining RFPs currently</p:text>
    <p:extLst>
      <p:ext uri="{C676402C-5697-4E1C-873F-D02D1690AC5C}">
        <p15:threadingInfo xmlns:p15="http://schemas.microsoft.com/office/powerpoint/2012/main" timeZoneBias="420"/>
      </p:ext>
    </p:extLst>
  </p:cm>
  <p:cm authorId="1" dt="2026-05-19T11:54:33.441" idx="17">
    <p:pos x="1681" y="6259"/>
    <p:text>Not historically competitive in VPG</p:text>
    <p:extLst>
      <p:ext uri="{C676402C-5697-4E1C-873F-D02D1690AC5C}">
        <p15:threadingInfo xmlns:p15="http://schemas.microsoft.com/office/powerpoint/2012/main" timeZoneBias="420"/>
      </p:ext>
    </p:extLst>
  </p:cm>
  <p:cm authorId="0" dt="2026-05-12T20:18:12.677" idx="260">
    <p:pos x="4094" y="6259"/>
    <p:text>gated by GSM Ok2Engage</p:text>
    <p:extLst>
      <p:ext uri="{C676402C-5697-4E1C-873F-D02D1690AC5C}">
        <p15:threadingInfo xmlns:p15="http://schemas.microsoft.com/office/powerpoint/2012/main" timeZoneBias="420"/>
      </p:ext>
    </p:extLst>
  </p:cm>
  <p:cm authorId="0" dt="2026-05-12T20:18:12.677" idx="261">
    <p:pos x="5554" y="6259"/>
    <p:text>gated by GSM Ok2Engage</p:text>
    <p:extLst>
      <p:ext uri="{C676402C-5697-4E1C-873F-D02D1690AC5C}">
        <p15:threadingInfo xmlns:p15="http://schemas.microsoft.com/office/powerpoint/2012/main" timeZoneBias="420"/>
      </p:ext>
    </p:extLst>
  </p:cm>
  <p:cm authorId="0" dt="2026-05-12T20:18:12.677" idx="262">
    <p:pos x="6506" y="6259"/>
    <p:text>gated by GSM Ok2Engage</p:text>
    <p:extLst>
      <p:ext uri="{C676402C-5697-4E1C-873F-D02D1690AC5C}">
        <p15:threadingInfo xmlns:p15="http://schemas.microsoft.com/office/powerpoint/2012/main" timeZoneBias="420"/>
      </p:ext>
    </p:extLst>
  </p:cm>
  <p:cm authorId="0" dt="2026-05-12T20:18:12.677" idx="263">
    <p:pos x="6989" y="6259"/>
    <p:text>gated by GSM Ok2Engage</p:text>
    <p:extLst>
      <p:ext uri="{C676402C-5697-4E1C-873F-D02D1690AC5C}">
        <p15:threadingInfo xmlns:p15="http://schemas.microsoft.com/office/powerpoint/2012/main" timeZoneBias="420"/>
      </p:ext>
    </p:extLst>
  </p:cm>
  <p:cm authorId="0" dt="2026-05-12T20:18:12.677" idx="264">
    <p:pos x="7530" y="6259"/>
    <p:text>gated by GSM Ok2Engage</p:text>
    <p:extLst>
      <p:ext uri="{C676402C-5697-4E1C-873F-D02D1690AC5C}">
        <p15:threadingInfo xmlns:p15="http://schemas.microsoft.com/office/powerpoint/2012/main" timeZoneBias="420"/>
      </p:ext>
    </p:extLst>
  </p:cm>
  <p:cm authorId="0" dt="2026-05-12T20:02:15.231" idx="265">
    <p:pos x="8071" y="6259"/>
    <p:text>No recent performance in TTM</p:text>
    <p:extLst>
      <p:ext uri="{C676402C-5697-4E1C-873F-D02D1690AC5C}">
        <p15:threadingInfo xmlns:p15="http://schemas.microsoft.com/office/powerpoint/2012/main" timeZoneBias="420"/>
      </p:ext>
    </p:extLst>
  </p:cm>
  <p:cm authorId="0" dt="2026-05-12T20:02:15.231" idx="266">
    <p:pos x="8612" y="6259"/>
    <p:text>No recent performance in TTM</p:text>
    <p:extLst>
      <p:ext uri="{C676402C-5697-4E1C-873F-D02D1690AC5C}">
        <p15:threadingInfo xmlns:p15="http://schemas.microsoft.com/office/powerpoint/2012/main" timeZoneBias="420"/>
      </p:ext>
    </p:extLst>
  </p:cm>
  <p:cm authorId="0" dt="2026-05-12T20:02:15.231" idx="267">
    <p:pos x="9153" y="6259"/>
    <p:text>No recent performance in TTM</p:text>
    <p:extLst>
      <p:ext uri="{C676402C-5697-4E1C-873F-D02D1690AC5C}">
        <p15:threadingInfo xmlns:p15="http://schemas.microsoft.com/office/powerpoint/2012/main" timeZoneBias="420"/>
      </p:ext>
    </p:extLst>
  </p:cm>
  <p:cm authorId="0" dt="2026-05-12T20:18:12.677" idx="268">
    <p:pos x="9557" y="6259"/>
    <p:text>gated by GSM Ok2Engage</p:text>
    <p:extLst>
      <p:ext uri="{C676402C-5697-4E1C-873F-D02D1690AC5C}">
        <p15:threadingInfo xmlns:p15="http://schemas.microsoft.com/office/powerpoint/2012/main" timeZoneBias="420"/>
      </p:ext>
    </p:extLst>
  </p:cm>
  <p:cm authorId="0" dt="2026-05-12T20:18:12.677" idx="269">
    <p:pos x="9970" y="6259"/>
    <p:text>gated by GSM Ok2Engage</p:text>
    <p:extLst>
      <p:ext uri="{C676402C-5697-4E1C-873F-D02D1690AC5C}">
        <p15:threadingInfo xmlns:p15="http://schemas.microsoft.com/office/powerpoint/2012/main" timeZoneBias="420"/>
      </p:ext>
    </p:extLst>
  </p:cm>
  <p:cm authorId="0" dt="2026-05-12T20:18:12.677" idx="270">
    <p:pos x="10405" y="6259"/>
    <p:text>gated by GSM Ok2Engage</p:text>
    <p:extLst>
      <p:ext uri="{C676402C-5697-4E1C-873F-D02D1690AC5C}">
        <p15:threadingInfo xmlns:p15="http://schemas.microsoft.com/office/powerpoint/2012/main" timeZoneBias="420"/>
      </p:ext>
    </p:extLst>
  </p:cm>
  <p:cm authorId="1" dt="2026-05-19T11:44:09.068" idx="18">
    <p:pos x="1198" y="6454"/>
    <p:text>ARPA and EDPA still in negotiation</p:text>
    <p:extLst>
      <p:ext uri="{C676402C-5697-4E1C-873F-D02D1690AC5C}">
        <p15:threadingInfo xmlns:p15="http://schemas.microsoft.com/office/powerpoint/2012/main" timeZoneBias="420"/>
      </p:ext>
    </p:extLst>
  </p:cm>
  <p:cm authorId="0" dt="2026-05-12T20:18:12.677" idx="271">
    <p:pos x="1681" y="6454"/>
    <p:text>pending GSM feedback</p:text>
    <p:extLst>
      <p:ext uri="{C676402C-5697-4E1C-873F-D02D1690AC5C}">
        <p15:threadingInfo xmlns:p15="http://schemas.microsoft.com/office/powerpoint/2012/main" timeZoneBias="420"/>
      </p:ext>
    </p:extLst>
  </p:cm>
  <p:cm authorId="0" dt="2026-05-12T20:18:12.677" idx="272">
    <p:pos x="4094" y="6454"/>
    <p:text>gated by GSM Ok2Engage</p:text>
    <p:extLst>
      <p:ext uri="{C676402C-5697-4E1C-873F-D02D1690AC5C}">
        <p15:threadingInfo xmlns:p15="http://schemas.microsoft.com/office/powerpoint/2012/main" timeZoneBias="420"/>
      </p:ext>
    </p:extLst>
  </p:cm>
  <p:cm authorId="0" dt="2026-05-12T20:18:12.677" idx="273">
    <p:pos x="5554" y="6454"/>
    <p:text>gated by GSM Ok2Engage</p:text>
    <p:extLst>
      <p:ext uri="{C676402C-5697-4E1C-873F-D02D1690AC5C}">
        <p15:threadingInfo xmlns:p15="http://schemas.microsoft.com/office/powerpoint/2012/main" timeZoneBias="420"/>
      </p:ext>
    </p:extLst>
  </p:cm>
  <p:cm authorId="0" dt="2026-05-12T20:18:12.677" idx="274">
    <p:pos x="5972" y="6454"/>
    <p:text>gated by GSM Ok2Engage</p:text>
    <p:extLst>
      <p:ext uri="{C676402C-5697-4E1C-873F-D02D1690AC5C}">
        <p15:threadingInfo xmlns:p15="http://schemas.microsoft.com/office/powerpoint/2012/main" timeZoneBias="420"/>
      </p:ext>
    </p:extLst>
  </p:cm>
  <p:cm authorId="0" dt="2026-05-12T20:18:12.677" idx="275">
    <p:pos x="6506" y="6454"/>
    <p:text>gated by GSM Ok2Engage</p:text>
    <p:extLst>
      <p:ext uri="{C676402C-5697-4E1C-873F-D02D1690AC5C}">
        <p15:threadingInfo xmlns:p15="http://schemas.microsoft.com/office/powerpoint/2012/main" timeZoneBias="420"/>
      </p:ext>
    </p:extLst>
  </p:cm>
  <p:cm authorId="0" dt="2026-05-12T20:18:12.677" idx="276">
    <p:pos x="6989" y="6454"/>
    <p:text>gated by GSM Ok2Engage</p:text>
    <p:extLst>
      <p:ext uri="{C676402C-5697-4E1C-873F-D02D1690AC5C}">
        <p15:threadingInfo xmlns:p15="http://schemas.microsoft.com/office/powerpoint/2012/main" timeZoneBias="420"/>
      </p:ext>
    </p:extLst>
  </p:cm>
  <p:cm authorId="0" dt="2026-05-12T20:18:12.677" idx="277">
    <p:pos x="7530" y="6454"/>
    <p:text>gated by GSM Ok2Engage</p:text>
    <p:extLst>
      <p:ext uri="{C676402C-5697-4E1C-873F-D02D1690AC5C}">
        <p15:threadingInfo xmlns:p15="http://schemas.microsoft.com/office/powerpoint/2012/main" timeZoneBias="420"/>
      </p:ext>
    </p:extLst>
  </p:cm>
  <p:cm authorId="0" dt="2026-05-12T20:02:15.231" idx="278">
    <p:pos x="8071" y="6454"/>
    <p:text>No recent performance in TTM</p:text>
    <p:extLst>
      <p:ext uri="{C676402C-5697-4E1C-873F-D02D1690AC5C}">
        <p15:threadingInfo xmlns:p15="http://schemas.microsoft.com/office/powerpoint/2012/main" timeZoneBias="420"/>
      </p:ext>
    </p:extLst>
  </p:cm>
  <p:cm authorId="0" dt="2026-05-12T20:02:15.231" idx="279">
    <p:pos x="8612" y="6454"/>
    <p:text>No recent performance in TTM</p:text>
    <p:extLst>
      <p:ext uri="{C676402C-5697-4E1C-873F-D02D1690AC5C}">
        <p15:threadingInfo xmlns:p15="http://schemas.microsoft.com/office/powerpoint/2012/main" timeZoneBias="420"/>
      </p:ext>
    </p:extLst>
  </p:cm>
  <p:cm authorId="0" dt="2026-05-12T20:02:15.231" idx="280">
    <p:pos x="9153" y="6454"/>
    <p:text>No recent performance in TTM</p:text>
    <p:extLst>
      <p:ext uri="{C676402C-5697-4E1C-873F-D02D1690AC5C}">
        <p15:threadingInfo xmlns:p15="http://schemas.microsoft.com/office/powerpoint/2012/main" timeZoneBias="420"/>
      </p:ext>
    </p:extLst>
  </p:cm>
  <p:cm authorId="0" dt="2026-05-12T20:18:12.677" idx="281">
    <p:pos x="9557" y="6454"/>
    <p:text>gated by GSM Ok2Engage</p:text>
    <p:extLst>
      <p:ext uri="{C676402C-5697-4E1C-873F-D02D1690AC5C}">
        <p15:threadingInfo xmlns:p15="http://schemas.microsoft.com/office/powerpoint/2012/main" timeZoneBias="420"/>
      </p:ext>
    </p:extLst>
  </p:cm>
  <p:cm authorId="0" dt="2026-05-12T20:18:12.677" idx="282">
    <p:pos x="9970" y="6454"/>
    <p:text>gated by GSM Ok2Engage</p:text>
    <p:extLst>
      <p:ext uri="{C676402C-5697-4E1C-873F-D02D1690AC5C}">
        <p15:threadingInfo xmlns:p15="http://schemas.microsoft.com/office/powerpoint/2012/main" timeZoneBias="420"/>
      </p:ext>
    </p:extLst>
  </p:cm>
  <p:cm authorId="0" dt="2026-05-12T20:18:12.677" idx="283">
    <p:pos x="10405" y="6454"/>
    <p:text>gated by GSM Ok2Engage</p:text>
    <p:extLst>
      <p:ext uri="{C676402C-5697-4E1C-873F-D02D1690AC5C}">
        <p15:threadingInfo xmlns:p15="http://schemas.microsoft.com/office/powerpoint/2012/main" timeZoneBias="420"/>
      </p:ext>
    </p:extLst>
  </p:cm>
  <p:cm authorId="0" dt="2026-05-12T20:18:12.677" idx="284">
    <p:pos x="1198" y="6640"/>
    <p:text>pending GSM feedback</p:text>
    <p:extLst>
      <p:ext uri="{C676402C-5697-4E1C-873F-D02D1690AC5C}">
        <p15:threadingInfo xmlns:p15="http://schemas.microsoft.com/office/powerpoint/2012/main" timeZoneBias="420"/>
      </p:ext>
    </p:extLst>
  </p:cm>
  <p:cm authorId="1" dt="2026-05-19T11:19:07.729" idx="19">
    <p:pos x="1278" y="6560"/>
    <p:text>Refuse to sign EDPA- not likely to be engaged moving forward</p:text>
    <p:extLst>
      <p:ext uri="{C676402C-5697-4E1C-873F-D02D1690AC5C}">
        <p15:threadingInfo xmlns:p15="http://schemas.microsoft.com/office/powerpoint/2012/main" timeZoneBias="420">
          <p15:parentCm authorId="0" idx="284"/>
        </p15:threadingInfo>
      </p:ext>
    </p:extLst>
  </p:cm>
  <p:cm authorId="0" dt="2026-05-12T20:18:12.677" idx="285">
    <p:pos x="1681" y="6640"/>
    <p:text>pending GSM feedback</p:text>
    <p:extLst>
      <p:ext uri="{C676402C-5697-4E1C-873F-D02D1690AC5C}">
        <p15:threadingInfo xmlns:p15="http://schemas.microsoft.com/office/powerpoint/2012/main" timeZoneBias="420"/>
      </p:ext>
    </p:extLst>
  </p:cm>
  <p:cm authorId="0" dt="2026-05-12T20:18:12.677" idx="286">
    <p:pos x="4094" y="6640"/>
    <p:text>gated by GSM Ok2Engage</p:text>
    <p:extLst>
      <p:ext uri="{C676402C-5697-4E1C-873F-D02D1690AC5C}">
        <p15:threadingInfo xmlns:p15="http://schemas.microsoft.com/office/powerpoint/2012/main" timeZoneBias="420"/>
      </p:ext>
    </p:extLst>
  </p:cm>
  <p:cm authorId="0" dt="2026-05-12T20:18:12.677" idx="287">
    <p:pos x="5554" y="6640"/>
    <p:text>gated by GSM Ok2Engage</p:text>
    <p:extLst>
      <p:ext uri="{C676402C-5697-4E1C-873F-D02D1690AC5C}">
        <p15:threadingInfo xmlns:p15="http://schemas.microsoft.com/office/powerpoint/2012/main" timeZoneBias="420"/>
      </p:ext>
    </p:extLst>
  </p:cm>
  <p:cm authorId="0" dt="2026-05-12T20:18:12.677" idx="288">
    <p:pos x="5972" y="6640"/>
    <p:text>gated by GSM Ok2Engage</p:text>
    <p:extLst>
      <p:ext uri="{C676402C-5697-4E1C-873F-D02D1690AC5C}">
        <p15:threadingInfo xmlns:p15="http://schemas.microsoft.com/office/powerpoint/2012/main" timeZoneBias="420"/>
      </p:ext>
    </p:extLst>
  </p:cm>
  <p:cm authorId="0" dt="2026-05-12T20:18:12.677" idx="289">
    <p:pos x="6506" y="6640"/>
    <p:text>gated by GSM Ok2Engage</p:text>
    <p:extLst>
      <p:ext uri="{C676402C-5697-4E1C-873F-D02D1690AC5C}">
        <p15:threadingInfo xmlns:p15="http://schemas.microsoft.com/office/powerpoint/2012/main" timeZoneBias="420"/>
      </p:ext>
    </p:extLst>
  </p:cm>
  <p:cm authorId="0" dt="2026-05-12T20:18:12.677" idx="290">
    <p:pos x="6989" y="6640"/>
    <p:text>gated by GSM Ok2Engage</p:text>
    <p:extLst>
      <p:ext uri="{C676402C-5697-4E1C-873F-D02D1690AC5C}">
        <p15:threadingInfo xmlns:p15="http://schemas.microsoft.com/office/powerpoint/2012/main" timeZoneBias="420"/>
      </p:ext>
    </p:extLst>
  </p:cm>
  <p:cm authorId="0" dt="2026-05-12T20:18:12.677" idx="291">
    <p:pos x="7530" y="6640"/>
    <p:text>gated by GSM Ok2Engage</p:text>
    <p:extLst>
      <p:ext uri="{C676402C-5697-4E1C-873F-D02D1690AC5C}">
        <p15:threadingInfo xmlns:p15="http://schemas.microsoft.com/office/powerpoint/2012/main" timeZoneBias="420"/>
      </p:ext>
    </p:extLst>
  </p:cm>
  <p:cm authorId="0" dt="2026-05-12T20:02:15.231" idx="292">
    <p:pos x="8071" y="6640"/>
    <p:text>No recent performance in TTM</p:text>
    <p:extLst>
      <p:ext uri="{C676402C-5697-4E1C-873F-D02D1690AC5C}">
        <p15:threadingInfo xmlns:p15="http://schemas.microsoft.com/office/powerpoint/2012/main" timeZoneBias="420"/>
      </p:ext>
    </p:extLst>
  </p:cm>
  <p:cm authorId="0" dt="2026-05-12T20:02:15.231" idx="293">
    <p:pos x="8612" y="6640"/>
    <p:text>No recent performance in TTM</p:text>
    <p:extLst>
      <p:ext uri="{C676402C-5697-4E1C-873F-D02D1690AC5C}">
        <p15:threadingInfo xmlns:p15="http://schemas.microsoft.com/office/powerpoint/2012/main" timeZoneBias="420"/>
      </p:ext>
    </p:extLst>
  </p:cm>
  <p:cm authorId="0" dt="2026-05-12T20:02:15.231" idx="294">
    <p:pos x="9153" y="6640"/>
    <p:text>No recent performance in TTM</p:text>
    <p:extLst>
      <p:ext uri="{C676402C-5697-4E1C-873F-D02D1690AC5C}">
        <p15:threadingInfo xmlns:p15="http://schemas.microsoft.com/office/powerpoint/2012/main" timeZoneBias="420"/>
      </p:ext>
    </p:extLst>
  </p:cm>
  <p:cm authorId="0" dt="2026-05-12T20:18:12.677" idx="295">
    <p:pos x="9557" y="6640"/>
    <p:text>gated by GSM Ok2Engage</p:text>
    <p:extLst>
      <p:ext uri="{C676402C-5697-4E1C-873F-D02D1690AC5C}">
        <p15:threadingInfo xmlns:p15="http://schemas.microsoft.com/office/powerpoint/2012/main" timeZoneBias="420"/>
      </p:ext>
    </p:extLst>
  </p:cm>
  <p:cm authorId="0" dt="2026-05-12T20:18:12.677" idx="296">
    <p:pos x="9970" y="6640"/>
    <p:text>gated by GSM Ok2Engage</p:text>
    <p:extLst>
      <p:ext uri="{C676402C-5697-4E1C-873F-D02D1690AC5C}">
        <p15:threadingInfo xmlns:p15="http://schemas.microsoft.com/office/powerpoint/2012/main" timeZoneBias="420"/>
      </p:ext>
    </p:extLst>
  </p:cm>
  <p:cm authorId="0" dt="2026-05-12T20:18:12.677" idx="297">
    <p:pos x="10405" y="6640"/>
    <p:text>gated by GSM Ok2Engage</p:text>
    <p:extLst>
      <p:ext uri="{C676402C-5697-4E1C-873F-D02D1690AC5C}">
        <p15:threadingInfo xmlns:p15="http://schemas.microsoft.com/office/powerpoint/2012/main" timeZoneBias="420"/>
      </p:ext>
    </p:extLst>
  </p:cm>
  <p:cm authorId="1" dt="2026-05-19T11:44:09.068" idx="20">
    <p:pos x="1198" y="6835"/>
    <p:text>ARPA and EDPA still in negotiation</p:text>
    <p:extLst>
      <p:ext uri="{C676402C-5697-4E1C-873F-D02D1690AC5C}">
        <p15:threadingInfo xmlns:p15="http://schemas.microsoft.com/office/powerpoint/2012/main" timeZoneBias="420"/>
      </p:ext>
    </p:extLst>
  </p:cm>
  <p:cm authorId="0" dt="2026-05-12T20:18:12.677" idx="298">
    <p:pos x="1681" y="6835"/>
    <p:text>pending GSM feedback</p:text>
    <p:extLst>
      <p:ext uri="{C676402C-5697-4E1C-873F-D02D1690AC5C}">
        <p15:threadingInfo xmlns:p15="http://schemas.microsoft.com/office/powerpoint/2012/main" timeZoneBias="420"/>
      </p:ext>
    </p:extLst>
  </p:cm>
  <p:cm authorId="0" dt="2026-05-12T20:18:12.677" idx="299">
    <p:pos x="4094" y="6835"/>
    <p:text>gated by GSM Ok2Engage</p:text>
    <p:extLst>
      <p:ext uri="{C676402C-5697-4E1C-873F-D02D1690AC5C}">
        <p15:threadingInfo xmlns:p15="http://schemas.microsoft.com/office/powerpoint/2012/main" timeZoneBias="420"/>
      </p:ext>
    </p:extLst>
  </p:cm>
  <p:cm authorId="0" dt="2026-05-12T20:18:12.677" idx="300">
    <p:pos x="5554" y="6835"/>
    <p:text>gated by GSM Ok2Engage</p:text>
    <p:extLst>
      <p:ext uri="{C676402C-5697-4E1C-873F-D02D1690AC5C}">
        <p15:threadingInfo xmlns:p15="http://schemas.microsoft.com/office/powerpoint/2012/main" timeZoneBias="420"/>
      </p:ext>
    </p:extLst>
  </p:cm>
  <p:cm authorId="0" dt="2026-05-12T20:18:12.677" idx="301">
    <p:pos x="5972" y="6835"/>
    <p:text>gated by GSM Ok2Engage</p:text>
    <p:extLst>
      <p:ext uri="{C676402C-5697-4E1C-873F-D02D1690AC5C}">
        <p15:threadingInfo xmlns:p15="http://schemas.microsoft.com/office/powerpoint/2012/main" timeZoneBias="420"/>
      </p:ext>
    </p:extLst>
  </p:cm>
  <p:cm authorId="0" dt="2026-05-12T20:18:12.677" idx="302">
    <p:pos x="6506" y="6835"/>
    <p:text>gated by GSM Ok2Engage</p:text>
    <p:extLst>
      <p:ext uri="{C676402C-5697-4E1C-873F-D02D1690AC5C}">
        <p15:threadingInfo xmlns:p15="http://schemas.microsoft.com/office/powerpoint/2012/main" timeZoneBias="420"/>
      </p:ext>
    </p:extLst>
  </p:cm>
  <p:cm authorId="0" dt="2026-05-12T20:18:12.677" idx="303">
    <p:pos x="6989" y="6835"/>
    <p:text>gated by GSM Ok2Engage</p:text>
    <p:extLst>
      <p:ext uri="{C676402C-5697-4E1C-873F-D02D1690AC5C}">
        <p15:threadingInfo xmlns:p15="http://schemas.microsoft.com/office/powerpoint/2012/main" timeZoneBias="420"/>
      </p:ext>
    </p:extLst>
  </p:cm>
  <p:cm authorId="0" dt="2026-05-12T20:18:12.677" idx="304">
    <p:pos x="7530" y="6835"/>
    <p:text>gated by GSM Ok2Engage</p:text>
    <p:extLst>
      <p:ext uri="{C676402C-5697-4E1C-873F-D02D1690AC5C}">
        <p15:threadingInfo xmlns:p15="http://schemas.microsoft.com/office/powerpoint/2012/main" timeZoneBias="420"/>
      </p:ext>
    </p:extLst>
  </p:cm>
  <p:cm authorId="0" dt="2026-05-12T20:02:15.231" idx="305">
    <p:pos x="8071" y="6835"/>
    <p:text>No recent performance in TTM</p:text>
    <p:extLst>
      <p:ext uri="{C676402C-5697-4E1C-873F-D02D1690AC5C}">
        <p15:threadingInfo xmlns:p15="http://schemas.microsoft.com/office/powerpoint/2012/main" timeZoneBias="420"/>
      </p:ext>
    </p:extLst>
  </p:cm>
  <p:cm authorId="0" dt="2026-05-12T20:02:15.231" idx="306">
    <p:pos x="8612" y="6835"/>
    <p:text>No recent performance in TTM</p:text>
    <p:extLst>
      <p:ext uri="{C676402C-5697-4E1C-873F-D02D1690AC5C}">
        <p15:threadingInfo xmlns:p15="http://schemas.microsoft.com/office/powerpoint/2012/main" timeZoneBias="420"/>
      </p:ext>
    </p:extLst>
  </p:cm>
  <p:cm authorId="0" dt="2026-05-12T20:02:15.231" idx="307">
    <p:pos x="9153" y="6835"/>
    <p:text>No recent performance in TTM</p:text>
    <p:extLst>
      <p:ext uri="{C676402C-5697-4E1C-873F-D02D1690AC5C}">
        <p15:threadingInfo xmlns:p15="http://schemas.microsoft.com/office/powerpoint/2012/main" timeZoneBias="420"/>
      </p:ext>
    </p:extLst>
  </p:cm>
  <p:cm authorId="0" dt="2026-05-12T20:18:12.677" idx="308">
    <p:pos x="9557" y="6835"/>
    <p:text>gated by GSM Ok2Engage</p:text>
    <p:extLst>
      <p:ext uri="{C676402C-5697-4E1C-873F-D02D1690AC5C}">
        <p15:threadingInfo xmlns:p15="http://schemas.microsoft.com/office/powerpoint/2012/main" timeZoneBias="420"/>
      </p:ext>
    </p:extLst>
  </p:cm>
  <p:cm authorId="0" dt="2026-05-12T20:18:12.677" idx="309">
    <p:pos x="9970" y="6835"/>
    <p:text>gated by GSM Ok2Engage</p:text>
    <p:extLst>
      <p:ext uri="{C676402C-5697-4E1C-873F-D02D1690AC5C}">
        <p15:threadingInfo xmlns:p15="http://schemas.microsoft.com/office/powerpoint/2012/main" timeZoneBias="420"/>
      </p:ext>
    </p:extLst>
  </p:cm>
  <p:cm authorId="0" dt="2026-05-12T20:18:12.677" idx="310">
    <p:pos x="10405" y="6835"/>
    <p:text>gated by GSM Ok2Engage</p:text>
    <p:extLst>
      <p:ext uri="{C676402C-5697-4E1C-873F-D02D1690AC5C}">
        <p15:threadingInfo xmlns:p15="http://schemas.microsoft.com/office/powerpoint/2012/main" timeZoneBias="420"/>
      </p:ext>
    </p:extLst>
  </p:cm>
</p:cmLst>
</file>

<file path=ppt/comments/comment3.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6-05-20T00:01:28.656" idx="311">
    <p:pos x="2163" y="2425"/>
    <p:text>1.0 = Proven / operational today
0.75 = Operational but immature or limited scale
0.5 = Capability exists but not demonstrated for HWTE scope
0.25 = Theoretical capability only (i.e. Amp Thai)
TBD = Insufficient validation / roadmap only (I.e.maybe VVDN 🤷‍♂️ )
0 = Does not meet requirement</p:text>
    <p:extLst>
      <p:ext uri="{C676402C-5697-4E1C-873F-D02D1690AC5C}">
        <p15:threadingInfo xmlns:p15="http://schemas.microsoft.com/office/powerpoint/2012/main" timeZoneBias="420"/>
      </p:ext>
    </p:extLst>
  </p:cm>
  <p:cm authorId="0" dt="2026-05-19T19:52:35.442" idx="312">
    <p:pos x="1681" y="3375"/>
    <p:text>Have had assurances from Apple leadership that Amphenol is committed to working on TE stations. However, we’ve seen several verbal commits throughout the last twelve months that Amphenol subsequently backed out of. K12p will be last opportunity to have them bid on projects.</p:text>
    <p:extLst>
      <p:ext uri="{C676402C-5697-4E1C-873F-D02D1690AC5C}">
        <p15:threadingInfo xmlns:p15="http://schemas.microsoft.com/office/powerpoint/2012/main" timeZoneBias="420"/>
      </p:ext>
    </p:extLst>
  </p:cm>
  <p:cm authorId="0" dt="2026-05-12T15:35:54.130" idx="313">
    <p:pos x="4094" y="3375"/>
    <p:text>Strong Apple manufacturing/integration experience with expanding automation capability. Global facilities need follow up but can support from CN for this project. Need conveyor experience.</p:text>
    <p:extLst>
      <p:ext uri="{C676402C-5697-4E1C-873F-D02D1690AC5C}">
        <p15:threadingInfo xmlns:p15="http://schemas.microsoft.com/office/powerpoint/2012/main" timeZoneBias="420"/>
      </p:ext>
    </p:extLst>
  </p:cm>
  <p:cm authorId="0" dt="2026-05-12T15:35:54.130" idx="314">
    <p:pos x="4576" y="3375"/>
    <p:text>Support retrofits only for Ironman stations on V6y programs. </p:text>
    <p:extLst>
      <p:ext uri="{C676402C-5697-4E1C-873F-D02D1690AC5C}">
        <p15:threadingInfo xmlns:p15="http://schemas.microsoft.com/office/powerpoint/2012/main" timeZoneBias="420"/>
      </p:ext>
    </p:extLst>
  </p:cm>
  <p:cm authorId="0" dt="2026-05-20T00:05:26.554" idx="315">
    <p:pos x="5059" y="3375"/>
    <p:text>Thailand site unvetted, pending SQE audit</p:text>
    <p:extLst>
      <p:ext uri="{C676402C-5697-4E1C-873F-D02D1690AC5C}">
        <p15:threadingInfo xmlns:p15="http://schemas.microsoft.com/office/powerpoint/2012/main" timeZoneBias="420"/>
      </p:ext>
    </p:extLst>
  </p:cm>
  <p:cm authorId="0" dt="2026-05-12T15:36:06.879" idx="316">
    <p:pos x="5554" y="3375"/>
    <p:text>Significant apple experience but needs a conveyor/automation project to stress-test capability</p:text>
    <p:extLst>
      <p:ext uri="{C676402C-5697-4E1C-873F-D02D1690AC5C}">
        <p15:threadingInfo xmlns:p15="http://schemas.microsoft.com/office/powerpoint/2012/main" timeZoneBias="420"/>
      </p:ext>
    </p:extLst>
  </p:cm>
  <p:cm authorId="0" dt="2026-05-19T19:52:35.442" idx="317">
    <p:pos x="9970" y="3375"/>
    <p:text>Have had assurances from Apple leadership that Amphenol is committed to working on TE stations. However, we’ve seen several verbal commits throughout the last twelve months that Amphenol subsequently backed out of. K12p will be last opportunity to have them bid on projects.</p:text>
    <p:extLst>
      <p:ext uri="{C676402C-5697-4E1C-873F-D02D1690AC5C}">
        <p15:threadingInfo xmlns:p15="http://schemas.microsoft.com/office/powerpoint/2012/main" timeZoneBias="420"/>
      </p:ext>
    </p:extLst>
  </p:cm>
  <p:cm authorId="0" dt="2026-05-12T15:47:20.969" idx="318">
    <p:pos x="1681" y="3563"/>
    <p:text>Cannot meet MP pricing targets</p:text>
    <p:extLst>
      <p:ext uri="{C676402C-5697-4E1C-873F-D02D1690AC5C}">
        <p15:threadingInfo xmlns:p15="http://schemas.microsoft.com/office/powerpoint/2012/main" timeZoneBias="420"/>
      </p:ext>
    </p:extLst>
  </p:cm>
  <p:cm authorId="0" dt="2026-05-12T15:38:38.148" idx="319">
    <p:pos x="4094" y="3563"/>
    <p:text>Elite technical capability for advanced metrology/test/cal systems.</p:text>
    <p:extLst>
      <p:ext uri="{C676402C-5697-4E1C-873F-D02D1690AC5C}">
        <p15:threadingInfo xmlns:p15="http://schemas.microsoft.com/office/powerpoint/2012/main" timeZoneBias="420"/>
      </p:ext>
    </p:extLst>
  </p:cm>
  <p:cm authorId="0" dt="2026-05-12T15:38:38.148" idx="320">
    <p:pos x="4576" y="3563"/>
    <p:text>Elite technical capability for advanced metrology/test/cal systems.</p:text>
    <p:extLst>
      <p:ext uri="{C676402C-5697-4E1C-873F-D02D1690AC5C}">
        <p15:threadingInfo xmlns:p15="http://schemas.microsoft.com/office/powerpoint/2012/main" timeZoneBias="420"/>
      </p:ext>
    </p:extLst>
  </p:cm>
  <p:cm authorId="0" dt="2026-05-12T15:38:38.148" idx="321">
    <p:pos x="5059" y="3563"/>
    <p:text>Elite technical capability for advanced metrology/test/cal systems.</p:text>
    <p:extLst>
      <p:ext uri="{C676402C-5697-4E1C-873F-D02D1690AC5C}">
        <p15:threadingInfo xmlns:p15="http://schemas.microsoft.com/office/powerpoint/2012/main" timeZoneBias="420"/>
      </p:ext>
    </p:extLst>
  </p:cm>
  <p:cm authorId="0" dt="2026-05-12T19:51:01.997" idx="322">
    <p:pos x="7530" y="3563"/>
    <p:text>Missed EIH on some stations during early engagements (need list from teams).</p:text>
    <p:extLst>
      <p:ext uri="{C676402C-5697-4E1C-873F-D02D1690AC5C}">
        <p15:threadingInfo xmlns:p15="http://schemas.microsoft.com/office/powerpoint/2012/main" timeZoneBias="420"/>
      </p:ext>
    </p:extLst>
  </p:cm>
  <p:cm authorId="0" dt="2026-05-14T02:05:54.779" idx="323">
    <p:pos x="716" y="3759"/>
    <p:text>Overcharge for OSS (J312 Wavesight), Slow comms (have to go back to Italy for everything)</p:text>
    <p:extLst>
      <p:ext uri="{C676402C-5697-4E1C-873F-D02D1690AC5C}">
        <p15:threadingInfo xmlns:p15="http://schemas.microsoft.com/office/powerpoint/2012/main" timeZoneBias="420"/>
      </p:ext>
    </p:extLst>
  </p:cm>
  <p:cm authorId="0" dt="2026-05-12T20:00:58.422" idx="324">
    <p:pos x="1681" y="3759"/>
    <p:text>Need GSMs to confirm pricing targets can be met, but historically have supplied stations so in theory should be ok.</p:text>
    <p:extLst>
      <p:ext uri="{C676402C-5697-4E1C-873F-D02D1690AC5C}">
        <p15:threadingInfo xmlns:p15="http://schemas.microsoft.com/office/powerpoint/2012/main" timeZoneBias="420"/>
      </p:ext>
    </p:extLst>
  </p:cm>
  <p:cm authorId="0" dt="2026-05-12T15:42:08.349" idx="325">
    <p:pos x="4094" y="3759"/>
    <p:text>Proven Apple SI with strong electronics and test-domain expertise</p:text>
    <p:extLst>
      <p:ext uri="{C676402C-5697-4E1C-873F-D02D1690AC5C}">
        <p15:threadingInfo xmlns:p15="http://schemas.microsoft.com/office/powerpoint/2012/main" timeZoneBias="420"/>
      </p:ext>
    </p:extLst>
  </p:cm>
  <p:cm authorId="0" dt="2026-05-20T00:34:38.714" idx="326">
    <p:pos x="4576" y="3759"/>
    <p:text>Would support IN from their IT and TH facility. unclear how their OSS speed and retrofit capability would work, Bob to further vet.</p:text>
    <p:extLst>
      <p:ext uri="{C676402C-5697-4E1C-873F-D02D1690AC5C}">
        <p15:threadingInfo xmlns:p15="http://schemas.microsoft.com/office/powerpoint/2012/main" timeZoneBias="420"/>
      </p:ext>
    </p:extLst>
  </p:cm>
  <p:cm authorId="0" dt="2026-05-20T00:34:38.714" idx="327">
    <p:pos x="5059" y="3759"/>
    <p:text>Would support IN from their IT and TH facility. unclear how their OSS speed and retrofit capability would work, Bob to further vet.</p:text>
    <p:extLst>
      <p:ext uri="{C676402C-5697-4E1C-873F-D02D1690AC5C}">
        <p15:threadingInfo xmlns:p15="http://schemas.microsoft.com/office/powerpoint/2012/main" timeZoneBias="420"/>
      </p:ext>
    </p:extLst>
  </p:cm>
  <p:cm authorId="0" dt="2026-05-12T20:01:24.734" idx="328">
    <p:pos x="5554" y="3759"/>
    <p:text>Experienced with complex automation but haven’t completed a conveyor qual. would be a good candidate station for SPEA to learn and scale on.</p:text>
    <p:extLst>
      <p:ext uri="{C676402C-5697-4E1C-873F-D02D1690AC5C}">
        <p15:threadingInfo xmlns:p15="http://schemas.microsoft.com/office/powerpoint/2012/main" timeZoneBias="420"/>
      </p:ext>
    </p:extLst>
  </p:cm>
  <p:cm authorId="0" dt="2026-05-20T00:36:27.033" idx="329">
    <p:pos x="9153" y="3759"/>
    <p:text>Performance issues highlighted around speed of feedback. major concern is on scalability/ability to support large quantifies of projects in and outside of CN.</p:text>
    <p:extLst>
      <p:ext uri="{C676402C-5697-4E1C-873F-D02D1690AC5C}">
        <p15:threadingInfo xmlns:p15="http://schemas.microsoft.com/office/powerpoint/2012/main" timeZoneBias="420"/>
      </p:ext>
    </p:extLst>
  </p:cm>
  <p:cm authorId="0" dt="2026-05-29T02:22:50.166" idx="330">
    <p:pos x="9233" y="3679"/>
    <p:text>From Leon: I remember their support is very slow on portable project before and the OSS is not from their company(should from 3rd part if I remember correctly). </p:text>
    <p:extLst>
      <p:ext uri="{C676402C-5697-4E1C-873F-D02D1690AC5C}">
        <p15:threadingInfo xmlns:p15="http://schemas.microsoft.com/office/powerpoint/2012/main" timeZoneBias="420">
          <p15:parentCm authorId="0" idx="329"/>
        </p15:threadingInfo>
      </p:ext>
    </p:extLst>
  </p:cm>
  <p:cm authorId="0" dt="2026-05-20T00:53:06.290" idx="331">
    <p:pos x="10405" y="3759"/>
    <p:text>Need to confirm scalability/ability to support ramp.</p:text>
    <p:extLst>
      <p:ext uri="{C676402C-5697-4E1C-873F-D02D1690AC5C}">
        <p15:threadingInfo xmlns:p15="http://schemas.microsoft.com/office/powerpoint/2012/main" timeZoneBias="420"/>
      </p:ext>
    </p:extLst>
  </p:cm>
  <p:cm authorId="0" dt="2026-05-12T15:33:06.628" idx="332">
    <p:pos x="4094" y="3954"/>
    <p:text>From Bob: Strong India infrastructure, machining capability, and growing technical alignment to HWTE needs</p:text>
    <p:extLst>
      <p:ext uri="{C676402C-5697-4E1C-873F-D02D1690AC5C}">
        <p15:threadingInfo xmlns:p15="http://schemas.microsoft.com/office/powerpoint/2012/main" timeZoneBias="420"/>
      </p:ext>
    </p:extLst>
  </p:cm>
  <p:cm authorId="0" dt="2026-05-20T00:05:26.554" idx="333">
    <p:pos x="4576" y="3954"/>
    <p:text>IN Facility built (has it been approved yet, Bob?). ready to take on new projects/orders.</p:text>
    <p:extLst>
      <p:ext uri="{C676402C-5697-4E1C-873F-D02D1690AC5C}">
        <p15:threadingInfo xmlns:p15="http://schemas.microsoft.com/office/powerpoint/2012/main" timeZoneBias="420"/>
      </p:ext>
    </p:extLst>
  </p:cm>
  <p:cm authorId="0" dt="2026-05-12T15:33:06.628" idx="334">
    <p:pos x="5059" y="3954"/>
    <p:text>Can support from KR site and deploy OSS to VN.</p:text>
    <p:extLst>
      <p:ext uri="{C676402C-5697-4E1C-873F-D02D1690AC5C}">
        <p15:threadingInfo xmlns:p15="http://schemas.microsoft.com/office/powerpoint/2012/main" timeZoneBias="420"/>
      </p:ext>
    </p:extLst>
  </p:cm>
  <p:cm authorId="0" dt="2026-05-22T02:17:27.328" idx="335">
    <p:pos x="5554" y="3954"/>
    <p:text>Qualifying on B798 for NPI support. no bandwidth to work on these projects.</p:text>
    <p:extLst>
      <p:ext uri="{C676402C-5697-4E1C-873F-D02D1690AC5C}">
        <p15:threadingInfo xmlns:p15="http://schemas.microsoft.com/office/powerpoint/2012/main" timeZoneBias="420"/>
      </p:ext>
    </p:extLst>
  </p:cm>
  <p:cm authorId="1" dt="2026-05-19T11:21:27.636" idx="21">
    <p:pos x="5972" y="3954"/>
    <p:text>Focus needs to be on B798; capacity is available but should not be spread thin</p:text>
    <p:extLst>
      <p:ext uri="{C676402C-5697-4E1C-873F-D02D1690AC5C}">
        <p15:threadingInfo xmlns:p15="http://schemas.microsoft.com/office/powerpoint/2012/main" timeZoneBias="420"/>
      </p:ext>
    </p:extLst>
  </p:cm>
  <p:cm authorId="0" dt="2026-05-12T19:43:09.708" idx="336">
    <p:pos x="6506" y="3954"/>
    <p:text>Fully booked on B798 readiness. Need to confirm if they have additional resources to support.</p:text>
    <p:extLst>
      <p:ext uri="{C676402C-5697-4E1C-873F-D02D1690AC5C}">
        <p15:threadingInfo xmlns:p15="http://schemas.microsoft.com/office/powerpoint/2012/main" timeZoneBias="420"/>
      </p:ext>
    </p:extLst>
  </p:cm>
  <p:cm authorId="0" dt="2026-05-12T19:46:24.566" idx="337">
    <p:pos x="7530" y="3954"/>
    <p:text>Delivery of V68 stations was delayed, but partially contributed by Apple team not setting up for success given compressed schedule.</p:text>
    <p:extLst>
      <p:ext uri="{C676402C-5697-4E1C-873F-D02D1690AC5C}">
        <p15:threadingInfo xmlns:p15="http://schemas.microsoft.com/office/powerpoint/2012/main" timeZoneBias="420"/>
      </p:ext>
    </p:extLst>
  </p:cm>
  <p:cm authorId="0" dt="2026-05-15T07:07:36.404" idx="338">
    <p:pos x="8612" y="3954"/>
    <p:text>Need to confirm for V68</p:text>
    <p:extLst>
      <p:ext uri="{C676402C-5697-4E1C-873F-D02D1690AC5C}">
        <p15:threadingInfo xmlns:p15="http://schemas.microsoft.com/office/powerpoint/2012/main" timeZoneBias="420"/>
      </p:ext>
    </p:extLst>
  </p:cm>
  <p:cm authorId="0" dt="2026-05-20T19:20:30.660" idx="339">
    <p:pos x="9153" y="3954"/>
    <p:text>Bumpy experience on V68 shadow sets but many of those issues related to issues on our end.</p:text>
    <p:extLst>
      <p:ext uri="{C676402C-5697-4E1C-873F-D02D1690AC5C}">
        <p15:threadingInfo xmlns:p15="http://schemas.microsoft.com/office/powerpoint/2012/main" timeZoneBias="420"/>
      </p:ext>
    </p:extLst>
  </p:cm>
  <p:cm authorId="0" dt="2026-05-20T00:05:26.554" idx="340">
    <p:pos x="5059" y="4142"/>
    <p:text>VN site can support retrofits for MP.</p:text>
    <p:extLst>
      <p:ext uri="{C676402C-5697-4E1C-873F-D02D1690AC5C}">
        <p15:threadingInfo xmlns:p15="http://schemas.microsoft.com/office/powerpoint/2012/main" timeZoneBias="420"/>
      </p:ext>
    </p:extLst>
  </p:cm>
  <p:cm authorId="0" dt="2026-05-12T19:34:34.942" idx="341">
    <p:pos x="5972" y="4142"/>
    <p:text>Can be available if this is a priority project, but want to save for other projects if possible.</p:text>
    <p:extLst>
      <p:ext uri="{C676402C-5697-4E1C-873F-D02D1690AC5C}">
        <p15:threadingInfo xmlns:p15="http://schemas.microsoft.com/office/powerpoint/2012/main" timeZoneBias="420"/>
      </p:ext>
    </p:extLst>
  </p:cm>
  <p:cm authorId="0" dt="2026-05-12T19:36:08.136" idx="342">
    <p:pos x="6506" y="4142"/>
    <p:text>Significant performance issues in TTM (N50 Vader, Grape/Touch, delays on B798 conveyor design) point to limited availability</p:text>
    <p:extLst>
      <p:ext uri="{C676402C-5697-4E1C-873F-D02D1690AC5C}">
        <p15:threadingInfo xmlns:p15="http://schemas.microsoft.com/office/powerpoint/2012/main" timeZoneBias="420"/>
      </p:ext>
    </p:extLst>
  </p:cm>
  <p:cm authorId="0" dt="2026-05-13T22:20:01.677" idx="343">
    <p:pos x="6989" y="4142"/>
    <p:text>https://jira.apple.com/browse/HWECMP-6433 was a potential build blocker, massive efficiency hit to the team.</p:text>
    <p:extLst>
      <p:ext uri="{C676402C-5697-4E1C-873F-D02D1690AC5C}">
        <p15:threadingInfo xmlns:p15="http://schemas.microsoft.com/office/powerpoint/2012/main" timeZoneBias="420"/>
      </p:ext>
    </p:extLst>
  </p:cm>
  <p:cm authorId="0" dt="2026-05-12T19:50:23.571" idx="344">
    <p:pos x="7530" y="4142"/>
    <p:text>Significant performance issues in TTM (N50 Vader, Grape/Touch, delays on B798 conveyor design).</p:text>
    <p:extLst>
      <p:ext uri="{C676402C-5697-4E1C-873F-D02D1690AC5C}">
        <p15:threadingInfo xmlns:p15="http://schemas.microsoft.com/office/powerpoint/2012/main" timeZoneBias="420"/>
      </p:ext>
    </p:extLst>
  </p:cm>
  <p:cm authorId="0" dt="2026-05-15T07:07:07.716" idx="345">
    <p:pos x="8071" y="4142"/>
    <p:text>Missed design lock for B798 project will cause it to miss EIH target.</p:text>
    <p:extLst>
      <p:ext uri="{C676402C-5697-4E1C-873F-D02D1690AC5C}">
        <p15:threadingInfo xmlns:p15="http://schemas.microsoft.com/office/powerpoint/2012/main" timeZoneBias="420"/>
      </p:ext>
    </p:extLst>
  </p:cm>
  <p:cm authorId="0" dt="2026-05-15T07:07:07.716" idx="346">
    <p:pos x="8612" y="4142"/>
    <p:text>Missed design lock for B798 project.</p:text>
    <p:extLst>
      <p:ext uri="{C676402C-5697-4E1C-873F-D02D1690AC5C}">
        <p15:threadingInfo xmlns:p15="http://schemas.microsoft.com/office/powerpoint/2012/main" timeZoneBias="420"/>
      </p:ext>
    </p:extLst>
  </p:cm>
  <p:cm authorId="0" dt="2026-05-15T07:12:55.246" idx="347">
    <p:pos x="9153" y="4142"/>
    <p:text>JLK (HWECMP-6528) - FY26 Q3 (Apr-Jun) Infrequent communication between JLK-IN and JLK-CN led to divergent design conclusions. Deliverable requests were funneled to Apple near the design lock phase instead of early in the design phase.
Quote: "...funneling deliver requests near design lock instead of early design phase" (Summary)</p:text>
    <p:extLst>
      <p:ext uri="{C676402C-5697-4E1C-873F-D02D1690AC5C}">
        <p15:threadingInfo xmlns:p15="http://schemas.microsoft.com/office/powerpoint/2012/main" timeZoneBias="420"/>
      </p:ext>
    </p:extLst>
  </p:cm>
  <p:cm authorId="0" dt="2026-05-12T20:00:58.422" idx="348">
    <p:pos x="1681" y="4330"/>
    <p:text>PRM inflating prices in advance of their IPO and causing commercial issues. proceed with caution.</p:text>
    <p:extLst>
      <p:ext uri="{C676402C-5697-4E1C-873F-D02D1690AC5C}">
        <p15:threadingInfo xmlns:p15="http://schemas.microsoft.com/office/powerpoint/2012/main" timeZoneBias="420"/>
      </p:ext>
    </p:extLst>
  </p:cm>
  <p:cm authorId="0" dt="2026-05-12T15:35:54.130" idx="349">
    <p:pos x="5059" y="4330"/>
    <p:text>Support retrofits for MP programs</p:text>
    <p:extLst>
      <p:ext uri="{C676402C-5697-4E1C-873F-D02D1690AC5C}">
        <p15:threadingInfo xmlns:p15="http://schemas.microsoft.com/office/powerpoint/2012/main" timeZoneBias="420"/>
      </p:ext>
    </p:extLst>
  </p:cm>
  <p:cm authorId="0" dt="2026-06-04T18:16:31.651" idx="350">
    <p:pos x="6989" y="4330"/>
    <p:text>Would have blocked V68 EVT main due to performance issues on CCB block for Grape station.
Able to deliver Helios in several weeks with tons of design changes. invaluable partner to get things done quickly and a much bigger value to NPI.</p:text>
    <p:extLst>
      <p:ext uri="{C676402C-5697-4E1C-873F-D02D1690AC5C}">
        <p15:threadingInfo xmlns:p15="http://schemas.microsoft.com/office/powerpoint/2012/main" timeZoneBias="420"/>
      </p:ext>
    </p:extLst>
  </p:cm>
  <p:cm authorId="0" dt="2026-05-20T00:17:50.013" idx="351">
    <p:pos x="9153" y="4330"/>
    <p:text>From Capex SQE Alan:
- Critical specs are not required in quality check or not reasonable, eg belt roller height inspection position not defined, belt tension inspection point not defined, belt driver shaft runout speed not defined, no specific position defined for sensors position check in IPQC etc;
- GB name and version are not marked on GB, and assembly SOP/IPQC didn’t mention which GB is needed for specific steps;
- QA didn’t use latest measurement tool GO/No GO GB for conveyor width check;
- Grape grounding cable routing and screw fix method is not well defined and no IPQC re-do process after onsite retrofit during SQE onsite audit at CM.
- CM escalation on no dedicate onsite PM during LXKU LBU.
- unproven for ramp, need to monitor closely</p:text>
    <p:extLst>
      <p:ext uri="{C676402C-5697-4E1C-873F-D02D1690AC5C}">
        <p15:threadingInfo xmlns:p15="http://schemas.microsoft.com/office/powerpoint/2012/main" timeZoneBias="420"/>
      </p:ext>
    </p:extLst>
  </p:cm>
  <p:cm authorId="0" dt="2026-05-28T00:15:32.682" idx="352">
    <p:pos x="9233" y="4250"/>
    <p:text>From Rachel Shi: Aligned. In short, 1) their management level is short of ramp knowhow, cannot find the issues by themselves; 2) they have serious resource issue: many key roles like PM are new hiring or no rich Apple ramp experience; 3) technical PM is limited: the senior ones are strong, but only few are capable.</p:text>
    <p:extLst>
      <p:ext uri="{C676402C-5697-4E1C-873F-D02D1690AC5C}">
        <p15:threadingInfo xmlns:p15="http://schemas.microsoft.com/office/powerpoint/2012/main" timeZoneBias="420">
          <p15:parentCm authorId="0" idx="351"/>
        </p15:threadingInfo>
      </p:ext>
    </p:extLst>
  </p:cm>
  <p:cm authorId="0" dt="2026-06-04T18:15:21.821" idx="353">
    <p:pos x="9233" y="4250"/>
    <p:text>From Roy: https://jira.corp.apple.com/browse/HWECMP-6485
Bad support on CCD jig for Edge probe alignment. There is not SW support to this station, and the edge/feature capture is not accurate, which would have blocked EVT main build. iPD was able to implement a workaround to avoid blocking the build. Still waiting on corrective actions from PRM.</p:text>
    <p:extLst>
      <p:ext uri="{C676402C-5697-4E1C-873F-D02D1690AC5C}">
        <p15:threadingInfo xmlns:p15="http://schemas.microsoft.com/office/powerpoint/2012/main" timeZoneBias="420">
          <p15:parentCm authorId="0" idx="351"/>
        </p15:threadingInfo>
      </p:ext>
    </p:extLst>
  </p:cm>
  <p:cm authorId="0" dt="2026-05-12T15:35:54.130" idx="354">
    <p:pos x="5059" y="4516"/>
    <p:text>Support retrofits for MP programs</p:text>
    <p:extLst>
      <p:ext uri="{C676402C-5697-4E1C-873F-D02D1690AC5C}">
        <p15:threadingInfo xmlns:p15="http://schemas.microsoft.com/office/powerpoint/2012/main" timeZoneBias="420"/>
      </p:ext>
    </p:extLst>
  </p:cm>
  <p:cm authorId="0" dt="2026-05-13T22:24:26.244" idx="355">
    <p:pos x="7530" y="4516"/>
    <p:text>Cencorp failed to validate the PLC code with the Coreless script before shipping the fixture, despite repeated instructions to do so. This omission jeopardized the PLC code readiness detection. https://jira.apple.com/browse/HWECMP-6278. </p:text>
    <p:extLst>
      <p:ext uri="{C676402C-5697-4E1C-873F-D02D1690AC5C}">
        <p15:threadingInfo xmlns:p15="http://schemas.microsoft.com/office/powerpoint/2012/main" timeZoneBias="420"/>
      </p:ext>
    </p:extLst>
  </p:cm>
  <p:cm authorId="0" dt="2026-05-13T22:26:56.020" idx="356">
    <p:pos x="9153" y="4516"/>
    <p:text>Cencorp (HWECMP-6277) - FY25 Q4 (Jul-Sep) Cencorp's TPM failed to provide timely feedback on Beckhoff tuning and OQC status. This lack of communication put the fixture EIH and vendor site PLC validation plans at risk.</p:text>
    <p:extLst>
      <p:ext uri="{C676402C-5697-4E1C-873F-D02D1690AC5C}">
        <p15:threadingInfo xmlns:p15="http://schemas.microsoft.com/office/powerpoint/2012/main" timeZoneBias="420"/>
      </p:ext>
    </p:extLst>
  </p:cm>
  <p:cm authorId="0" dt="2026-05-12T15:35:54.130" idx="357">
    <p:pos x="5059" y="4703"/>
    <p:text>Support retrofits for MP programs</p:text>
    <p:extLst>
      <p:ext uri="{C676402C-5697-4E1C-873F-D02D1690AC5C}">
        <p15:threadingInfo xmlns:p15="http://schemas.microsoft.com/office/powerpoint/2012/main" timeZoneBias="420"/>
      </p:ext>
    </p:extLst>
  </p:cm>
  <p:cm authorId="0" dt="2026-05-12T19:43:09.708" idx="358">
    <p:pos x="6506" y="4703"/>
    <p:text>Performance issues pointing to significant capacity issues, suggest hold any engagements until performance improvement plan approved.</p:text>
    <p:extLst>
      <p:ext uri="{C676402C-5697-4E1C-873F-D02D1690AC5C}">
        <p15:threadingInfo xmlns:p15="http://schemas.microsoft.com/office/powerpoint/2012/main" timeZoneBias="420"/>
      </p:ext>
    </p:extLst>
  </p:cm>
  <p:cm authorId="0" dt="2026-05-20T19:00:31.666" idx="359">
    <p:pos x="6989" y="4703"/>
    <p:text>Falsified data. From Capex SQE Alan on 5/20/26: During SQE audit for phone program we found skip whole quality check for one tester, and input make data into quality check sheet, etc.</p:text>
    <p:extLst>
      <p:ext uri="{C676402C-5697-4E1C-873F-D02D1690AC5C}">
        <p15:threadingInfo xmlns:p15="http://schemas.microsoft.com/office/powerpoint/2012/main" timeZoneBias="420"/>
      </p:ext>
    </p:extLst>
  </p:cm>
  <p:cm authorId="0" dt="2026-05-12T19:53:30.889" idx="360">
    <p:pos x="7530" y="4703"/>
    <p:text>Multiple EIH and MBO bringup delays on V68, N50 programs resulting in delays.</p:text>
    <p:extLst>
      <p:ext uri="{C676402C-5697-4E1C-873F-D02D1690AC5C}">
        <p15:threadingInfo xmlns:p15="http://schemas.microsoft.com/office/powerpoint/2012/main" timeZoneBias="420"/>
      </p:ext>
    </p:extLst>
  </p:cm>
  <p:cm authorId="0" dt="2026-05-13T22:26:40.333" idx="361">
    <p:pos x="8071" y="4703"/>
    <p:text>Innorev (HWECMP-6404) - FY26 Q2 (Jan-Mar) Poor quality control on the Brontes Freja station (e.g., OGB bracket issues, wrong tray loading pins) slowed down fixture bring-up. These tray quality issues continuously delayed the EIH of OVB trays.
Quote: "...recently keep delaying the EIH of OVB trays..."
Innorev (HWECMP-6383) - FY26 Q1 (Oct-Dec) Innorev experienced multiple ETA delays for LDCM and QT1 fixtures, severely impacting the build schedule and missing the required P1 EIH date.
Quote: "P1 required EIH date 11/24... Innorev PM informed LDCM ETA delay... QT1 ETD delay to 12/8..."
Innorev (HWECMP-6274) - FY25 Q4 (Jul-Sep) Failure to perform OQC inspections as required, such as failing to separate signal and grounding wires, resulted in signal interference and a 1-2 day delay in the fixture's EIH.
Quote: "...resulting in a 1-2 day delay in the fixture's EIH?"
Innorev (HWECMP-6271) - FY25 Q4 (Jul-Sep) The QT/LDCM fixture experienced ETA and EIH delays tied to late deliveries from a material supplier.
Quote: "...8/20 required EIH, 9/1 delayed ETA..."
Innorev (HWECMP-6270) - FY25 Q4 (Jul-Sep) The iSD Thermal DOE fixture missed its required EIH and suffered ETA delays due to ongoing debugging and uncertain issues described by the vendor.
Quote: "...7/30 required EIH, 8/24 delayed ETA..."
Innorev (HWECMP-6269) - FY25 Q4 (Jul-Sep) No ETA or delivery status updates were provided for the J65 camera, causing it to miss its required EIH.
Quote: "...8/18 required EIH..."</p:text>
    <p:extLst>
      <p:ext uri="{C676402C-5697-4E1C-873F-D02D1690AC5C}">
        <p15:threadingInfo xmlns:p15="http://schemas.microsoft.com/office/powerpoint/2012/main" timeZoneBias="420"/>
      </p:ext>
    </p:extLst>
  </p:cm>
  <p:cm authorId="0" dt="2026-05-15T07:12:21.986" idx="362">
    <p:pos x="9153" y="4703"/>
    <p:text>Innorev (HWECMP-6405) - FY26 Q2 (Jan-Mar) A significant 53-day delay in delivering the Acktar chart for the J917/J920 P1 build occurred due to poor ETA management. While mitigated to avoid an immediate POC blocker, it posed a massive delay risk for subsequent builds.
Quote: "To avoid blocker for POC build..." and "...it is not a blocker yet it a huge delay..."
Innorev (HWECMP-6361) - FY26 Q1 (Oct-Dec) Poor delivery quality of the B790 FATP Freja station risked blocking the build. Issues included missing important components, poorly checked parts, and a failure to implement past lessons learned.
Quote: "FATP Freja delivery quality is very concerning, risk to block the build..."</p:text>
    <p:extLst>
      <p:ext uri="{C676402C-5697-4E1C-873F-D02D1690AC5C}">
        <p15:threadingInfo xmlns:p15="http://schemas.microsoft.com/office/powerpoint/2012/main" timeZoneBias="420"/>
      </p:ext>
    </p:extLst>
  </p:cm>
  <p:cm authorId="0" dt="2026-05-20T00:20:07.337" idx="363">
    <p:pos x="4094" y="4899"/>
    <p:text>Partner with Strong for CN-based fabrication for AE teams for 6+ months. Also partnering with Strong for retrofit kit fabrication on the V68 Magnolia station, where their fab + OSS would support on the ground with Pentamaster’s engineers. Partnership needs help from GSM to reduce lead times (current project has a 6-8 week lead time but help required to pull that in).</p:text>
    <p:extLst>
      <p:ext uri="{C676402C-5697-4E1C-873F-D02D1690AC5C}">
        <p15:threadingInfo xmlns:p15="http://schemas.microsoft.com/office/powerpoint/2012/main" timeZoneBias="420"/>
      </p:ext>
    </p:extLst>
  </p:cm>
  <p:cm authorId="0" dt="2026-05-20T00:20:07.337" idx="364">
    <p:pos x="4576" y="4899"/>
    <p:text>Similar to China, they have a local partnership that will make parts which have proven lead times through AE experience. Would also send their OSS/Engineers from Malaysia to support. </p:text>
    <p:extLst>
      <p:ext uri="{C676402C-5697-4E1C-873F-D02D1690AC5C}">
        <p15:threadingInfo xmlns:p15="http://schemas.microsoft.com/office/powerpoint/2012/main" timeZoneBias="420"/>
      </p:ext>
    </p:extLst>
  </p:cm>
  <p:cm authorId="0" dt="2026-05-12T15:42:27.278" idx="365">
    <p:pos x="5059" y="4899"/>
    <p:text>Promising automation/integration capability with growing strategic relevance</p:text>
    <p:extLst>
      <p:ext uri="{C676402C-5697-4E1C-873F-D02D1690AC5C}">
        <p15:threadingInfo xmlns:p15="http://schemas.microsoft.com/office/powerpoint/2012/main" timeZoneBias="420"/>
      </p:ext>
    </p:extLst>
  </p:cm>
  <p:cm authorId="0" dt="2026-05-22T02:17:27.328" idx="366">
    <p:pos x="5554" y="4899"/>
    <p:text>Have not yet completed a build cycle on their stations, recommend waiting and give a shadow set in the meantime.
Pentamaster turned down MP 2nd source for Chocolate due to bandwidth, demonstrates constraint.</p:text>
    <p:extLst>
      <p:ext uri="{C676402C-5697-4E1C-873F-D02D1690AC5C}">
        <p15:threadingInfo xmlns:p15="http://schemas.microsoft.com/office/powerpoint/2012/main" timeZoneBias="420"/>
      </p:ext>
    </p:extLst>
  </p:cm>
  <p:cm authorId="0" dt="2026-05-12T20:02:15.231" idx="367">
    <p:pos x="6989" y="4899"/>
    <p:text>No recent performance in TTM</p:text>
    <p:extLst>
      <p:ext uri="{C676402C-5697-4E1C-873F-D02D1690AC5C}">
        <p15:threadingInfo xmlns:p15="http://schemas.microsoft.com/office/powerpoint/2012/main" timeZoneBias="420"/>
      </p:ext>
    </p:extLst>
  </p:cm>
  <p:cm authorId="0" dt="2026-05-12T20:02:15.231" idx="368">
    <p:pos x="7530" y="4899"/>
    <p:text>No recent performance in TTM</p:text>
    <p:extLst>
      <p:ext uri="{C676402C-5697-4E1C-873F-D02D1690AC5C}">
        <p15:threadingInfo xmlns:p15="http://schemas.microsoft.com/office/powerpoint/2012/main" timeZoneBias="420"/>
      </p:ext>
    </p:extLst>
  </p:cm>
  <p:cm authorId="0" dt="2026-05-12T20:02:15.231" idx="369">
    <p:pos x="8612" y="4899"/>
    <p:text>No recent performance in TTM</p:text>
    <p:extLst>
      <p:ext uri="{C676402C-5697-4E1C-873F-D02D1690AC5C}">
        <p15:threadingInfo xmlns:p15="http://schemas.microsoft.com/office/powerpoint/2012/main" timeZoneBias="420"/>
      </p:ext>
    </p:extLst>
  </p:cm>
  <p:cm authorId="0" dt="2026-05-20T00:53:06.290" idx="370">
    <p:pos x="10405" y="4899"/>
    <p:text>Slow turnaround times but do have apple module experience. need to evaluate.</p:text>
    <p:extLst>
      <p:ext uri="{C676402C-5697-4E1C-873F-D02D1690AC5C}">
        <p15:threadingInfo xmlns:p15="http://schemas.microsoft.com/office/powerpoint/2012/main" timeZoneBias="420"/>
      </p:ext>
    </p:extLst>
  </p:cm>
  <p:cm authorId="1" dt="2026-05-19T11:17:57.452" idx="22">
    <p:pos x="1681" y="5084"/>
    <p:text>IVD is untested in quoting as of now; will need to gauge once RFPs shared</p:text>
    <p:extLst>
      <p:ext uri="{C676402C-5697-4E1C-873F-D02D1690AC5C}">
        <p15:threadingInfo xmlns:p15="http://schemas.microsoft.com/office/powerpoint/2012/main" timeZoneBias="420"/>
      </p:ext>
    </p:extLst>
  </p:cm>
  <p:cm authorId="0" dt="2026-05-22T18:43:00.572" idx="371">
    <p:pos x="1761" y="5004"/>
    <p:text>Future business success appears overly reliant on Apple Capex business, need to vet if they will be willing to work with us given size of opportunity.</p:text>
    <p:extLst>
      <p:ext uri="{C676402C-5697-4E1C-873F-D02D1690AC5C}">
        <p15:threadingInfo xmlns:p15="http://schemas.microsoft.com/office/powerpoint/2012/main" timeZoneBias="420">
          <p15:parentCm authorId="1" idx="22"/>
        </p15:threadingInfo>
      </p:ext>
    </p:extLst>
  </p:cm>
  <p:cm authorId="0" dt="2026-05-20T00:34:03.592" idx="372">
    <p:pos x="4094" y="5084"/>
    <p:text>Has a CN facility but is only bidding for non-CN work. Pending visit to this facility to understand what they do.</p:text>
    <p:extLst>
      <p:ext uri="{C676402C-5697-4E1C-873F-D02D1690AC5C}">
        <p15:threadingInfo xmlns:p15="http://schemas.microsoft.com/office/powerpoint/2012/main" timeZoneBias="420"/>
      </p:ext>
    </p:extLst>
  </p:cm>
  <p:cm authorId="0" dt="2026-05-20T00:34:38.714" idx="373">
    <p:pos x="4576" y="5084"/>
    <p:text>Would support IN from their VN facility.</p:text>
    <p:extLst>
      <p:ext uri="{C676402C-5697-4E1C-873F-D02D1690AC5C}">
        <p15:threadingInfo xmlns:p15="http://schemas.microsoft.com/office/powerpoint/2012/main" timeZoneBias="420"/>
      </p:ext>
    </p:extLst>
  </p:cm>
  <p:cm authorId="0" dt="2026-05-20T00:35:19.146" idx="374">
    <p:pos x="5059" y="5084"/>
    <p:text>Working on test stations for other customers. </p:text>
    <p:extLst>
      <p:ext uri="{C676402C-5697-4E1C-873F-D02D1690AC5C}">
        <p15:threadingInfo xmlns:p15="http://schemas.microsoft.com/office/powerpoint/2012/main" timeZoneBias="420"/>
      </p:ext>
    </p:extLst>
  </p:cm>
  <p:cm authorId="0" dt="2026-05-12T20:02:15.231" idx="375">
    <p:pos x="6989" y="5084"/>
    <p:text>No recent performance in TTM</p:text>
    <p:extLst>
      <p:ext uri="{C676402C-5697-4E1C-873F-D02D1690AC5C}">
        <p15:threadingInfo xmlns:p15="http://schemas.microsoft.com/office/powerpoint/2012/main" timeZoneBias="420"/>
      </p:ext>
    </p:extLst>
  </p:cm>
  <p:cm authorId="0" dt="2026-05-12T20:02:15.231" idx="376">
    <p:pos x="7530" y="5084"/>
    <p:text>No recent performance in TTM</p:text>
    <p:extLst>
      <p:ext uri="{C676402C-5697-4E1C-873F-D02D1690AC5C}">
        <p15:threadingInfo xmlns:p15="http://schemas.microsoft.com/office/powerpoint/2012/main" timeZoneBias="420"/>
      </p:ext>
    </p:extLst>
  </p:cm>
  <p:cm authorId="0" dt="2026-05-12T20:02:15.231" idx="377">
    <p:pos x="8612" y="5084"/>
    <p:text>No recent performance in TTM</p:text>
    <p:extLst>
      <p:ext uri="{C676402C-5697-4E1C-873F-D02D1690AC5C}">
        <p15:threadingInfo xmlns:p15="http://schemas.microsoft.com/office/powerpoint/2012/main" timeZoneBias="420"/>
      </p:ext>
    </p:extLst>
  </p:cm>
  <p:cm authorId="0" dt="2026-05-20T00:53:38.672" idx="378">
    <p:pos x="9970" y="5084"/>
    <p:text>Need to prove out technical capability. newly assembled team who has not worked together on complex projects.	</p:text>
    <p:extLst>
      <p:ext uri="{C676402C-5697-4E1C-873F-D02D1690AC5C}">
        <p15:threadingInfo xmlns:p15="http://schemas.microsoft.com/office/powerpoint/2012/main" timeZoneBias="420"/>
      </p:ext>
    </p:extLst>
  </p:cm>
  <p:cm authorId="0" dt="2026-05-20T00:53:38.672" idx="379">
    <p:pos x="10405" y="5084"/>
    <p:text>Need to prove out technical capability. newly assembled team who has not worked together on complex projects.	</p:text>
    <p:extLst>
      <p:ext uri="{C676402C-5697-4E1C-873F-D02D1690AC5C}">
        <p15:threadingInfo xmlns:p15="http://schemas.microsoft.com/office/powerpoint/2012/main" timeZoneBias="420"/>
      </p:ext>
    </p:extLst>
  </p:cm>
  <p:cm authorId="0" dt="2026-05-12T15:43:49.417" idx="380">
    <p:pos x="3128" y="5287"/>
    <p:text>CN/VN support strategy not vetted, not likely to clear by deadline</p:text>
    <p:extLst>
      <p:ext uri="{C676402C-5697-4E1C-873F-D02D1690AC5C}">
        <p15:threadingInfo xmlns:p15="http://schemas.microsoft.com/office/powerpoint/2012/main" timeZoneBias="420"/>
      </p:ext>
    </p:extLst>
  </p:cm>
  <p:cm authorId="1" dt="2026-05-19T11:20:19.982" idx="23">
    <p:pos x="3611" y="5287"/>
    <p:text>Partnership manufacturing sites; unlikely to be used by Apple</p:text>
    <p:extLst>
      <p:ext uri="{C676402C-5697-4E1C-873F-D02D1690AC5C}">
        <p15:threadingInfo xmlns:p15="http://schemas.microsoft.com/office/powerpoint/2012/main" timeZoneBias="420"/>
      </p:ext>
    </p:extLst>
  </p:cm>
  <p:cm authorId="0" dt="2026-05-13T21:16:51.780" idx="381">
    <p:pos x="4094" y="5287"/>
    <p:text>No existing infrastructure in VN/CN for HWTE to validate.</p:text>
    <p:extLst>
      <p:ext uri="{C676402C-5697-4E1C-873F-D02D1690AC5C}">
        <p15:threadingInfo xmlns:p15="http://schemas.microsoft.com/office/powerpoint/2012/main" timeZoneBias="420"/>
      </p:ext>
    </p:extLst>
  </p:cm>
  <p:cm authorId="0" dt="2026-05-13T21:16:51.780" idx="382">
    <p:pos x="5059" y="5287"/>
    <p:text>No existing infrastructure in VN/CN for HWTE to validate.</p:text>
    <p:extLst>
      <p:ext uri="{C676402C-5697-4E1C-873F-D02D1690AC5C}">
        <p15:threadingInfo xmlns:p15="http://schemas.microsoft.com/office/powerpoint/2012/main" timeZoneBias="420"/>
      </p:ext>
    </p:extLst>
  </p:cm>
  <p:cm authorId="0" dt="2026-05-12T20:11:44.560" idx="383">
    <p:pos x="5554" y="5287"/>
    <p:text>Doing conveyors as part of ramp, need YK to confirm performance</p:text>
    <p:extLst>
      <p:ext uri="{C676402C-5697-4E1C-873F-D02D1690AC5C}">
        <p15:threadingInfo xmlns:p15="http://schemas.microsoft.com/office/powerpoint/2012/main" timeZoneBias="420"/>
      </p:ext>
    </p:extLst>
  </p:cm>
  <p:cm authorId="0" dt="2026-05-12T20:02:15.231" idx="384">
    <p:pos x="7530" y="5287"/>
    <p:text>NPI: No recent performance in TTM
MP: VVDN do has issue. Magnolia cannot even setup running at India. India fall back to standalone. We have concern for VVDN for conveyor. They block station bringup Station even cannot start run. Cannot functional. With pull all our engineering resource, still cannot function </p:text>
    <p:extLst>
      <p:ext uri="{C676402C-5697-4E1C-873F-D02D1690AC5C}">
        <p15:threadingInfo xmlns:p15="http://schemas.microsoft.com/office/powerpoint/2012/main" timeZoneBias="420"/>
      </p:ext>
    </p:extLst>
  </p:cm>
  <p:cm authorId="0" dt="2026-05-15T07:08:37.727" idx="385">
    <p:pos x="8612" y="5287"/>
    <p:text>Need to confirm</p:text>
    <p:extLst>
      <p:ext uri="{C676402C-5697-4E1C-873F-D02D1690AC5C}">
        <p15:threadingInfo xmlns:p15="http://schemas.microsoft.com/office/powerpoint/2012/main" timeZoneBias="420"/>
      </p:ext>
    </p:extLst>
  </p:cm>
  <p:cm authorId="0" dt="2026-05-12T15:43:54.140" idx="386">
    <p:pos x="3128" y="5490"/>
    <p:text>CN/VN support strategy not vetted, not likely to clear by deadline</p:text>
    <p:extLst>
      <p:ext uri="{C676402C-5697-4E1C-873F-D02D1690AC5C}">
        <p15:threadingInfo xmlns:p15="http://schemas.microsoft.com/office/powerpoint/2012/main" timeZoneBias="420"/>
      </p:ext>
    </p:extLst>
  </p:cm>
  <p:cm authorId="0" dt="2026-05-12T15:44:09.216" idx="387">
    <p:pos x="3611" y="5490"/>
    <p:text>CN/VN support strategy not vetted, not likely to clear by deadline</p:text>
    <p:extLst>
      <p:ext uri="{C676402C-5697-4E1C-873F-D02D1690AC5C}">
        <p15:threadingInfo xmlns:p15="http://schemas.microsoft.com/office/powerpoint/2012/main" timeZoneBias="420"/>
      </p:ext>
    </p:extLst>
  </p:cm>
  <p:cm authorId="0" dt="2026-05-13T21:16:51.780" idx="388">
    <p:pos x="4094" y="5490"/>
    <p:text>No existing infrastructure in VN/CN for HWTE to validate.</p:text>
    <p:extLst>
      <p:ext uri="{C676402C-5697-4E1C-873F-D02D1690AC5C}">
        <p15:threadingInfo xmlns:p15="http://schemas.microsoft.com/office/powerpoint/2012/main" timeZoneBias="420"/>
      </p:ext>
    </p:extLst>
  </p:cm>
  <p:cm authorId="0" dt="2026-05-13T21:16:51.780" idx="389">
    <p:pos x="5059" y="5490"/>
    <p:text>No existing infrastructure in VN/CN for HWTE to validate.</p:text>
    <p:extLst>
      <p:ext uri="{C676402C-5697-4E1C-873F-D02D1690AC5C}">
        <p15:threadingInfo xmlns:p15="http://schemas.microsoft.com/office/powerpoint/2012/main" timeZoneBias="420"/>
      </p:ext>
    </p:extLst>
  </p:cm>
  <p:cm authorId="0" dt="2026-05-12T20:13:41.808" idx="390">
    <p:pos x="5554" y="5490"/>
    <p:text>No plan to qualify for conveyor projects due to capability limitations</p:text>
    <p:extLst>
      <p:ext uri="{C676402C-5697-4E1C-873F-D02D1690AC5C}">
        <p15:threadingInfo xmlns:p15="http://schemas.microsoft.com/office/powerpoint/2012/main" timeZoneBias="420"/>
      </p:ext>
    </p:extLst>
  </p:cm>
  <p:cm authorId="0" dt="2026-05-15T07:08:37.727" idx="391">
    <p:pos x="8612" y="5490"/>
    <p:text>Need to confirm</p:text>
    <p:extLst>
      <p:ext uri="{C676402C-5697-4E1C-873F-D02D1690AC5C}">
        <p15:threadingInfo xmlns:p15="http://schemas.microsoft.com/office/powerpoint/2012/main" timeZoneBias="420"/>
      </p:ext>
    </p:extLst>
  </p:cm>
  <p:cm authorId="0" dt="2026-05-12T15:43:49.417" idx="392">
    <p:pos x="3128" y="5675"/>
    <p:text>CN/VN support strategy not vetted, not likely to clear by deadline</p:text>
    <p:extLst>
      <p:ext uri="{C676402C-5697-4E1C-873F-D02D1690AC5C}">
        <p15:threadingInfo xmlns:p15="http://schemas.microsoft.com/office/powerpoint/2012/main" timeZoneBias="420"/>
      </p:ext>
    </p:extLst>
  </p:cm>
  <p:cm authorId="0" dt="2026-05-12T15:43:49.417" idx="393">
    <p:pos x="3611" y="5675"/>
    <p:text>CN/VN support strategy not vetted, not likely to clear by deadline</p:text>
    <p:extLst>
      <p:ext uri="{C676402C-5697-4E1C-873F-D02D1690AC5C}">
        <p15:threadingInfo xmlns:p15="http://schemas.microsoft.com/office/powerpoint/2012/main" timeZoneBias="420"/>
      </p:ext>
    </p:extLst>
  </p:cm>
  <p:cm authorId="0" dt="2026-05-13T21:16:51.780" idx="394">
    <p:pos x="4094" y="5675"/>
    <p:text>No existing infrastructure in VN/CN for HWTE to validate.</p:text>
    <p:extLst>
      <p:ext uri="{C676402C-5697-4E1C-873F-D02D1690AC5C}">
        <p15:threadingInfo xmlns:p15="http://schemas.microsoft.com/office/powerpoint/2012/main" timeZoneBias="420"/>
      </p:ext>
    </p:extLst>
  </p:cm>
  <p:cm authorId="0" dt="2026-05-13T21:16:51.780" idx="395">
    <p:pos x="5059" y="5675"/>
    <p:text>No existing infrastructure in VN/CN for HWTE to validate.</p:text>
    <p:extLst>
      <p:ext uri="{C676402C-5697-4E1C-873F-D02D1690AC5C}">
        <p15:threadingInfo xmlns:p15="http://schemas.microsoft.com/office/powerpoint/2012/main" timeZoneBias="420"/>
      </p:ext>
    </p:extLst>
  </p:cm>
  <p:cm authorId="0" dt="2026-05-12T20:20:14.345" idx="396">
    <p:pos x="6506" y="5675"/>
    <p:text>Performance issues in NPI point to limited bandwidth for team to focus on project.</p:text>
    <p:extLst>
      <p:ext uri="{C676402C-5697-4E1C-873F-D02D1690AC5C}">
        <p15:threadingInfo xmlns:p15="http://schemas.microsoft.com/office/powerpoint/2012/main" timeZoneBias="420"/>
      </p:ext>
    </p:extLst>
  </p:cm>
  <p:cm authorId="0" dt="2026-05-12T20:20:35.597" idx="397">
    <p:pos x="6989" y="5675"/>
    <p:text>Multiple line-down issues in MP and NPI</p:text>
    <p:extLst>
      <p:ext uri="{C676402C-5697-4E1C-873F-D02D1690AC5C}">
        <p15:threadingInfo xmlns:p15="http://schemas.microsoft.com/office/powerpoint/2012/main" timeZoneBias="420"/>
      </p:ext>
    </p:extLst>
  </p:cm>
  <p:cm authorId="0" dt="2026-05-12T20:20:35.597" idx="398">
    <p:pos x="7530" y="5675"/>
    <p:text>Multiple line-down issues in MP and NPI</p:text>
    <p:extLst>
      <p:ext uri="{C676402C-5697-4E1C-873F-D02D1690AC5C}">
        <p15:threadingInfo xmlns:p15="http://schemas.microsoft.com/office/powerpoint/2012/main" timeZoneBias="420"/>
      </p:ext>
    </p:extLst>
  </p:cm>
  <p:cm authorId="0" dt="2026-05-15T07:08:37.727" idx="399">
    <p:pos x="8612" y="5675"/>
    <p:text>Need to confirm</p:text>
    <p:extLst>
      <p:ext uri="{C676402C-5697-4E1C-873F-D02D1690AC5C}">
        <p15:threadingInfo xmlns:p15="http://schemas.microsoft.com/office/powerpoint/2012/main" timeZoneBias="420"/>
      </p:ext>
    </p:extLst>
  </p:cm>
  <p:cm authorId="0" dt="2026-05-12T20:16:03.969" idx="400">
    <p:pos x="4094" y="5878"/>
    <p:text>Not KO’ed since Anora was not identified as a high-priority SI.</p:text>
    <p:extLst>
      <p:ext uri="{C676402C-5697-4E1C-873F-D02D1690AC5C}">
        <p15:threadingInfo xmlns:p15="http://schemas.microsoft.com/office/powerpoint/2012/main" timeZoneBias="420"/>
      </p:ext>
    </p:extLst>
  </p:cm>
  <p:cm authorId="0" dt="2026-05-12T20:16:03.969" idx="401">
    <p:pos x="5554" y="5878"/>
    <p:text>Not KO’ed since Anora was not identified as a high-priority SI.</p:text>
    <p:extLst>
      <p:ext uri="{C676402C-5697-4E1C-873F-D02D1690AC5C}">
        <p15:threadingInfo xmlns:p15="http://schemas.microsoft.com/office/powerpoint/2012/main" timeZoneBias="420"/>
      </p:ext>
    </p:extLst>
  </p:cm>
  <p:cm authorId="0" dt="2026-05-12T20:17:13.365" idx="402">
    <p:pos x="5972" y="5878"/>
    <p:text>GSM to confirm</p:text>
    <p:extLst>
      <p:ext uri="{C676402C-5697-4E1C-873F-D02D1690AC5C}">
        <p15:threadingInfo xmlns:p15="http://schemas.microsoft.com/office/powerpoint/2012/main" timeZoneBias="420"/>
      </p:ext>
    </p:extLst>
  </p:cm>
  <p:cm authorId="0" dt="2026-05-12T20:17:13.365" idx="403">
    <p:pos x="6506" y="5878"/>
    <p:text>GSM to confirm</p:text>
    <p:extLst>
      <p:ext uri="{C676402C-5697-4E1C-873F-D02D1690AC5C}">
        <p15:threadingInfo xmlns:p15="http://schemas.microsoft.com/office/powerpoint/2012/main" timeZoneBias="420"/>
      </p:ext>
    </p:extLst>
  </p:cm>
  <p:cm authorId="0" dt="2026-05-12T20:02:15.231" idx="404">
    <p:pos x="6989" y="5878"/>
    <p:text>No recent performance in TTM</p:text>
    <p:extLst>
      <p:ext uri="{C676402C-5697-4E1C-873F-D02D1690AC5C}">
        <p15:threadingInfo xmlns:p15="http://schemas.microsoft.com/office/powerpoint/2012/main" timeZoneBias="420"/>
      </p:ext>
    </p:extLst>
  </p:cm>
  <p:cm authorId="0" dt="2026-05-12T20:02:15.231" idx="405">
    <p:pos x="7530" y="5878"/>
    <p:text>No recent performance in TTM</p:text>
    <p:extLst>
      <p:ext uri="{C676402C-5697-4E1C-873F-D02D1690AC5C}">
        <p15:threadingInfo xmlns:p15="http://schemas.microsoft.com/office/powerpoint/2012/main" timeZoneBias="420"/>
      </p:ext>
    </p:extLst>
  </p:cm>
  <p:cm authorId="0" dt="2026-05-12T20:02:15.231" idx="406">
    <p:pos x="8071" y="5878"/>
    <p:text>No recent performance in TTM</p:text>
    <p:extLst>
      <p:ext uri="{C676402C-5697-4E1C-873F-D02D1690AC5C}">
        <p15:threadingInfo xmlns:p15="http://schemas.microsoft.com/office/powerpoint/2012/main" timeZoneBias="420"/>
      </p:ext>
    </p:extLst>
  </p:cm>
  <p:cm authorId="0" dt="2026-05-12T20:02:15.231" idx="407">
    <p:pos x="8612" y="5878"/>
    <p:text>No recent performance in TTM</p:text>
    <p:extLst>
      <p:ext uri="{C676402C-5697-4E1C-873F-D02D1690AC5C}">
        <p15:threadingInfo xmlns:p15="http://schemas.microsoft.com/office/powerpoint/2012/main" timeZoneBias="420"/>
      </p:ext>
    </p:extLst>
  </p:cm>
  <p:cm authorId="0" dt="2026-05-12T20:02:15.231" idx="408">
    <p:pos x="9153" y="5878"/>
    <p:text>No recent performance in TTM</p:text>
    <p:extLst>
      <p:ext uri="{C676402C-5697-4E1C-873F-D02D1690AC5C}">
        <p15:threadingInfo xmlns:p15="http://schemas.microsoft.com/office/powerpoint/2012/main" timeZoneBias="420"/>
      </p:ext>
    </p:extLst>
  </p:cm>
  <p:cm authorId="1" dt="2026-05-19T11:22:38.531" idx="24">
    <p:pos x="1681" y="6073"/>
    <p:text>Redacting on prior commitments and declining RFPs</p:text>
    <p:extLst>
      <p:ext uri="{C676402C-5697-4E1C-873F-D02D1690AC5C}">
        <p15:threadingInfo xmlns:p15="http://schemas.microsoft.com/office/powerpoint/2012/main" timeZoneBias="420"/>
      </p:ext>
    </p:extLst>
  </p:cm>
  <p:cm authorId="0" dt="2026-05-12T20:05:16.904" idx="409">
    <p:pos x="4094" y="6073"/>
    <p:text>Pass but audit seems to indicate they would fail commercials.</p:text>
    <p:extLst>
      <p:ext uri="{C676402C-5697-4E1C-873F-D02D1690AC5C}">
        <p15:threadingInfo xmlns:p15="http://schemas.microsoft.com/office/powerpoint/2012/main" timeZoneBias="420"/>
      </p:ext>
    </p:extLst>
  </p:cm>
  <p:cm authorId="1" dt="2026-05-19T11:23:37.583" idx="25">
    <p:pos x="5972" y="6073"/>
    <p:text>Redacting on prior commitments and declining RFPs</p:text>
    <p:extLst>
      <p:ext uri="{C676402C-5697-4E1C-873F-D02D1690AC5C}">
        <p15:threadingInfo xmlns:p15="http://schemas.microsoft.com/office/powerpoint/2012/main" timeZoneBias="420"/>
      </p:ext>
    </p:extLst>
  </p:cm>
  <p:cm authorId="0" dt="2026-05-12T20:02:15.231" idx="410">
    <p:pos x="6989" y="6073"/>
    <p:text>No recent performance in TTM</p:text>
    <p:extLst>
      <p:ext uri="{C676402C-5697-4E1C-873F-D02D1690AC5C}">
        <p15:threadingInfo xmlns:p15="http://schemas.microsoft.com/office/powerpoint/2012/main" timeZoneBias="420"/>
      </p:ext>
    </p:extLst>
  </p:cm>
  <p:cm authorId="0" dt="2026-05-12T20:02:15.231" idx="411">
    <p:pos x="7530" y="6073"/>
    <p:text>No recent performance in TTM</p:text>
    <p:extLst>
      <p:ext uri="{C676402C-5697-4E1C-873F-D02D1690AC5C}">
        <p15:threadingInfo xmlns:p15="http://schemas.microsoft.com/office/powerpoint/2012/main" timeZoneBias="420"/>
      </p:ext>
    </p:extLst>
  </p:cm>
  <p:cm authorId="0" dt="2026-05-12T20:02:15.231" idx="412">
    <p:pos x="8071" y="6073"/>
    <p:text>No recent performance in TTM</p:text>
    <p:extLst>
      <p:ext uri="{C676402C-5697-4E1C-873F-D02D1690AC5C}">
        <p15:threadingInfo xmlns:p15="http://schemas.microsoft.com/office/powerpoint/2012/main" timeZoneBias="420"/>
      </p:ext>
    </p:extLst>
  </p:cm>
  <p:cm authorId="0" dt="2026-05-12T20:02:15.231" idx="413">
    <p:pos x="8612" y="6073"/>
    <p:text>No recent performance in TTM</p:text>
    <p:extLst>
      <p:ext uri="{C676402C-5697-4E1C-873F-D02D1690AC5C}">
        <p15:threadingInfo xmlns:p15="http://schemas.microsoft.com/office/powerpoint/2012/main" timeZoneBias="420"/>
      </p:ext>
    </p:extLst>
  </p:cm>
  <p:cm authorId="0" dt="2026-05-12T20:02:15.231" idx="414">
    <p:pos x="9153" y="6073"/>
    <p:text>No recent performance in TTM</p:text>
    <p:extLst>
      <p:ext uri="{C676402C-5697-4E1C-873F-D02D1690AC5C}">
        <p15:threadingInfo xmlns:p15="http://schemas.microsoft.com/office/powerpoint/2012/main" timeZoneBias="420"/>
      </p:ext>
    </p:extLst>
  </p:cm>
  <p:cm authorId="1" dt="2026-05-19T11:24:21.777" idx="26">
    <p:pos x="11444" y="6073"/>
    <p:text>Declining RFPs currently</p:text>
    <p:extLst>
      <p:ext uri="{C676402C-5697-4E1C-873F-D02D1690AC5C}">
        <p15:threadingInfo xmlns:p15="http://schemas.microsoft.com/office/powerpoint/2012/main" timeZoneBias="420"/>
      </p:ext>
    </p:extLst>
  </p:cm>
  <p:cm authorId="1" dt="2026-05-19T11:54:33.441" idx="27">
    <p:pos x="1681" y="6259"/>
    <p:text>Not historically competitive in VPG</p:text>
    <p:extLst>
      <p:ext uri="{C676402C-5697-4E1C-873F-D02D1690AC5C}">
        <p15:threadingInfo xmlns:p15="http://schemas.microsoft.com/office/powerpoint/2012/main" timeZoneBias="420"/>
      </p:ext>
    </p:extLst>
  </p:cm>
  <p:cm authorId="0" dt="2026-05-12T20:18:12.677" idx="415">
    <p:pos x="4094" y="6259"/>
    <p:text>gated by GSM Ok2Engage</p:text>
    <p:extLst>
      <p:ext uri="{C676402C-5697-4E1C-873F-D02D1690AC5C}">
        <p15:threadingInfo xmlns:p15="http://schemas.microsoft.com/office/powerpoint/2012/main" timeZoneBias="420"/>
      </p:ext>
    </p:extLst>
  </p:cm>
  <p:cm authorId="0" dt="2026-05-12T20:18:12.677" idx="416">
    <p:pos x="5554" y="6259"/>
    <p:text>gated by GSM Ok2Engage</p:text>
    <p:extLst>
      <p:ext uri="{C676402C-5697-4E1C-873F-D02D1690AC5C}">
        <p15:threadingInfo xmlns:p15="http://schemas.microsoft.com/office/powerpoint/2012/main" timeZoneBias="420"/>
      </p:ext>
    </p:extLst>
  </p:cm>
  <p:cm authorId="0" dt="2026-05-12T20:18:12.677" idx="417">
    <p:pos x="6506" y="6259"/>
    <p:text>gated by GSM Ok2Engage</p:text>
    <p:extLst>
      <p:ext uri="{C676402C-5697-4E1C-873F-D02D1690AC5C}">
        <p15:threadingInfo xmlns:p15="http://schemas.microsoft.com/office/powerpoint/2012/main" timeZoneBias="420"/>
      </p:ext>
    </p:extLst>
  </p:cm>
  <p:cm authorId="0" dt="2026-05-12T20:18:12.677" idx="418">
    <p:pos x="6989" y="6259"/>
    <p:text>gated by GSM Ok2Engage</p:text>
    <p:extLst>
      <p:ext uri="{C676402C-5697-4E1C-873F-D02D1690AC5C}">
        <p15:threadingInfo xmlns:p15="http://schemas.microsoft.com/office/powerpoint/2012/main" timeZoneBias="420"/>
      </p:ext>
    </p:extLst>
  </p:cm>
  <p:cm authorId="0" dt="2026-05-12T20:18:12.677" idx="419">
    <p:pos x="7530" y="6259"/>
    <p:text>gated by GSM Ok2Engage</p:text>
    <p:extLst>
      <p:ext uri="{C676402C-5697-4E1C-873F-D02D1690AC5C}">
        <p15:threadingInfo xmlns:p15="http://schemas.microsoft.com/office/powerpoint/2012/main" timeZoneBias="420"/>
      </p:ext>
    </p:extLst>
  </p:cm>
  <p:cm authorId="0" dt="2026-05-12T20:02:15.231" idx="420">
    <p:pos x="8071" y="6259"/>
    <p:text>No recent performance in TTM</p:text>
    <p:extLst>
      <p:ext uri="{C676402C-5697-4E1C-873F-D02D1690AC5C}">
        <p15:threadingInfo xmlns:p15="http://schemas.microsoft.com/office/powerpoint/2012/main" timeZoneBias="420"/>
      </p:ext>
    </p:extLst>
  </p:cm>
  <p:cm authorId="0" dt="2026-05-12T20:02:15.231" idx="421">
    <p:pos x="8612" y="6259"/>
    <p:text>No recent performance in TTM</p:text>
    <p:extLst>
      <p:ext uri="{C676402C-5697-4E1C-873F-D02D1690AC5C}">
        <p15:threadingInfo xmlns:p15="http://schemas.microsoft.com/office/powerpoint/2012/main" timeZoneBias="420"/>
      </p:ext>
    </p:extLst>
  </p:cm>
  <p:cm authorId="0" dt="2026-05-12T20:02:15.231" idx="422">
    <p:pos x="9153" y="6259"/>
    <p:text>No recent performance in TTM</p:text>
    <p:extLst>
      <p:ext uri="{C676402C-5697-4E1C-873F-D02D1690AC5C}">
        <p15:threadingInfo xmlns:p15="http://schemas.microsoft.com/office/powerpoint/2012/main" timeZoneBias="420"/>
      </p:ext>
    </p:extLst>
  </p:cm>
  <p:cm authorId="0" dt="2026-05-12T20:18:12.677" idx="423">
    <p:pos x="9557" y="6259"/>
    <p:text>gated by GSM Ok2Engage</p:text>
    <p:extLst>
      <p:ext uri="{C676402C-5697-4E1C-873F-D02D1690AC5C}">
        <p15:threadingInfo xmlns:p15="http://schemas.microsoft.com/office/powerpoint/2012/main" timeZoneBias="420"/>
      </p:ext>
    </p:extLst>
  </p:cm>
  <p:cm authorId="0" dt="2026-05-12T20:18:12.677" idx="424">
    <p:pos x="9970" y="6259"/>
    <p:text>gated by GSM Ok2Engage</p:text>
    <p:extLst>
      <p:ext uri="{C676402C-5697-4E1C-873F-D02D1690AC5C}">
        <p15:threadingInfo xmlns:p15="http://schemas.microsoft.com/office/powerpoint/2012/main" timeZoneBias="420"/>
      </p:ext>
    </p:extLst>
  </p:cm>
  <p:cm authorId="0" dt="2026-05-12T20:18:12.677" idx="425">
    <p:pos x="10405" y="6259"/>
    <p:text>gated by GSM Ok2Engage</p:text>
    <p:extLst>
      <p:ext uri="{C676402C-5697-4E1C-873F-D02D1690AC5C}">
        <p15:threadingInfo xmlns:p15="http://schemas.microsoft.com/office/powerpoint/2012/main" timeZoneBias="420"/>
      </p:ext>
    </p:extLst>
  </p:cm>
  <p:cm authorId="1" dt="2026-05-19T11:44:09.068" idx="28">
    <p:pos x="1198" y="6454"/>
    <p:text>ARPA and EDPA still in negotiation</p:text>
    <p:extLst>
      <p:ext uri="{C676402C-5697-4E1C-873F-D02D1690AC5C}">
        <p15:threadingInfo xmlns:p15="http://schemas.microsoft.com/office/powerpoint/2012/main" timeZoneBias="420"/>
      </p:ext>
    </p:extLst>
  </p:cm>
  <p:cm authorId="0" dt="2026-05-12T20:18:12.677" idx="426">
    <p:pos x="1681" y="6454"/>
    <p:text>pending GSM feedback</p:text>
    <p:extLst>
      <p:ext uri="{C676402C-5697-4E1C-873F-D02D1690AC5C}">
        <p15:threadingInfo xmlns:p15="http://schemas.microsoft.com/office/powerpoint/2012/main" timeZoneBias="420"/>
      </p:ext>
    </p:extLst>
  </p:cm>
  <p:cm authorId="0" dt="2026-05-12T20:18:12.677" idx="427">
    <p:pos x="4094" y="6454"/>
    <p:text>gated by GSM Ok2Engage</p:text>
    <p:extLst>
      <p:ext uri="{C676402C-5697-4E1C-873F-D02D1690AC5C}">
        <p15:threadingInfo xmlns:p15="http://schemas.microsoft.com/office/powerpoint/2012/main" timeZoneBias="420"/>
      </p:ext>
    </p:extLst>
  </p:cm>
  <p:cm authorId="0" dt="2026-05-12T20:18:12.677" idx="428">
    <p:pos x="5554" y="6454"/>
    <p:text>gated by GSM Ok2Engage</p:text>
    <p:extLst>
      <p:ext uri="{C676402C-5697-4E1C-873F-D02D1690AC5C}">
        <p15:threadingInfo xmlns:p15="http://schemas.microsoft.com/office/powerpoint/2012/main" timeZoneBias="420"/>
      </p:ext>
    </p:extLst>
  </p:cm>
  <p:cm authorId="0" dt="2026-05-12T20:18:12.677" idx="429">
    <p:pos x="5972" y="6454"/>
    <p:text>gated by GSM Ok2Engage</p:text>
    <p:extLst>
      <p:ext uri="{C676402C-5697-4E1C-873F-D02D1690AC5C}">
        <p15:threadingInfo xmlns:p15="http://schemas.microsoft.com/office/powerpoint/2012/main" timeZoneBias="420"/>
      </p:ext>
    </p:extLst>
  </p:cm>
  <p:cm authorId="0" dt="2026-05-12T20:18:12.677" idx="430">
    <p:pos x="6506" y="6454"/>
    <p:text>gated by GSM Ok2Engage</p:text>
    <p:extLst>
      <p:ext uri="{C676402C-5697-4E1C-873F-D02D1690AC5C}">
        <p15:threadingInfo xmlns:p15="http://schemas.microsoft.com/office/powerpoint/2012/main" timeZoneBias="420"/>
      </p:ext>
    </p:extLst>
  </p:cm>
  <p:cm authorId="0" dt="2026-05-12T20:18:12.677" idx="431">
    <p:pos x="6989" y="6454"/>
    <p:text>gated by GSM Ok2Engage</p:text>
    <p:extLst>
      <p:ext uri="{C676402C-5697-4E1C-873F-D02D1690AC5C}">
        <p15:threadingInfo xmlns:p15="http://schemas.microsoft.com/office/powerpoint/2012/main" timeZoneBias="420"/>
      </p:ext>
    </p:extLst>
  </p:cm>
  <p:cm authorId="0" dt="2026-05-12T20:18:12.677" idx="432">
    <p:pos x="7530" y="6454"/>
    <p:text>gated by GSM Ok2Engage</p:text>
    <p:extLst>
      <p:ext uri="{C676402C-5697-4E1C-873F-D02D1690AC5C}">
        <p15:threadingInfo xmlns:p15="http://schemas.microsoft.com/office/powerpoint/2012/main" timeZoneBias="420"/>
      </p:ext>
    </p:extLst>
  </p:cm>
  <p:cm authorId="0" dt="2026-05-12T20:02:15.231" idx="433">
    <p:pos x="8071" y="6454"/>
    <p:text>No recent performance in TTM</p:text>
    <p:extLst>
      <p:ext uri="{C676402C-5697-4E1C-873F-D02D1690AC5C}">
        <p15:threadingInfo xmlns:p15="http://schemas.microsoft.com/office/powerpoint/2012/main" timeZoneBias="420"/>
      </p:ext>
    </p:extLst>
  </p:cm>
  <p:cm authorId="0" dt="2026-05-12T20:02:15.231" idx="434">
    <p:pos x="8612" y="6454"/>
    <p:text>No recent performance in TTM</p:text>
    <p:extLst>
      <p:ext uri="{C676402C-5697-4E1C-873F-D02D1690AC5C}">
        <p15:threadingInfo xmlns:p15="http://schemas.microsoft.com/office/powerpoint/2012/main" timeZoneBias="420"/>
      </p:ext>
    </p:extLst>
  </p:cm>
  <p:cm authorId="0" dt="2026-05-12T20:02:15.231" idx="435">
    <p:pos x="9153" y="6454"/>
    <p:text>No recent performance in TTM</p:text>
    <p:extLst>
      <p:ext uri="{C676402C-5697-4E1C-873F-D02D1690AC5C}">
        <p15:threadingInfo xmlns:p15="http://schemas.microsoft.com/office/powerpoint/2012/main" timeZoneBias="420"/>
      </p:ext>
    </p:extLst>
  </p:cm>
  <p:cm authorId="0" dt="2026-05-12T20:18:12.677" idx="436">
    <p:pos x="9557" y="6454"/>
    <p:text>gated by GSM Ok2Engage</p:text>
    <p:extLst>
      <p:ext uri="{C676402C-5697-4E1C-873F-D02D1690AC5C}">
        <p15:threadingInfo xmlns:p15="http://schemas.microsoft.com/office/powerpoint/2012/main" timeZoneBias="420"/>
      </p:ext>
    </p:extLst>
  </p:cm>
  <p:cm authorId="0" dt="2026-05-12T20:18:12.677" idx="437">
    <p:pos x="9970" y="6454"/>
    <p:text>gated by GSM Ok2Engage</p:text>
    <p:extLst>
      <p:ext uri="{C676402C-5697-4E1C-873F-D02D1690AC5C}">
        <p15:threadingInfo xmlns:p15="http://schemas.microsoft.com/office/powerpoint/2012/main" timeZoneBias="420"/>
      </p:ext>
    </p:extLst>
  </p:cm>
  <p:cm authorId="0" dt="2026-05-12T20:18:12.677" idx="438">
    <p:pos x="10405" y="6454"/>
    <p:text>gated by GSM Ok2Engage</p:text>
    <p:extLst>
      <p:ext uri="{C676402C-5697-4E1C-873F-D02D1690AC5C}">
        <p15:threadingInfo xmlns:p15="http://schemas.microsoft.com/office/powerpoint/2012/main" timeZoneBias="420"/>
      </p:ext>
    </p:extLst>
  </p:cm>
  <p:cm authorId="0" dt="2026-05-12T20:18:12.677" idx="439">
    <p:pos x="1198" y="6640"/>
    <p:text>pending GSM feedback</p:text>
    <p:extLst>
      <p:ext uri="{C676402C-5697-4E1C-873F-D02D1690AC5C}">
        <p15:threadingInfo xmlns:p15="http://schemas.microsoft.com/office/powerpoint/2012/main" timeZoneBias="420"/>
      </p:ext>
    </p:extLst>
  </p:cm>
  <p:cm authorId="1" dt="2026-05-19T11:19:07.729" idx="29">
    <p:pos x="1278" y="6560"/>
    <p:text>Refuse to sign EDPA- not likely to be engaged moving forward</p:text>
    <p:extLst>
      <p:ext uri="{C676402C-5697-4E1C-873F-D02D1690AC5C}">
        <p15:threadingInfo xmlns:p15="http://schemas.microsoft.com/office/powerpoint/2012/main" timeZoneBias="420">
          <p15:parentCm authorId="0" idx="439"/>
        </p15:threadingInfo>
      </p:ext>
    </p:extLst>
  </p:cm>
  <p:cm authorId="0" dt="2026-05-12T20:18:12.677" idx="440">
    <p:pos x="1681" y="6640"/>
    <p:text>pending GSM feedback</p:text>
    <p:extLst>
      <p:ext uri="{C676402C-5697-4E1C-873F-D02D1690AC5C}">
        <p15:threadingInfo xmlns:p15="http://schemas.microsoft.com/office/powerpoint/2012/main" timeZoneBias="420"/>
      </p:ext>
    </p:extLst>
  </p:cm>
  <p:cm authorId="0" dt="2026-05-12T20:18:12.677" idx="441">
    <p:pos x="4094" y="6640"/>
    <p:text>gated by GSM Ok2Engage</p:text>
    <p:extLst>
      <p:ext uri="{C676402C-5697-4E1C-873F-D02D1690AC5C}">
        <p15:threadingInfo xmlns:p15="http://schemas.microsoft.com/office/powerpoint/2012/main" timeZoneBias="420"/>
      </p:ext>
    </p:extLst>
  </p:cm>
  <p:cm authorId="0" dt="2026-05-12T20:18:12.677" idx="442">
    <p:pos x="5554" y="6640"/>
    <p:text>gated by GSM Ok2Engage</p:text>
    <p:extLst>
      <p:ext uri="{C676402C-5697-4E1C-873F-D02D1690AC5C}">
        <p15:threadingInfo xmlns:p15="http://schemas.microsoft.com/office/powerpoint/2012/main" timeZoneBias="420"/>
      </p:ext>
    </p:extLst>
  </p:cm>
  <p:cm authorId="0" dt="2026-05-12T20:18:12.677" idx="443">
    <p:pos x="5972" y="6640"/>
    <p:text>gated by GSM Ok2Engage</p:text>
    <p:extLst>
      <p:ext uri="{C676402C-5697-4E1C-873F-D02D1690AC5C}">
        <p15:threadingInfo xmlns:p15="http://schemas.microsoft.com/office/powerpoint/2012/main" timeZoneBias="420"/>
      </p:ext>
    </p:extLst>
  </p:cm>
  <p:cm authorId="0" dt="2026-05-12T20:18:12.677" idx="444">
    <p:pos x="6506" y="6640"/>
    <p:text>gated by GSM Ok2Engage</p:text>
    <p:extLst>
      <p:ext uri="{C676402C-5697-4E1C-873F-D02D1690AC5C}">
        <p15:threadingInfo xmlns:p15="http://schemas.microsoft.com/office/powerpoint/2012/main" timeZoneBias="420"/>
      </p:ext>
    </p:extLst>
  </p:cm>
  <p:cm authorId="0" dt="2026-05-12T20:18:12.677" idx="445">
    <p:pos x="6989" y="6640"/>
    <p:text>gated by GSM Ok2Engage</p:text>
    <p:extLst>
      <p:ext uri="{C676402C-5697-4E1C-873F-D02D1690AC5C}">
        <p15:threadingInfo xmlns:p15="http://schemas.microsoft.com/office/powerpoint/2012/main" timeZoneBias="420"/>
      </p:ext>
    </p:extLst>
  </p:cm>
  <p:cm authorId="0" dt="2026-05-12T20:18:12.677" idx="446">
    <p:pos x="7530" y="6640"/>
    <p:text>gated by GSM Ok2Engage</p:text>
    <p:extLst>
      <p:ext uri="{C676402C-5697-4E1C-873F-D02D1690AC5C}">
        <p15:threadingInfo xmlns:p15="http://schemas.microsoft.com/office/powerpoint/2012/main" timeZoneBias="420"/>
      </p:ext>
    </p:extLst>
  </p:cm>
  <p:cm authorId="0" dt="2026-05-12T20:02:15.231" idx="447">
    <p:pos x="8071" y="6640"/>
    <p:text>No recent performance in TTM</p:text>
    <p:extLst>
      <p:ext uri="{C676402C-5697-4E1C-873F-D02D1690AC5C}">
        <p15:threadingInfo xmlns:p15="http://schemas.microsoft.com/office/powerpoint/2012/main" timeZoneBias="420"/>
      </p:ext>
    </p:extLst>
  </p:cm>
  <p:cm authorId="0" dt="2026-05-12T20:02:15.231" idx="448">
    <p:pos x="8612" y="6640"/>
    <p:text>No recent performance in TTM</p:text>
    <p:extLst>
      <p:ext uri="{C676402C-5697-4E1C-873F-D02D1690AC5C}">
        <p15:threadingInfo xmlns:p15="http://schemas.microsoft.com/office/powerpoint/2012/main" timeZoneBias="420"/>
      </p:ext>
    </p:extLst>
  </p:cm>
  <p:cm authorId="0" dt="2026-05-12T20:02:15.231" idx="449">
    <p:pos x="9153" y="6640"/>
    <p:text>No recent performance in TTM</p:text>
    <p:extLst>
      <p:ext uri="{C676402C-5697-4E1C-873F-D02D1690AC5C}">
        <p15:threadingInfo xmlns:p15="http://schemas.microsoft.com/office/powerpoint/2012/main" timeZoneBias="420"/>
      </p:ext>
    </p:extLst>
  </p:cm>
  <p:cm authorId="0" dt="2026-05-12T20:18:12.677" idx="450">
    <p:pos x="9557" y="6640"/>
    <p:text>gated by GSM Ok2Engage</p:text>
    <p:extLst>
      <p:ext uri="{C676402C-5697-4E1C-873F-D02D1690AC5C}">
        <p15:threadingInfo xmlns:p15="http://schemas.microsoft.com/office/powerpoint/2012/main" timeZoneBias="420"/>
      </p:ext>
    </p:extLst>
  </p:cm>
  <p:cm authorId="0" dt="2026-05-12T20:18:12.677" idx="451">
    <p:pos x="9970" y="6640"/>
    <p:text>gated by GSM Ok2Engage</p:text>
    <p:extLst>
      <p:ext uri="{C676402C-5697-4E1C-873F-D02D1690AC5C}">
        <p15:threadingInfo xmlns:p15="http://schemas.microsoft.com/office/powerpoint/2012/main" timeZoneBias="420"/>
      </p:ext>
    </p:extLst>
  </p:cm>
  <p:cm authorId="0" dt="2026-05-12T20:18:12.677" idx="452">
    <p:pos x="10405" y="6640"/>
    <p:text>gated by GSM Ok2Engage</p:text>
    <p:extLst>
      <p:ext uri="{C676402C-5697-4E1C-873F-D02D1690AC5C}">
        <p15:threadingInfo xmlns:p15="http://schemas.microsoft.com/office/powerpoint/2012/main" timeZoneBias="420"/>
      </p:ext>
    </p:extLst>
  </p:cm>
  <p:cm authorId="1" dt="2026-05-19T11:44:09.068" idx="30">
    <p:pos x="1198" y="6835"/>
    <p:text>ARPA and EDPA still in negotiation</p:text>
    <p:extLst>
      <p:ext uri="{C676402C-5697-4E1C-873F-D02D1690AC5C}">
        <p15:threadingInfo xmlns:p15="http://schemas.microsoft.com/office/powerpoint/2012/main" timeZoneBias="420"/>
      </p:ext>
    </p:extLst>
  </p:cm>
  <p:cm authorId="0" dt="2026-05-12T20:18:12.677" idx="453">
    <p:pos x="1681" y="6835"/>
    <p:text>pending GSM feedback</p:text>
    <p:extLst>
      <p:ext uri="{C676402C-5697-4E1C-873F-D02D1690AC5C}">
        <p15:threadingInfo xmlns:p15="http://schemas.microsoft.com/office/powerpoint/2012/main" timeZoneBias="420"/>
      </p:ext>
    </p:extLst>
  </p:cm>
  <p:cm authorId="0" dt="2026-05-12T20:18:12.677" idx="454">
    <p:pos x="4094" y="6835"/>
    <p:text>gated by GSM Ok2Engage</p:text>
    <p:extLst>
      <p:ext uri="{C676402C-5697-4E1C-873F-D02D1690AC5C}">
        <p15:threadingInfo xmlns:p15="http://schemas.microsoft.com/office/powerpoint/2012/main" timeZoneBias="420"/>
      </p:ext>
    </p:extLst>
  </p:cm>
  <p:cm authorId="0" dt="2026-05-12T20:18:12.677" idx="455">
    <p:pos x="5554" y="6835"/>
    <p:text>gated by GSM Ok2Engage</p:text>
    <p:extLst>
      <p:ext uri="{C676402C-5697-4E1C-873F-D02D1690AC5C}">
        <p15:threadingInfo xmlns:p15="http://schemas.microsoft.com/office/powerpoint/2012/main" timeZoneBias="420"/>
      </p:ext>
    </p:extLst>
  </p:cm>
  <p:cm authorId="0" dt="2026-05-12T20:18:12.677" idx="456">
    <p:pos x="5972" y="6835"/>
    <p:text>gated by GSM Ok2Engage</p:text>
    <p:extLst>
      <p:ext uri="{C676402C-5697-4E1C-873F-D02D1690AC5C}">
        <p15:threadingInfo xmlns:p15="http://schemas.microsoft.com/office/powerpoint/2012/main" timeZoneBias="420"/>
      </p:ext>
    </p:extLst>
  </p:cm>
  <p:cm authorId="0" dt="2026-05-12T20:18:12.677" idx="457">
    <p:pos x="6506" y="6835"/>
    <p:text>gated by GSM Ok2Engage</p:text>
    <p:extLst>
      <p:ext uri="{C676402C-5697-4E1C-873F-D02D1690AC5C}">
        <p15:threadingInfo xmlns:p15="http://schemas.microsoft.com/office/powerpoint/2012/main" timeZoneBias="420"/>
      </p:ext>
    </p:extLst>
  </p:cm>
  <p:cm authorId="0" dt="2026-05-12T20:18:12.677" idx="458">
    <p:pos x="6989" y="6835"/>
    <p:text>gated by GSM Ok2Engage</p:text>
    <p:extLst>
      <p:ext uri="{C676402C-5697-4E1C-873F-D02D1690AC5C}">
        <p15:threadingInfo xmlns:p15="http://schemas.microsoft.com/office/powerpoint/2012/main" timeZoneBias="420"/>
      </p:ext>
    </p:extLst>
  </p:cm>
  <p:cm authorId="0" dt="2026-05-12T20:18:12.677" idx="459">
    <p:pos x="7530" y="6835"/>
    <p:text>gated by GSM Ok2Engage</p:text>
    <p:extLst>
      <p:ext uri="{C676402C-5697-4E1C-873F-D02D1690AC5C}">
        <p15:threadingInfo xmlns:p15="http://schemas.microsoft.com/office/powerpoint/2012/main" timeZoneBias="420"/>
      </p:ext>
    </p:extLst>
  </p:cm>
  <p:cm authorId="0" dt="2026-05-12T20:02:15.231" idx="460">
    <p:pos x="8071" y="6835"/>
    <p:text>No recent performance in TTM</p:text>
    <p:extLst>
      <p:ext uri="{C676402C-5697-4E1C-873F-D02D1690AC5C}">
        <p15:threadingInfo xmlns:p15="http://schemas.microsoft.com/office/powerpoint/2012/main" timeZoneBias="420"/>
      </p:ext>
    </p:extLst>
  </p:cm>
  <p:cm authorId="0" dt="2026-05-12T20:02:15.231" idx="461">
    <p:pos x="8612" y="6835"/>
    <p:text>No recent performance in TTM</p:text>
    <p:extLst>
      <p:ext uri="{C676402C-5697-4E1C-873F-D02D1690AC5C}">
        <p15:threadingInfo xmlns:p15="http://schemas.microsoft.com/office/powerpoint/2012/main" timeZoneBias="420"/>
      </p:ext>
    </p:extLst>
  </p:cm>
  <p:cm authorId="0" dt="2026-05-12T20:02:15.231" idx="462">
    <p:pos x="9153" y="6835"/>
    <p:text>No recent performance in TTM</p:text>
    <p:extLst>
      <p:ext uri="{C676402C-5697-4E1C-873F-D02D1690AC5C}">
        <p15:threadingInfo xmlns:p15="http://schemas.microsoft.com/office/powerpoint/2012/main" timeZoneBias="420"/>
      </p:ext>
    </p:extLst>
  </p:cm>
  <p:cm authorId="0" dt="2026-05-12T20:18:12.677" idx="463">
    <p:pos x="9557" y="6835"/>
    <p:text>gated by GSM Ok2Engage</p:text>
    <p:extLst>
      <p:ext uri="{C676402C-5697-4E1C-873F-D02D1690AC5C}">
        <p15:threadingInfo xmlns:p15="http://schemas.microsoft.com/office/powerpoint/2012/main" timeZoneBias="420"/>
      </p:ext>
    </p:extLst>
  </p:cm>
  <p:cm authorId="0" dt="2026-05-12T20:18:12.677" idx="464">
    <p:pos x="9970" y="6835"/>
    <p:text>gated by GSM Ok2Engage</p:text>
    <p:extLst>
      <p:ext uri="{C676402C-5697-4E1C-873F-D02D1690AC5C}">
        <p15:threadingInfo xmlns:p15="http://schemas.microsoft.com/office/powerpoint/2012/main" timeZoneBias="420"/>
      </p:ext>
    </p:extLst>
  </p:cm>
  <p:cm authorId="0" dt="2026-05-12T20:18:12.677" idx="465">
    <p:pos x="10405" y="6835"/>
    <p:text>gated by GSM Ok2Engage</p:text>
    <p:extLst>
      <p:ext uri="{C676402C-5697-4E1C-873F-D02D1690AC5C}">
        <p15:threadingInfo xmlns:p15="http://schemas.microsoft.com/office/powerpoint/2012/main" timeZoneBias="420"/>
      </p:ext>
    </p:extLst>
  </p:cm>
</p:cmLst>
</file>

<file path=ppt/comments/comment4.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6-05-28T21:52:17.503" idx="466">
    <p:pos x="7308" y="1134"/>
    <p:text>Mesa: Additional capacitive grounding. We tested the "portable" approach, but DOE results failed to meet expectations.
ALS: EOP work distance and TA
    Further study required due to large DUT TA and strict requirements, We cannot reuse the portable spec because using the housing as a datum is too difficult for iPad.</p:text>
    <p:extLst>
      <p:ext uri="{C676402C-5697-4E1C-873F-D02D1690AC5C}">
        <p15:threadingInfo xmlns:p15="http://schemas.microsoft.com/office/powerpoint/2012/main" timeZoneBias="420"/>
      </p:ext>
    </p:extLst>
  </p:cm>
  <p:cm authorId="0" dt="2026-05-20T00:01:28.656" idx="467">
    <p:pos x="2163" y="2425"/>
    <p:text>1.0 = Proven / operational today
0.75 = Operational but immature or limited scale
0.5 = Capability exists but not demonstrated for HWTE scope
0.25 = Theoretical capability only (i.e. Amp Thai)
TBD = Insufficient validation / roadmap only (I.e.maybe VVDN 🤷‍♂️ )
0 = Does not meet requirement</p:text>
    <p:extLst>
      <p:ext uri="{C676402C-5697-4E1C-873F-D02D1690AC5C}">
        <p15:threadingInfo xmlns:p15="http://schemas.microsoft.com/office/powerpoint/2012/main" timeZoneBias="420"/>
      </p:ext>
    </p:extLst>
  </p:cm>
  <p:cm authorId="0" dt="2026-05-19T19:52:35.442" idx="468">
    <p:pos x="1681" y="3375"/>
    <p:text>Have had assurances from Apple leadership that Amphenol is committed to working on TE stations. However, we’ve seen several verbal commits throughout the last twelve months that Amphenol subsequently backed out of. K12p will be last opportunity to have them bid on projects.</p:text>
    <p:extLst>
      <p:ext uri="{C676402C-5697-4E1C-873F-D02D1690AC5C}">
        <p15:threadingInfo xmlns:p15="http://schemas.microsoft.com/office/powerpoint/2012/main" timeZoneBias="420"/>
      </p:ext>
    </p:extLst>
  </p:cm>
  <p:cm authorId="0" dt="2026-05-12T15:35:54.130" idx="469">
    <p:pos x="4094" y="3375"/>
    <p:text>Strong Apple manufacturing/integration experience with expanding automation capability. Global facilities need follow up but can support from CN for this project. Need conveyor experience.</p:text>
    <p:extLst>
      <p:ext uri="{C676402C-5697-4E1C-873F-D02D1690AC5C}">
        <p15:threadingInfo xmlns:p15="http://schemas.microsoft.com/office/powerpoint/2012/main" timeZoneBias="420"/>
      </p:ext>
    </p:extLst>
  </p:cm>
  <p:cm authorId="0" dt="2026-05-12T15:35:54.130" idx="470">
    <p:pos x="4576" y="3375"/>
    <p:text>Support retrofits only for Ironman stations on V6y programs. </p:text>
    <p:extLst>
      <p:ext uri="{C676402C-5697-4E1C-873F-D02D1690AC5C}">
        <p15:threadingInfo xmlns:p15="http://schemas.microsoft.com/office/powerpoint/2012/main" timeZoneBias="420"/>
      </p:ext>
    </p:extLst>
  </p:cm>
  <p:cm authorId="0" dt="2026-05-20T00:05:26.554" idx="471">
    <p:pos x="5059" y="3375"/>
    <p:text>Thailand site unvetted, pending SQE audit</p:text>
    <p:extLst>
      <p:ext uri="{C676402C-5697-4E1C-873F-D02D1690AC5C}">
        <p15:threadingInfo xmlns:p15="http://schemas.microsoft.com/office/powerpoint/2012/main" timeZoneBias="420"/>
      </p:ext>
    </p:extLst>
  </p:cm>
  <p:cm authorId="0" dt="2026-05-12T15:36:06.879" idx="472">
    <p:pos x="5554" y="3375"/>
    <p:text>Significant apple experience but needs a conveyor/automation project to stress-test capability</p:text>
    <p:extLst>
      <p:ext uri="{C676402C-5697-4E1C-873F-D02D1690AC5C}">
        <p15:threadingInfo xmlns:p15="http://schemas.microsoft.com/office/powerpoint/2012/main" timeZoneBias="420"/>
      </p:ext>
    </p:extLst>
  </p:cm>
  <p:cm authorId="0" dt="2026-05-19T19:52:35.442" idx="473">
    <p:pos x="9970" y="3375"/>
    <p:text>Have had assurances from Apple leadership that Amphenol is committed to working on TE stations. However, we’ve seen several verbal commits throughout the last twelve months that Amphenol subsequently backed out of. K12p will be last opportunity to have them bid on projects.</p:text>
    <p:extLst>
      <p:ext uri="{C676402C-5697-4E1C-873F-D02D1690AC5C}">
        <p15:threadingInfo xmlns:p15="http://schemas.microsoft.com/office/powerpoint/2012/main" timeZoneBias="420"/>
      </p:ext>
    </p:extLst>
  </p:cm>
  <p:cm authorId="0" dt="2026-05-12T15:47:20.969" idx="474">
    <p:pos x="1681" y="3563"/>
    <p:text>Cannot meet MP pricing targets</p:text>
    <p:extLst>
      <p:ext uri="{C676402C-5697-4E1C-873F-D02D1690AC5C}">
        <p15:threadingInfo xmlns:p15="http://schemas.microsoft.com/office/powerpoint/2012/main" timeZoneBias="420"/>
      </p:ext>
    </p:extLst>
  </p:cm>
  <p:cm authorId="0" dt="2026-05-12T15:38:38.148" idx="475">
    <p:pos x="4094" y="3563"/>
    <p:text>Elite technical capability for advanced metrology/test/cal systems.</p:text>
    <p:extLst>
      <p:ext uri="{C676402C-5697-4E1C-873F-D02D1690AC5C}">
        <p15:threadingInfo xmlns:p15="http://schemas.microsoft.com/office/powerpoint/2012/main" timeZoneBias="420"/>
      </p:ext>
    </p:extLst>
  </p:cm>
  <p:cm authorId="0" dt="2026-05-12T15:38:38.148" idx="476">
    <p:pos x="4576" y="3563"/>
    <p:text>Elite technical capability for advanced metrology/test/cal systems.</p:text>
    <p:extLst>
      <p:ext uri="{C676402C-5697-4E1C-873F-D02D1690AC5C}">
        <p15:threadingInfo xmlns:p15="http://schemas.microsoft.com/office/powerpoint/2012/main" timeZoneBias="420"/>
      </p:ext>
    </p:extLst>
  </p:cm>
  <p:cm authorId="0" dt="2026-05-12T15:38:38.148" idx="477">
    <p:pos x="5059" y="3563"/>
    <p:text>Elite technical capability for advanced metrology/test/cal systems.</p:text>
    <p:extLst>
      <p:ext uri="{C676402C-5697-4E1C-873F-D02D1690AC5C}">
        <p15:threadingInfo xmlns:p15="http://schemas.microsoft.com/office/powerpoint/2012/main" timeZoneBias="420"/>
      </p:ext>
    </p:extLst>
  </p:cm>
  <p:cm authorId="0" dt="2026-05-12T19:51:01.997" idx="478">
    <p:pos x="7530" y="3563"/>
    <p:text>Missed EIH on some stations during early engagements (need list from teams).</p:text>
    <p:extLst>
      <p:ext uri="{C676402C-5697-4E1C-873F-D02D1690AC5C}">
        <p15:threadingInfo xmlns:p15="http://schemas.microsoft.com/office/powerpoint/2012/main" timeZoneBias="420"/>
      </p:ext>
    </p:extLst>
  </p:cm>
  <p:cm authorId="0" dt="2026-05-14T02:05:54.779" idx="479">
    <p:pos x="716" y="3759"/>
    <p:text>Overcharge for OSS (J312 Wavesight), Slow comms (have to go back to Italy for everything)</p:text>
    <p:extLst>
      <p:ext uri="{C676402C-5697-4E1C-873F-D02D1690AC5C}">
        <p15:threadingInfo xmlns:p15="http://schemas.microsoft.com/office/powerpoint/2012/main" timeZoneBias="420"/>
      </p:ext>
    </p:extLst>
  </p:cm>
  <p:cm authorId="0" dt="2026-05-12T20:00:58.422" idx="480">
    <p:pos x="1681" y="3759"/>
    <p:text>Need GSMs to confirm pricing targets can be met, but historically have supplied stations so in theory should be ok.</p:text>
    <p:extLst>
      <p:ext uri="{C676402C-5697-4E1C-873F-D02D1690AC5C}">
        <p15:threadingInfo xmlns:p15="http://schemas.microsoft.com/office/powerpoint/2012/main" timeZoneBias="420"/>
      </p:ext>
    </p:extLst>
  </p:cm>
  <p:cm authorId="0" dt="2026-05-12T15:42:08.349" idx="481">
    <p:pos x="4094" y="3759"/>
    <p:text>Proven Apple SI with strong electronics and test-domain expertise</p:text>
    <p:extLst>
      <p:ext uri="{C676402C-5697-4E1C-873F-D02D1690AC5C}">
        <p15:threadingInfo xmlns:p15="http://schemas.microsoft.com/office/powerpoint/2012/main" timeZoneBias="420"/>
      </p:ext>
    </p:extLst>
  </p:cm>
  <p:cm authorId="0" dt="2026-05-20T00:34:38.714" idx="482">
    <p:pos x="4576" y="3759"/>
    <p:text>Would support IN from their IT and TH facility. unclear how their OSS speed and retrofit capability would work, Bob to further vet.</p:text>
    <p:extLst>
      <p:ext uri="{C676402C-5697-4E1C-873F-D02D1690AC5C}">
        <p15:threadingInfo xmlns:p15="http://schemas.microsoft.com/office/powerpoint/2012/main" timeZoneBias="420"/>
      </p:ext>
    </p:extLst>
  </p:cm>
  <p:cm authorId="0" dt="2026-05-20T00:34:38.714" idx="483">
    <p:pos x="5059" y="3759"/>
    <p:text>Would support IN from their IT and TH facility. unclear how their OSS speed and retrofit capability would work, Bob to further vet.</p:text>
    <p:extLst>
      <p:ext uri="{C676402C-5697-4E1C-873F-D02D1690AC5C}">
        <p15:threadingInfo xmlns:p15="http://schemas.microsoft.com/office/powerpoint/2012/main" timeZoneBias="420"/>
      </p:ext>
    </p:extLst>
  </p:cm>
  <p:cm authorId="0" dt="2026-05-12T20:01:24.734" idx="484">
    <p:pos x="5554" y="3759"/>
    <p:text>Experienced with complex automation but haven’t completed a conveyor qual. would be a good candidate station for SPEA to learn and scale on.</p:text>
    <p:extLst>
      <p:ext uri="{C676402C-5697-4E1C-873F-D02D1690AC5C}">
        <p15:threadingInfo xmlns:p15="http://schemas.microsoft.com/office/powerpoint/2012/main" timeZoneBias="420"/>
      </p:ext>
    </p:extLst>
  </p:cm>
  <p:cm authorId="0" dt="2026-05-20T00:36:27.033" idx="485">
    <p:pos x="9153" y="3759"/>
    <p:text>Performance issues highlighted around speed of feedback. major concern is on scalability/ability to support large quantifies of projects in and outside of CN.</p:text>
    <p:extLst>
      <p:ext uri="{C676402C-5697-4E1C-873F-D02D1690AC5C}">
        <p15:threadingInfo xmlns:p15="http://schemas.microsoft.com/office/powerpoint/2012/main" timeZoneBias="420"/>
      </p:ext>
    </p:extLst>
  </p:cm>
  <p:cm authorId="0" dt="2026-05-29T02:22:50.166" idx="486">
    <p:pos x="9233" y="3679"/>
    <p:text>From Leon: I remember their support is very slow on portable project before and the OSS is not from their company(should from 3rd part if I remember correctly). </p:text>
    <p:extLst>
      <p:ext uri="{C676402C-5697-4E1C-873F-D02D1690AC5C}">
        <p15:threadingInfo xmlns:p15="http://schemas.microsoft.com/office/powerpoint/2012/main" timeZoneBias="420">
          <p15:parentCm authorId="0" idx="485"/>
        </p15:threadingInfo>
      </p:ext>
    </p:extLst>
  </p:cm>
  <p:cm authorId="0" dt="2026-05-20T00:53:06.290" idx="487">
    <p:pos x="10405" y="3759"/>
    <p:text>Need to confirm scalability/ability to support ramp.</p:text>
    <p:extLst>
      <p:ext uri="{C676402C-5697-4E1C-873F-D02D1690AC5C}">
        <p15:threadingInfo xmlns:p15="http://schemas.microsoft.com/office/powerpoint/2012/main" timeZoneBias="420"/>
      </p:ext>
    </p:extLst>
  </p:cm>
  <p:cm authorId="0" dt="2026-05-12T15:33:06.628" idx="488">
    <p:pos x="4094" y="3954"/>
    <p:text>From Bob: Strong India infrastructure, machining capability, and growing technical alignment to HWTE needs</p:text>
    <p:extLst>
      <p:ext uri="{C676402C-5697-4E1C-873F-D02D1690AC5C}">
        <p15:threadingInfo xmlns:p15="http://schemas.microsoft.com/office/powerpoint/2012/main" timeZoneBias="420"/>
      </p:ext>
    </p:extLst>
  </p:cm>
  <p:cm authorId="0" dt="2026-05-20T00:05:26.554" idx="489">
    <p:pos x="4576" y="3954"/>
    <p:text>IN Facility built (has it been approved yet, Bob?). ready to take on new projects/orders.</p:text>
    <p:extLst>
      <p:ext uri="{C676402C-5697-4E1C-873F-D02D1690AC5C}">
        <p15:threadingInfo xmlns:p15="http://schemas.microsoft.com/office/powerpoint/2012/main" timeZoneBias="420"/>
      </p:ext>
    </p:extLst>
  </p:cm>
  <p:cm authorId="0" dt="2026-05-12T15:33:06.628" idx="490">
    <p:pos x="5059" y="3954"/>
    <p:text>Can support from KR site and deploy OSS to VN.</p:text>
    <p:extLst>
      <p:ext uri="{C676402C-5697-4E1C-873F-D02D1690AC5C}">
        <p15:threadingInfo xmlns:p15="http://schemas.microsoft.com/office/powerpoint/2012/main" timeZoneBias="420"/>
      </p:ext>
    </p:extLst>
  </p:cm>
  <p:cm authorId="0" dt="2026-05-22T02:17:27.328" idx="491">
    <p:pos x="5554" y="3954"/>
    <p:text>Qualifying on B798 for NPI support. no bandwidth to work on these projects.</p:text>
    <p:extLst>
      <p:ext uri="{C676402C-5697-4E1C-873F-D02D1690AC5C}">
        <p15:threadingInfo xmlns:p15="http://schemas.microsoft.com/office/powerpoint/2012/main" timeZoneBias="420"/>
      </p:ext>
    </p:extLst>
  </p:cm>
  <p:cm authorId="1" dt="2026-05-19T11:21:27.636" idx="31">
    <p:pos x="5972" y="3954"/>
    <p:text>Focus needs to be on B798; capacity is available but should not be spread thin</p:text>
    <p:extLst>
      <p:ext uri="{C676402C-5697-4E1C-873F-D02D1690AC5C}">
        <p15:threadingInfo xmlns:p15="http://schemas.microsoft.com/office/powerpoint/2012/main" timeZoneBias="420"/>
      </p:ext>
    </p:extLst>
  </p:cm>
  <p:cm authorId="0" dt="2026-05-12T19:43:09.708" idx="492">
    <p:pos x="6506" y="3954"/>
    <p:text>Fully booked on B798 readiness. Need to confirm if they have additional resources to support.</p:text>
    <p:extLst>
      <p:ext uri="{C676402C-5697-4E1C-873F-D02D1690AC5C}">
        <p15:threadingInfo xmlns:p15="http://schemas.microsoft.com/office/powerpoint/2012/main" timeZoneBias="420"/>
      </p:ext>
    </p:extLst>
  </p:cm>
  <p:cm authorId="0" dt="2026-05-12T19:46:24.566" idx="493">
    <p:pos x="7530" y="3954"/>
    <p:text>Delivery of V68 stations was delayed, but partially contributed by Apple team not setting up for success given compressed schedule.</p:text>
    <p:extLst>
      <p:ext uri="{C676402C-5697-4E1C-873F-D02D1690AC5C}">
        <p15:threadingInfo xmlns:p15="http://schemas.microsoft.com/office/powerpoint/2012/main" timeZoneBias="420"/>
      </p:ext>
    </p:extLst>
  </p:cm>
  <p:cm authorId="0" dt="2026-05-15T07:07:36.404" idx="494">
    <p:pos x="8612" y="3954"/>
    <p:text>Need to confirm for V68</p:text>
    <p:extLst>
      <p:ext uri="{C676402C-5697-4E1C-873F-D02D1690AC5C}">
        <p15:threadingInfo xmlns:p15="http://schemas.microsoft.com/office/powerpoint/2012/main" timeZoneBias="420"/>
      </p:ext>
    </p:extLst>
  </p:cm>
  <p:cm authorId="0" dt="2026-05-20T19:20:30.660" idx="495">
    <p:pos x="9153" y="3954"/>
    <p:text>Bumpy experience on V68 shadow sets but many of those issues related to issues on our end.</p:text>
    <p:extLst>
      <p:ext uri="{C676402C-5697-4E1C-873F-D02D1690AC5C}">
        <p15:threadingInfo xmlns:p15="http://schemas.microsoft.com/office/powerpoint/2012/main" timeZoneBias="420"/>
      </p:ext>
    </p:extLst>
  </p:cm>
  <p:cm authorId="0" dt="2026-05-20T00:05:26.554" idx="496">
    <p:pos x="5059" y="4142"/>
    <p:text>VN site can support retrofits for MP.</p:text>
    <p:extLst>
      <p:ext uri="{C676402C-5697-4E1C-873F-D02D1690AC5C}">
        <p15:threadingInfo xmlns:p15="http://schemas.microsoft.com/office/powerpoint/2012/main" timeZoneBias="420"/>
      </p:ext>
    </p:extLst>
  </p:cm>
  <p:cm authorId="0" dt="2026-05-12T19:34:34.942" idx="497">
    <p:pos x="5972" y="4142"/>
    <p:text>Can be available if this is a priority project, but want to save for other projects if possible.</p:text>
    <p:extLst>
      <p:ext uri="{C676402C-5697-4E1C-873F-D02D1690AC5C}">
        <p15:threadingInfo xmlns:p15="http://schemas.microsoft.com/office/powerpoint/2012/main" timeZoneBias="420"/>
      </p:ext>
    </p:extLst>
  </p:cm>
  <p:cm authorId="0" dt="2026-05-12T19:36:08.136" idx="498">
    <p:pos x="6506" y="4142"/>
    <p:text>Significant performance issues in TTM (N50 Vader, Grape/Touch, delays on B798 conveyor design) point to limited availability</p:text>
    <p:extLst>
      <p:ext uri="{C676402C-5697-4E1C-873F-D02D1690AC5C}">
        <p15:threadingInfo xmlns:p15="http://schemas.microsoft.com/office/powerpoint/2012/main" timeZoneBias="420"/>
      </p:ext>
    </p:extLst>
  </p:cm>
  <p:cm authorId="0" dt="2026-05-13T22:20:01.677" idx="499">
    <p:pos x="6989" y="4142"/>
    <p:text>https://jira.apple.com/browse/HWECMP-6433 was a potential build blocker, massive efficiency hit to the team.</p:text>
    <p:extLst>
      <p:ext uri="{C676402C-5697-4E1C-873F-D02D1690AC5C}">
        <p15:threadingInfo xmlns:p15="http://schemas.microsoft.com/office/powerpoint/2012/main" timeZoneBias="420"/>
      </p:ext>
    </p:extLst>
  </p:cm>
  <p:cm authorId="0" dt="2026-05-12T19:50:23.571" idx="500">
    <p:pos x="7530" y="4142"/>
    <p:text>Significant performance issues in TTM (N50 Vader, Grape/Touch, delays on B798 conveyor design).</p:text>
    <p:extLst>
      <p:ext uri="{C676402C-5697-4E1C-873F-D02D1690AC5C}">
        <p15:threadingInfo xmlns:p15="http://schemas.microsoft.com/office/powerpoint/2012/main" timeZoneBias="420"/>
      </p:ext>
    </p:extLst>
  </p:cm>
  <p:cm authorId="0" dt="2026-05-15T07:07:07.716" idx="501">
    <p:pos x="8071" y="4142"/>
    <p:text>Missed design lock for B798 project will cause it to miss EIH target.</p:text>
    <p:extLst>
      <p:ext uri="{C676402C-5697-4E1C-873F-D02D1690AC5C}">
        <p15:threadingInfo xmlns:p15="http://schemas.microsoft.com/office/powerpoint/2012/main" timeZoneBias="420"/>
      </p:ext>
    </p:extLst>
  </p:cm>
  <p:cm authorId="0" dt="2026-05-15T07:07:07.716" idx="502">
    <p:pos x="8612" y="4142"/>
    <p:text>Missed design lock for B798 project.</p:text>
    <p:extLst>
      <p:ext uri="{C676402C-5697-4E1C-873F-D02D1690AC5C}">
        <p15:threadingInfo xmlns:p15="http://schemas.microsoft.com/office/powerpoint/2012/main" timeZoneBias="420"/>
      </p:ext>
    </p:extLst>
  </p:cm>
  <p:cm authorId="0" dt="2026-05-15T07:12:55.246" idx="503">
    <p:pos x="9153" y="4142"/>
    <p:text>JLK (HWECMP-6528) - FY26 Q3 (Apr-Jun) Infrequent communication between JLK-IN and JLK-CN led to divergent design conclusions. Deliverable requests were funneled to Apple near the design lock phase instead of early in the design phase.
Quote: "...funneling deliver requests near design lock instead of early design phase" (Summary)</p:text>
    <p:extLst>
      <p:ext uri="{C676402C-5697-4E1C-873F-D02D1690AC5C}">
        <p15:threadingInfo xmlns:p15="http://schemas.microsoft.com/office/powerpoint/2012/main" timeZoneBias="420"/>
      </p:ext>
    </p:extLst>
  </p:cm>
  <p:cm authorId="0" dt="2026-05-12T20:00:58.422" idx="504">
    <p:pos x="1681" y="4330"/>
    <p:text>PRM inflating prices in advance of their IPO and causing commercial issues. proceed with caution.</p:text>
    <p:extLst>
      <p:ext uri="{C676402C-5697-4E1C-873F-D02D1690AC5C}">
        <p15:threadingInfo xmlns:p15="http://schemas.microsoft.com/office/powerpoint/2012/main" timeZoneBias="420"/>
      </p:ext>
    </p:extLst>
  </p:cm>
  <p:cm authorId="0" dt="2026-05-12T15:35:54.130" idx="505">
    <p:pos x="5059" y="4330"/>
    <p:text>Support retrofits for MP programs</p:text>
    <p:extLst>
      <p:ext uri="{C676402C-5697-4E1C-873F-D02D1690AC5C}">
        <p15:threadingInfo xmlns:p15="http://schemas.microsoft.com/office/powerpoint/2012/main" timeZoneBias="420"/>
      </p:ext>
    </p:extLst>
  </p:cm>
  <p:cm authorId="0" dt="2026-06-04T18:16:31.651" idx="506">
    <p:pos x="6989" y="4330"/>
    <p:text>Would have blocked V68 EVT main due to performance issues on CCB block for Grape station.
Able to deliver Helios in several weeks with tons of design changes. invaluable partner to get things done quickly and a much bigger value to NPI.</p:text>
    <p:extLst>
      <p:ext uri="{C676402C-5697-4E1C-873F-D02D1690AC5C}">
        <p15:threadingInfo xmlns:p15="http://schemas.microsoft.com/office/powerpoint/2012/main" timeZoneBias="420"/>
      </p:ext>
    </p:extLst>
  </p:cm>
  <p:cm authorId="0" dt="2026-05-20T00:17:50.013" idx="507">
    <p:pos x="9153" y="4330"/>
    <p:text>From Capex SQE Alan:
- Critical specs are not required in quality check or not reasonable, eg belt roller height inspection position not defined, belt tension inspection point not defined, belt driver shaft runout speed not defined, no specific position defined for sensors position check in IPQC etc;
- GB name and version are not marked on GB, and assembly SOP/IPQC didn’t mention which GB is needed for specific steps;
- QA didn’t use latest measurement tool GO/No GO GB for conveyor width check;
- Grape grounding cable routing and screw fix method is not well defined and no IPQC re-do process after onsite retrofit during SQE onsite audit at CM.
- CM escalation on no dedicate onsite PM during LXKU LBU.
- unproven for ramp, need to monitor closely</p:text>
    <p:extLst>
      <p:ext uri="{C676402C-5697-4E1C-873F-D02D1690AC5C}">
        <p15:threadingInfo xmlns:p15="http://schemas.microsoft.com/office/powerpoint/2012/main" timeZoneBias="420"/>
      </p:ext>
    </p:extLst>
  </p:cm>
  <p:cm authorId="0" dt="2026-05-28T00:15:32.682" idx="508">
    <p:pos x="9233" y="4250"/>
    <p:text>From Rachel Shi: Aligned. In short, 1) their management level is short of ramp knowhow, cannot find the issues by themselves; 2) they have serious resource issue: many key roles like PM are new hiring or no rich Apple ramp experience; 3) technical PM is limited: the senior ones are strong, but only few are capable.</p:text>
    <p:extLst>
      <p:ext uri="{C676402C-5697-4E1C-873F-D02D1690AC5C}">
        <p15:threadingInfo xmlns:p15="http://schemas.microsoft.com/office/powerpoint/2012/main" timeZoneBias="420">
          <p15:parentCm authorId="0" idx="507"/>
        </p15:threadingInfo>
      </p:ext>
    </p:extLst>
  </p:cm>
  <p:cm authorId="0" dt="2026-06-04T18:15:21.821" idx="509">
    <p:pos x="9233" y="4250"/>
    <p:text>From Roy: https://jira.corp.apple.com/browse/HWECMP-6485
Bad support on CCD jig for Edge probe alignment. There is not SW support to this station, and the edge/feature capture is not accurate, which would have blocked EVT main build. iPD was able to implement a workaround to avoid blocking the build. Still waiting on corrective actions from PRM.</p:text>
    <p:extLst>
      <p:ext uri="{C676402C-5697-4E1C-873F-D02D1690AC5C}">
        <p15:threadingInfo xmlns:p15="http://schemas.microsoft.com/office/powerpoint/2012/main" timeZoneBias="420">
          <p15:parentCm authorId="0" idx="507"/>
        </p15:threadingInfo>
      </p:ext>
    </p:extLst>
  </p:cm>
  <p:cm authorId="0" dt="2026-05-12T15:35:54.130" idx="510">
    <p:pos x="5059" y="4516"/>
    <p:text>Support retrofits for MP programs</p:text>
    <p:extLst>
      <p:ext uri="{C676402C-5697-4E1C-873F-D02D1690AC5C}">
        <p15:threadingInfo xmlns:p15="http://schemas.microsoft.com/office/powerpoint/2012/main" timeZoneBias="420"/>
      </p:ext>
    </p:extLst>
  </p:cm>
  <p:cm authorId="0" dt="2026-05-13T22:24:26.244" idx="511">
    <p:pos x="7530" y="4516"/>
    <p:text>Cencorp failed to validate the PLC code with the Coreless script before shipping the fixture, despite repeated instructions to do so. This omission jeopardized the PLC code readiness detection. https://jira.apple.com/browse/HWECMP-6278. </p:text>
    <p:extLst>
      <p:ext uri="{C676402C-5697-4E1C-873F-D02D1690AC5C}">
        <p15:threadingInfo xmlns:p15="http://schemas.microsoft.com/office/powerpoint/2012/main" timeZoneBias="420"/>
      </p:ext>
    </p:extLst>
  </p:cm>
  <p:cm authorId="0" dt="2026-05-13T22:26:56.020" idx="512">
    <p:pos x="9153" y="4516"/>
    <p:text>Cencorp (HWECMP-6277) - FY25 Q4 (Jul-Sep) Cencorp's TPM failed to provide timely feedback on Beckhoff tuning and OQC status. This lack of communication put the fixture EIH and vendor site PLC validation plans at risk.</p:text>
    <p:extLst>
      <p:ext uri="{C676402C-5697-4E1C-873F-D02D1690AC5C}">
        <p15:threadingInfo xmlns:p15="http://schemas.microsoft.com/office/powerpoint/2012/main" timeZoneBias="420"/>
      </p:ext>
    </p:extLst>
  </p:cm>
  <p:cm authorId="0" dt="2026-05-12T15:35:54.130" idx="513">
    <p:pos x="5059" y="4703"/>
    <p:text>Support retrofits for MP programs</p:text>
    <p:extLst>
      <p:ext uri="{C676402C-5697-4E1C-873F-D02D1690AC5C}">
        <p15:threadingInfo xmlns:p15="http://schemas.microsoft.com/office/powerpoint/2012/main" timeZoneBias="420"/>
      </p:ext>
    </p:extLst>
  </p:cm>
  <p:cm authorId="0" dt="2026-05-12T19:43:09.708" idx="514">
    <p:pos x="6506" y="4703"/>
    <p:text>Performance issues pointing to significant capacity issues, suggest hold any engagements until performance improvement plan approved.</p:text>
    <p:extLst>
      <p:ext uri="{C676402C-5697-4E1C-873F-D02D1690AC5C}">
        <p15:threadingInfo xmlns:p15="http://schemas.microsoft.com/office/powerpoint/2012/main" timeZoneBias="420"/>
      </p:ext>
    </p:extLst>
  </p:cm>
  <p:cm authorId="0" dt="2026-05-20T19:00:31.666" idx="515">
    <p:pos x="6989" y="4703"/>
    <p:text>Falsified data. From Capex SQE Alan on 5/20/26: During SQE audit for phone program we found skip whole quality check for one tester, and input make data into quality check sheet, etc.</p:text>
    <p:extLst>
      <p:ext uri="{C676402C-5697-4E1C-873F-D02D1690AC5C}">
        <p15:threadingInfo xmlns:p15="http://schemas.microsoft.com/office/powerpoint/2012/main" timeZoneBias="420"/>
      </p:ext>
    </p:extLst>
  </p:cm>
  <p:cm authorId="0" dt="2026-05-12T19:53:30.889" idx="516">
    <p:pos x="7530" y="4703"/>
    <p:text>Multiple EIH and MBO bringup delays on V68, N50 programs resulting in delays.</p:text>
    <p:extLst>
      <p:ext uri="{C676402C-5697-4E1C-873F-D02D1690AC5C}">
        <p15:threadingInfo xmlns:p15="http://schemas.microsoft.com/office/powerpoint/2012/main" timeZoneBias="420"/>
      </p:ext>
    </p:extLst>
  </p:cm>
  <p:cm authorId="0" dt="2026-05-13T22:26:40.333" idx="517">
    <p:pos x="8071" y="4703"/>
    <p:text>Innorev (HWECMP-6404) - FY26 Q2 (Jan-Mar) Poor quality control on the Brontes Freja station (e.g., OGB bracket issues, wrong tray loading pins) slowed down fixture bring-up. These tray quality issues continuously delayed the EIH of OVB trays.
Quote: "...recently keep delaying the EIH of OVB trays..."
Innorev (HWECMP-6383) - FY26 Q1 (Oct-Dec) Innorev experienced multiple ETA delays for LDCM and QT1 fixtures, severely impacting the build schedule and missing the required P1 EIH date.
Quote: "P1 required EIH date 11/24... Innorev PM informed LDCM ETA delay... QT1 ETD delay to 12/8..."
Innorev (HWECMP-6274) - FY25 Q4 (Jul-Sep) Failure to perform OQC inspections as required, such as failing to separate signal and grounding wires, resulted in signal interference and a 1-2 day delay in the fixture's EIH.
Quote: "...resulting in a 1-2 day delay in the fixture's EIH?"
Innorev (HWECMP-6271) - FY25 Q4 (Jul-Sep) The QT/LDCM fixture experienced ETA and EIH delays tied to late deliveries from a material supplier.
Quote: "...8/20 required EIH, 9/1 delayed ETA..."
Innorev (HWECMP-6270) - FY25 Q4 (Jul-Sep) The iSD Thermal DOE fixture missed its required EIH and suffered ETA delays due to ongoing debugging and uncertain issues described by the vendor.
Quote: "...7/30 required EIH, 8/24 delayed ETA..."
Innorev (HWECMP-6269) - FY25 Q4 (Jul-Sep) No ETA or delivery status updates were provided for the J65 camera, causing it to miss its required EIH.
Quote: "...8/18 required EIH..."</p:text>
    <p:extLst>
      <p:ext uri="{C676402C-5697-4E1C-873F-D02D1690AC5C}">
        <p15:threadingInfo xmlns:p15="http://schemas.microsoft.com/office/powerpoint/2012/main" timeZoneBias="420"/>
      </p:ext>
    </p:extLst>
  </p:cm>
  <p:cm authorId="0" dt="2026-05-15T07:12:21.986" idx="518">
    <p:pos x="9153" y="4703"/>
    <p:text>Innorev (HWECMP-6405) - FY26 Q2 (Jan-Mar) A significant 53-day delay in delivering the Acktar chart for the J917/J920 P1 build occurred due to poor ETA management. While mitigated to avoid an immediate POC blocker, it posed a massive delay risk for subsequent builds.
Quote: "To avoid blocker for POC build..." and "...it is not a blocker yet it a huge delay..."
Innorev (HWECMP-6361) - FY26 Q1 (Oct-Dec) Poor delivery quality of the B790 FATP Freja station risked blocking the build. Issues included missing important components, poorly checked parts, and a failure to implement past lessons learned.
Quote: "FATP Freja delivery quality is very concerning, risk to block the build..."</p:text>
    <p:extLst>
      <p:ext uri="{C676402C-5697-4E1C-873F-D02D1690AC5C}">
        <p15:threadingInfo xmlns:p15="http://schemas.microsoft.com/office/powerpoint/2012/main" timeZoneBias="420"/>
      </p:ext>
    </p:extLst>
  </p:cm>
  <p:cm authorId="0" dt="2026-05-20T00:20:07.337" idx="519">
    <p:pos x="4094" y="4889"/>
    <p:text>Partner with Strong for CN-based fabrication for AE teams for 6+ months. Also partnering with Strong for retrofit kit fabrication on the V68 Magnolia station, where their fab + OSS would support on the ground with Pentamaster’s engineers. Partnership needs help from GSM to reduce lead times (current project has a 6-8 week lead time but help required to pull that in).</p:text>
    <p:extLst>
      <p:ext uri="{C676402C-5697-4E1C-873F-D02D1690AC5C}">
        <p15:threadingInfo xmlns:p15="http://schemas.microsoft.com/office/powerpoint/2012/main" timeZoneBias="420"/>
      </p:ext>
    </p:extLst>
  </p:cm>
  <p:cm authorId="0" dt="2026-05-20T00:20:07.337" idx="520">
    <p:pos x="4576" y="4889"/>
    <p:text>Similar to China, they have a local partnership that will make parts which have proven lead times through AE experience. Would also send their OSS/Engineers from Malaysia to support. </p:text>
    <p:extLst>
      <p:ext uri="{C676402C-5697-4E1C-873F-D02D1690AC5C}">
        <p15:threadingInfo xmlns:p15="http://schemas.microsoft.com/office/powerpoint/2012/main" timeZoneBias="420"/>
      </p:ext>
    </p:extLst>
  </p:cm>
  <p:cm authorId="0" dt="2026-05-12T15:42:27.278" idx="521">
    <p:pos x="5059" y="4889"/>
    <p:text>Promising automation/integration capability with growing strategic relevance</p:text>
    <p:extLst>
      <p:ext uri="{C676402C-5697-4E1C-873F-D02D1690AC5C}">
        <p15:threadingInfo xmlns:p15="http://schemas.microsoft.com/office/powerpoint/2012/main" timeZoneBias="420"/>
      </p:ext>
    </p:extLst>
  </p:cm>
  <p:cm authorId="0" dt="2026-05-22T02:17:27.328" idx="522">
    <p:pos x="5554" y="4889"/>
    <p:text>Have not yet completed a build cycle on their stations, recommend waiting and give a shadow set in the meantime.
Pentamaster turned down MP 2nd source for Chocolate due to bandwidth, demonstrates constraint.</p:text>
    <p:extLst>
      <p:ext uri="{C676402C-5697-4E1C-873F-D02D1690AC5C}">
        <p15:threadingInfo xmlns:p15="http://schemas.microsoft.com/office/powerpoint/2012/main" timeZoneBias="420"/>
      </p:ext>
    </p:extLst>
  </p:cm>
  <p:cm authorId="0" dt="2026-05-12T20:02:15.231" idx="523">
    <p:pos x="6989" y="4889"/>
    <p:text>No recent performance in TTM</p:text>
    <p:extLst>
      <p:ext uri="{C676402C-5697-4E1C-873F-D02D1690AC5C}">
        <p15:threadingInfo xmlns:p15="http://schemas.microsoft.com/office/powerpoint/2012/main" timeZoneBias="420"/>
      </p:ext>
    </p:extLst>
  </p:cm>
  <p:cm authorId="0" dt="2026-05-12T20:02:15.231" idx="524">
    <p:pos x="7530" y="4889"/>
    <p:text>No recent performance in TTM</p:text>
    <p:extLst>
      <p:ext uri="{C676402C-5697-4E1C-873F-D02D1690AC5C}">
        <p15:threadingInfo xmlns:p15="http://schemas.microsoft.com/office/powerpoint/2012/main" timeZoneBias="420"/>
      </p:ext>
    </p:extLst>
  </p:cm>
  <p:cm authorId="0" dt="2026-05-12T20:02:15.231" idx="525">
    <p:pos x="8612" y="4889"/>
    <p:text>No recent performance in TTM</p:text>
    <p:extLst>
      <p:ext uri="{C676402C-5697-4E1C-873F-D02D1690AC5C}">
        <p15:threadingInfo xmlns:p15="http://schemas.microsoft.com/office/powerpoint/2012/main" timeZoneBias="420"/>
      </p:ext>
    </p:extLst>
  </p:cm>
  <p:cm authorId="0" dt="2026-05-20T00:53:06.290" idx="526">
    <p:pos x="10405" y="4889"/>
    <p:text>Slow turnaround times but do have apple module experience. need to evaluate.</p:text>
    <p:extLst>
      <p:ext uri="{C676402C-5697-4E1C-873F-D02D1690AC5C}">
        <p15:threadingInfo xmlns:p15="http://schemas.microsoft.com/office/powerpoint/2012/main" timeZoneBias="420"/>
      </p:ext>
    </p:extLst>
  </p:cm>
  <p:cm authorId="1" dt="2026-05-19T11:17:57.452" idx="32">
    <p:pos x="1681" y="5084"/>
    <p:text>IVD is untested in quoting as of now; will need to gauge once RFPs shared</p:text>
    <p:extLst>
      <p:ext uri="{C676402C-5697-4E1C-873F-D02D1690AC5C}">
        <p15:threadingInfo xmlns:p15="http://schemas.microsoft.com/office/powerpoint/2012/main" timeZoneBias="420"/>
      </p:ext>
    </p:extLst>
  </p:cm>
  <p:cm authorId="0" dt="2026-05-22T18:43:00.572" idx="527">
    <p:pos x="1761" y="5004"/>
    <p:text>Future business success appears overly reliant on Apple Capex business, need to vet if they will be willing to work with us given size of opportunity.</p:text>
    <p:extLst>
      <p:ext uri="{C676402C-5697-4E1C-873F-D02D1690AC5C}">
        <p15:threadingInfo xmlns:p15="http://schemas.microsoft.com/office/powerpoint/2012/main" timeZoneBias="420">
          <p15:parentCm authorId="1" idx="32"/>
        </p15:threadingInfo>
      </p:ext>
    </p:extLst>
  </p:cm>
  <p:cm authorId="0" dt="2026-05-20T00:34:03.592" idx="528">
    <p:pos x="4094" y="5084"/>
    <p:text>Has a CN facility but is only bidding for non-CN work. Pending visit to this facility to understand what they do.</p:text>
    <p:extLst>
      <p:ext uri="{C676402C-5697-4E1C-873F-D02D1690AC5C}">
        <p15:threadingInfo xmlns:p15="http://schemas.microsoft.com/office/powerpoint/2012/main" timeZoneBias="420"/>
      </p:ext>
    </p:extLst>
  </p:cm>
  <p:cm authorId="0" dt="2026-05-20T00:34:38.714" idx="529">
    <p:pos x="4576" y="5084"/>
    <p:text>Would support IN from their VN facility.</p:text>
    <p:extLst>
      <p:ext uri="{C676402C-5697-4E1C-873F-D02D1690AC5C}">
        <p15:threadingInfo xmlns:p15="http://schemas.microsoft.com/office/powerpoint/2012/main" timeZoneBias="420"/>
      </p:ext>
    </p:extLst>
  </p:cm>
  <p:cm authorId="0" dt="2026-05-20T00:35:19.146" idx="530">
    <p:pos x="5059" y="5084"/>
    <p:text>Working on test stations for other customers. </p:text>
    <p:extLst>
      <p:ext uri="{C676402C-5697-4E1C-873F-D02D1690AC5C}">
        <p15:threadingInfo xmlns:p15="http://schemas.microsoft.com/office/powerpoint/2012/main" timeZoneBias="420"/>
      </p:ext>
    </p:extLst>
  </p:cm>
  <p:cm authorId="0" dt="2026-05-12T20:02:15.231" idx="531">
    <p:pos x="6989" y="5084"/>
    <p:text>No recent performance in TTM</p:text>
    <p:extLst>
      <p:ext uri="{C676402C-5697-4E1C-873F-D02D1690AC5C}">
        <p15:threadingInfo xmlns:p15="http://schemas.microsoft.com/office/powerpoint/2012/main" timeZoneBias="420"/>
      </p:ext>
    </p:extLst>
  </p:cm>
  <p:cm authorId="0" dt="2026-05-12T20:02:15.231" idx="532">
    <p:pos x="7530" y="5084"/>
    <p:text>No recent performance in TTM</p:text>
    <p:extLst>
      <p:ext uri="{C676402C-5697-4E1C-873F-D02D1690AC5C}">
        <p15:threadingInfo xmlns:p15="http://schemas.microsoft.com/office/powerpoint/2012/main" timeZoneBias="420"/>
      </p:ext>
    </p:extLst>
  </p:cm>
  <p:cm authorId="0" dt="2026-05-12T20:02:15.231" idx="533">
    <p:pos x="8612" y="5084"/>
    <p:text>No recent performance in TTM</p:text>
    <p:extLst>
      <p:ext uri="{C676402C-5697-4E1C-873F-D02D1690AC5C}">
        <p15:threadingInfo xmlns:p15="http://schemas.microsoft.com/office/powerpoint/2012/main" timeZoneBias="420"/>
      </p:ext>
    </p:extLst>
  </p:cm>
  <p:cm authorId="0" dt="2026-05-20T00:53:38.672" idx="534">
    <p:pos x="9970" y="5084"/>
    <p:text>Need to prove out technical capability. newly assembled team who has not worked together on complex projects.	</p:text>
    <p:extLst>
      <p:ext uri="{C676402C-5697-4E1C-873F-D02D1690AC5C}">
        <p15:threadingInfo xmlns:p15="http://schemas.microsoft.com/office/powerpoint/2012/main" timeZoneBias="420"/>
      </p:ext>
    </p:extLst>
  </p:cm>
  <p:cm authorId="0" dt="2026-05-20T00:53:38.672" idx="535">
    <p:pos x="10405" y="5084"/>
    <p:text>Need to prove out technical capability. newly assembled team who has not worked together on complex projects.	</p:text>
    <p:extLst>
      <p:ext uri="{C676402C-5697-4E1C-873F-D02D1690AC5C}">
        <p15:threadingInfo xmlns:p15="http://schemas.microsoft.com/office/powerpoint/2012/main" timeZoneBias="420"/>
      </p:ext>
    </p:extLst>
  </p:cm>
  <p:cm authorId="0" dt="2026-05-12T15:43:49.417" idx="536">
    <p:pos x="3128" y="5287"/>
    <p:text>CN/VN support strategy not vetted, not likely to clear by deadline</p:text>
    <p:extLst>
      <p:ext uri="{C676402C-5697-4E1C-873F-D02D1690AC5C}">
        <p15:threadingInfo xmlns:p15="http://schemas.microsoft.com/office/powerpoint/2012/main" timeZoneBias="420"/>
      </p:ext>
    </p:extLst>
  </p:cm>
  <p:cm authorId="1" dt="2026-05-19T11:20:19.982" idx="33">
    <p:pos x="3611" y="5287"/>
    <p:text>Partnership manufacturing sites; unlikely to be used by Apple</p:text>
    <p:extLst>
      <p:ext uri="{C676402C-5697-4E1C-873F-D02D1690AC5C}">
        <p15:threadingInfo xmlns:p15="http://schemas.microsoft.com/office/powerpoint/2012/main" timeZoneBias="420"/>
      </p:ext>
    </p:extLst>
  </p:cm>
  <p:cm authorId="0" dt="2026-05-13T21:16:51.780" idx="537">
    <p:pos x="4094" y="5287"/>
    <p:text>No existing infrastructure in VN/CN for HWTE to validate.</p:text>
    <p:extLst>
      <p:ext uri="{C676402C-5697-4E1C-873F-D02D1690AC5C}">
        <p15:threadingInfo xmlns:p15="http://schemas.microsoft.com/office/powerpoint/2012/main" timeZoneBias="420"/>
      </p:ext>
    </p:extLst>
  </p:cm>
  <p:cm authorId="0" dt="2026-05-13T21:16:51.780" idx="538">
    <p:pos x="5059" y="5287"/>
    <p:text>No existing infrastructure in VN/CN for HWTE to validate.</p:text>
    <p:extLst>
      <p:ext uri="{C676402C-5697-4E1C-873F-D02D1690AC5C}">
        <p15:threadingInfo xmlns:p15="http://schemas.microsoft.com/office/powerpoint/2012/main" timeZoneBias="420"/>
      </p:ext>
    </p:extLst>
  </p:cm>
  <p:cm authorId="0" dt="2026-05-12T20:11:44.560" idx="539">
    <p:pos x="5554" y="5287"/>
    <p:text>Doing conveyors as part of ramp, need YK to confirm performance</p:text>
    <p:extLst>
      <p:ext uri="{C676402C-5697-4E1C-873F-D02D1690AC5C}">
        <p15:threadingInfo xmlns:p15="http://schemas.microsoft.com/office/powerpoint/2012/main" timeZoneBias="420"/>
      </p:ext>
    </p:extLst>
  </p:cm>
  <p:cm authorId="0" dt="2026-05-12T20:02:15.231" idx="540">
    <p:pos x="7530" y="5287"/>
    <p:text>NPI: No recent performance in TTM
MP: VVDN do has issue. Magnolia cannot even setup running at India. India fall back to standalone. We have concern for VVDN for conveyor. They block station bringup Station even cannot start run. Cannot functional. With pull all our engineering resource, still cannot function </p:text>
    <p:extLst>
      <p:ext uri="{C676402C-5697-4E1C-873F-D02D1690AC5C}">
        <p15:threadingInfo xmlns:p15="http://schemas.microsoft.com/office/powerpoint/2012/main" timeZoneBias="420"/>
      </p:ext>
    </p:extLst>
  </p:cm>
  <p:cm authorId="0" dt="2026-05-15T07:08:37.727" idx="541">
    <p:pos x="8612" y="5287"/>
    <p:text>Need to confirm</p:text>
    <p:extLst>
      <p:ext uri="{C676402C-5697-4E1C-873F-D02D1690AC5C}">
        <p15:threadingInfo xmlns:p15="http://schemas.microsoft.com/office/powerpoint/2012/main" timeZoneBias="420"/>
      </p:ext>
    </p:extLst>
  </p:cm>
  <p:cm authorId="0" dt="2026-05-12T15:43:54.140" idx="542">
    <p:pos x="3128" y="5490"/>
    <p:text>CN/VN support strategy not vetted, not likely to clear by deadline</p:text>
    <p:extLst>
      <p:ext uri="{C676402C-5697-4E1C-873F-D02D1690AC5C}">
        <p15:threadingInfo xmlns:p15="http://schemas.microsoft.com/office/powerpoint/2012/main" timeZoneBias="420"/>
      </p:ext>
    </p:extLst>
  </p:cm>
  <p:cm authorId="0" dt="2026-05-12T15:44:09.216" idx="543">
    <p:pos x="3611" y="5490"/>
    <p:text>CN/VN support strategy not vetted, not likely to clear by deadline</p:text>
    <p:extLst>
      <p:ext uri="{C676402C-5697-4E1C-873F-D02D1690AC5C}">
        <p15:threadingInfo xmlns:p15="http://schemas.microsoft.com/office/powerpoint/2012/main" timeZoneBias="420"/>
      </p:ext>
    </p:extLst>
  </p:cm>
  <p:cm authorId="0" dt="2026-05-13T21:16:51.780" idx="544">
    <p:pos x="4094" y="5490"/>
    <p:text>No existing infrastructure in VN/CN for HWTE to validate.</p:text>
    <p:extLst>
      <p:ext uri="{C676402C-5697-4E1C-873F-D02D1690AC5C}">
        <p15:threadingInfo xmlns:p15="http://schemas.microsoft.com/office/powerpoint/2012/main" timeZoneBias="420"/>
      </p:ext>
    </p:extLst>
  </p:cm>
  <p:cm authorId="0" dt="2026-05-13T21:16:51.780" idx="545">
    <p:pos x="5059" y="5490"/>
    <p:text>No existing infrastructure in VN/CN for HWTE to validate.</p:text>
    <p:extLst>
      <p:ext uri="{C676402C-5697-4E1C-873F-D02D1690AC5C}">
        <p15:threadingInfo xmlns:p15="http://schemas.microsoft.com/office/powerpoint/2012/main" timeZoneBias="420"/>
      </p:ext>
    </p:extLst>
  </p:cm>
  <p:cm authorId="0" dt="2026-05-12T20:13:41.808" idx="546">
    <p:pos x="5554" y="5490"/>
    <p:text>No plan to qualify for conveyor projects due to capability limitations</p:text>
    <p:extLst>
      <p:ext uri="{C676402C-5697-4E1C-873F-D02D1690AC5C}">
        <p15:threadingInfo xmlns:p15="http://schemas.microsoft.com/office/powerpoint/2012/main" timeZoneBias="420"/>
      </p:ext>
    </p:extLst>
  </p:cm>
  <p:cm authorId="0" dt="2026-05-15T07:08:37.727" idx="547">
    <p:pos x="8612" y="5490"/>
    <p:text>Need to confirm</p:text>
    <p:extLst>
      <p:ext uri="{C676402C-5697-4E1C-873F-D02D1690AC5C}">
        <p15:threadingInfo xmlns:p15="http://schemas.microsoft.com/office/powerpoint/2012/main" timeZoneBias="420"/>
      </p:ext>
    </p:extLst>
  </p:cm>
  <p:cm authorId="0" dt="2026-05-12T15:43:49.417" idx="548">
    <p:pos x="3128" y="5675"/>
    <p:text>CN/VN support strategy not vetted, not likely to clear by deadline</p:text>
    <p:extLst>
      <p:ext uri="{C676402C-5697-4E1C-873F-D02D1690AC5C}">
        <p15:threadingInfo xmlns:p15="http://schemas.microsoft.com/office/powerpoint/2012/main" timeZoneBias="420"/>
      </p:ext>
    </p:extLst>
  </p:cm>
  <p:cm authorId="0" dt="2026-05-12T15:43:49.417" idx="549">
    <p:pos x="3611" y="5675"/>
    <p:text>CN/VN support strategy not vetted, not likely to clear by deadline</p:text>
    <p:extLst>
      <p:ext uri="{C676402C-5697-4E1C-873F-D02D1690AC5C}">
        <p15:threadingInfo xmlns:p15="http://schemas.microsoft.com/office/powerpoint/2012/main" timeZoneBias="420"/>
      </p:ext>
    </p:extLst>
  </p:cm>
  <p:cm authorId="0" dt="2026-05-13T21:16:51.780" idx="550">
    <p:pos x="4094" y="5675"/>
    <p:text>No existing infrastructure in VN/CN for HWTE to validate.</p:text>
    <p:extLst>
      <p:ext uri="{C676402C-5697-4E1C-873F-D02D1690AC5C}">
        <p15:threadingInfo xmlns:p15="http://schemas.microsoft.com/office/powerpoint/2012/main" timeZoneBias="420"/>
      </p:ext>
    </p:extLst>
  </p:cm>
  <p:cm authorId="0" dt="2026-05-13T21:16:51.780" idx="551">
    <p:pos x="5059" y="5675"/>
    <p:text>No existing infrastructure in VN/CN for HWTE to validate.</p:text>
    <p:extLst>
      <p:ext uri="{C676402C-5697-4E1C-873F-D02D1690AC5C}">
        <p15:threadingInfo xmlns:p15="http://schemas.microsoft.com/office/powerpoint/2012/main" timeZoneBias="420"/>
      </p:ext>
    </p:extLst>
  </p:cm>
  <p:cm authorId="0" dt="2026-05-12T20:20:14.345" idx="552">
    <p:pos x="6506" y="5675"/>
    <p:text>Performance issues in NPI point to limited bandwidth for team to focus on project.</p:text>
    <p:extLst>
      <p:ext uri="{C676402C-5697-4E1C-873F-D02D1690AC5C}">
        <p15:threadingInfo xmlns:p15="http://schemas.microsoft.com/office/powerpoint/2012/main" timeZoneBias="420"/>
      </p:ext>
    </p:extLst>
  </p:cm>
  <p:cm authorId="0" dt="2026-05-12T20:20:35.597" idx="553">
    <p:pos x="6989" y="5675"/>
    <p:text>Multiple line-down issues in MP and NPI</p:text>
    <p:extLst>
      <p:ext uri="{C676402C-5697-4E1C-873F-D02D1690AC5C}">
        <p15:threadingInfo xmlns:p15="http://schemas.microsoft.com/office/powerpoint/2012/main" timeZoneBias="420"/>
      </p:ext>
    </p:extLst>
  </p:cm>
  <p:cm authorId="0" dt="2026-05-12T20:20:35.597" idx="554">
    <p:pos x="7530" y="5675"/>
    <p:text>Multiple line-down issues in MP and NPI</p:text>
    <p:extLst>
      <p:ext uri="{C676402C-5697-4E1C-873F-D02D1690AC5C}">
        <p15:threadingInfo xmlns:p15="http://schemas.microsoft.com/office/powerpoint/2012/main" timeZoneBias="420"/>
      </p:ext>
    </p:extLst>
  </p:cm>
  <p:cm authorId="0" dt="2026-05-15T07:08:37.727" idx="555">
    <p:pos x="8612" y="5675"/>
    <p:text>Need to confirm</p:text>
    <p:extLst>
      <p:ext uri="{C676402C-5697-4E1C-873F-D02D1690AC5C}">
        <p15:threadingInfo xmlns:p15="http://schemas.microsoft.com/office/powerpoint/2012/main" timeZoneBias="420"/>
      </p:ext>
    </p:extLst>
  </p:cm>
  <p:cm authorId="0" dt="2026-05-12T20:16:03.969" idx="556">
    <p:pos x="4094" y="5878"/>
    <p:text>Not KO’ed since Anora was not identified as a high-priority SI.</p:text>
    <p:extLst>
      <p:ext uri="{C676402C-5697-4E1C-873F-D02D1690AC5C}">
        <p15:threadingInfo xmlns:p15="http://schemas.microsoft.com/office/powerpoint/2012/main" timeZoneBias="420"/>
      </p:ext>
    </p:extLst>
  </p:cm>
  <p:cm authorId="0" dt="2026-05-12T20:16:03.969" idx="557">
    <p:pos x="5554" y="5878"/>
    <p:text>Not KO’ed since Anora was not identified as a high-priority SI.</p:text>
    <p:extLst>
      <p:ext uri="{C676402C-5697-4E1C-873F-D02D1690AC5C}">
        <p15:threadingInfo xmlns:p15="http://schemas.microsoft.com/office/powerpoint/2012/main" timeZoneBias="420"/>
      </p:ext>
    </p:extLst>
  </p:cm>
  <p:cm authorId="0" dt="2026-05-12T20:17:13.365" idx="558">
    <p:pos x="5972" y="5878"/>
    <p:text>GSM to confirm</p:text>
    <p:extLst>
      <p:ext uri="{C676402C-5697-4E1C-873F-D02D1690AC5C}">
        <p15:threadingInfo xmlns:p15="http://schemas.microsoft.com/office/powerpoint/2012/main" timeZoneBias="420"/>
      </p:ext>
    </p:extLst>
  </p:cm>
  <p:cm authorId="0" dt="2026-05-12T20:17:13.365" idx="559">
    <p:pos x="6506" y="5878"/>
    <p:text>GSM to confirm</p:text>
    <p:extLst>
      <p:ext uri="{C676402C-5697-4E1C-873F-D02D1690AC5C}">
        <p15:threadingInfo xmlns:p15="http://schemas.microsoft.com/office/powerpoint/2012/main" timeZoneBias="420"/>
      </p:ext>
    </p:extLst>
  </p:cm>
  <p:cm authorId="0" dt="2026-05-12T20:02:15.231" idx="560">
    <p:pos x="6989" y="5878"/>
    <p:text>No recent performance in TTM</p:text>
    <p:extLst>
      <p:ext uri="{C676402C-5697-4E1C-873F-D02D1690AC5C}">
        <p15:threadingInfo xmlns:p15="http://schemas.microsoft.com/office/powerpoint/2012/main" timeZoneBias="420"/>
      </p:ext>
    </p:extLst>
  </p:cm>
  <p:cm authorId="0" dt="2026-05-12T20:02:15.231" idx="561">
    <p:pos x="7530" y="5878"/>
    <p:text>No recent performance in TTM</p:text>
    <p:extLst>
      <p:ext uri="{C676402C-5697-4E1C-873F-D02D1690AC5C}">
        <p15:threadingInfo xmlns:p15="http://schemas.microsoft.com/office/powerpoint/2012/main" timeZoneBias="420"/>
      </p:ext>
    </p:extLst>
  </p:cm>
  <p:cm authorId="0" dt="2026-05-12T20:02:15.231" idx="562">
    <p:pos x="8071" y="5878"/>
    <p:text>No recent performance in TTM</p:text>
    <p:extLst>
      <p:ext uri="{C676402C-5697-4E1C-873F-D02D1690AC5C}">
        <p15:threadingInfo xmlns:p15="http://schemas.microsoft.com/office/powerpoint/2012/main" timeZoneBias="420"/>
      </p:ext>
    </p:extLst>
  </p:cm>
  <p:cm authorId="0" dt="2026-05-12T20:02:15.231" idx="563">
    <p:pos x="8612" y="5878"/>
    <p:text>No recent performance in TTM</p:text>
    <p:extLst>
      <p:ext uri="{C676402C-5697-4E1C-873F-D02D1690AC5C}">
        <p15:threadingInfo xmlns:p15="http://schemas.microsoft.com/office/powerpoint/2012/main" timeZoneBias="420"/>
      </p:ext>
    </p:extLst>
  </p:cm>
  <p:cm authorId="0" dt="2026-05-12T20:02:15.231" idx="564">
    <p:pos x="9153" y="5878"/>
    <p:text>No recent performance in TTM</p:text>
    <p:extLst>
      <p:ext uri="{C676402C-5697-4E1C-873F-D02D1690AC5C}">
        <p15:threadingInfo xmlns:p15="http://schemas.microsoft.com/office/powerpoint/2012/main" timeZoneBias="420"/>
      </p:ext>
    </p:extLst>
  </p:cm>
  <p:cm authorId="1" dt="2026-05-19T11:22:38.531" idx="34">
    <p:pos x="1681" y="6073"/>
    <p:text>Redacting on prior commitments and declining RFPs</p:text>
    <p:extLst>
      <p:ext uri="{C676402C-5697-4E1C-873F-D02D1690AC5C}">
        <p15:threadingInfo xmlns:p15="http://schemas.microsoft.com/office/powerpoint/2012/main" timeZoneBias="420"/>
      </p:ext>
    </p:extLst>
  </p:cm>
  <p:cm authorId="0" dt="2026-05-12T20:05:16.904" idx="565">
    <p:pos x="4094" y="6073"/>
    <p:text>Pass but audit seems to indicate they would fail commercials.</p:text>
    <p:extLst>
      <p:ext uri="{C676402C-5697-4E1C-873F-D02D1690AC5C}">
        <p15:threadingInfo xmlns:p15="http://schemas.microsoft.com/office/powerpoint/2012/main" timeZoneBias="420"/>
      </p:ext>
    </p:extLst>
  </p:cm>
  <p:cm authorId="1" dt="2026-05-19T11:23:37.583" idx="35">
    <p:pos x="5972" y="6073"/>
    <p:text>Redacting on prior commitments and declining RFPs</p:text>
    <p:extLst>
      <p:ext uri="{C676402C-5697-4E1C-873F-D02D1690AC5C}">
        <p15:threadingInfo xmlns:p15="http://schemas.microsoft.com/office/powerpoint/2012/main" timeZoneBias="420"/>
      </p:ext>
    </p:extLst>
  </p:cm>
  <p:cm authorId="0" dt="2026-05-12T20:02:15.231" idx="566">
    <p:pos x="6989" y="6073"/>
    <p:text>No recent performance in TTM</p:text>
    <p:extLst>
      <p:ext uri="{C676402C-5697-4E1C-873F-D02D1690AC5C}">
        <p15:threadingInfo xmlns:p15="http://schemas.microsoft.com/office/powerpoint/2012/main" timeZoneBias="420"/>
      </p:ext>
    </p:extLst>
  </p:cm>
  <p:cm authorId="0" dt="2026-05-12T20:02:15.231" idx="567">
    <p:pos x="7530" y="6073"/>
    <p:text>No recent performance in TTM</p:text>
    <p:extLst>
      <p:ext uri="{C676402C-5697-4E1C-873F-D02D1690AC5C}">
        <p15:threadingInfo xmlns:p15="http://schemas.microsoft.com/office/powerpoint/2012/main" timeZoneBias="420"/>
      </p:ext>
    </p:extLst>
  </p:cm>
  <p:cm authorId="0" dt="2026-05-12T20:02:15.231" idx="568">
    <p:pos x="8071" y="6073"/>
    <p:text>No recent performance in TTM</p:text>
    <p:extLst>
      <p:ext uri="{C676402C-5697-4E1C-873F-D02D1690AC5C}">
        <p15:threadingInfo xmlns:p15="http://schemas.microsoft.com/office/powerpoint/2012/main" timeZoneBias="420"/>
      </p:ext>
    </p:extLst>
  </p:cm>
  <p:cm authorId="0" dt="2026-05-12T20:02:15.231" idx="569">
    <p:pos x="8612" y="6073"/>
    <p:text>No recent performance in TTM</p:text>
    <p:extLst>
      <p:ext uri="{C676402C-5697-4E1C-873F-D02D1690AC5C}">
        <p15:threadingInfo xmlns:p15="http://schemas.microsoft.com/office/powerpoint/2012/main" timeZoneBias="420"/>
      </p:ext>
    </p:extLst>
  </p:cm>
  <p:cm authorId="0" dt="2026-05-12T20:02:15.231" idx="570">
    <p:pos x="9153" y="6073"/>
    <p:text>No recent performance in TTM</p:text>
    <p:extLst>
      <p:ext uri="{C676402C-5697-4E1C-873F-D02D1690AC5C}">
        <p15:threadingInfo xmlns:p15="http://schemas.microsoft.com/office/powerpoint/2012/main" timeZoneBias="420"/>
      </p:ext>
    </p:extLst>
  </p:cm>
  <p:cm authorId="1" dt="2026-05-19T11:24:21.777" idx="36">
    <p:pos x="11444" y="6073"/>
    <p:text>Declining RFPs currently</p:text>
    <p:extLst>
      <p:ext uri="{C676402C-5697-4E1C-873F-D02D1690AC5C}">
        <p15:threadingInfo xmlns:p15="http://schemas.microsoft.com/office/powerpoint/2012/main" timeZoneBias="420"/>
      </p:ext>
    </p:extLst>
  </p:cm>
  <p:cm authorId="1" dt="2026-05-19T11:54:33.441" idx="37">
    <p:pos x="1681" y="6259"/>
    <p:text>Not historically competitive in VPG</p:text>
    <p:extLst>
      <p:ext uri="{C676402C-5697-4E1C-873F-D02D1690AC5C}">
        <p15:threadingInfo xmlns:p15="http://schemas.microsoft.com/office/powerpoint/2012/main" timeZoneBias="420"/>
      </p:ext>
    </p:extLst>
  </p:cm>
  <p:cm authorId="0" dt="2026-05-12T20:18:12.677" idx="571">
    <p:pos x="4094" y="6259"/>
    <p:text>gated by GSM Ok2Engage</p:text>
    <p:extLst>
      <p:ext uri="{C676402C-5697-4E1C-873F-D02D1690AC5C}">
        <p15:threadingInfo xmlns:p15="http://schemas.microsoft.com/office/powerpoint/2012/main" timeZoneBias="420"/>
      </p:ext>
    </p:extLst>
  </p:cm>
  <p:cm authorId="0" dt="2026-05-12T20:18:12.677" idx="572">
    <p:pos x="5554" y="6259"/>
    <p:text>gated by GSM Ok2Engage</p:text>
    <p:extLst>
      <p:ext uri="{C676402C-5697-4E1C-873F-D02D1690AC5C}">
        <p15:threadingInfo xmlns:p15="http://schemas.microsoft.com/office/powerpoint/2012/main" timeZoneBias="420"/>
      </p:ext>
    </p:extLst>
  </p:cm>
  <p:cm authorId="0" dt="2026-05-12T20:18:12.677" idx="573">
    <p:pos x="6506" y="6259"/>
    <p:text>gated by GSM Ok2Engage</p:text>
    <p:extLst>
      <p:ext uri="{C676402C-5697-4E1C-873F-D02D1690AC5C}">
        <p15:threadingInfo xmlns:p15="http://schemas.microsoft.com/office/powerpoint/2012/main" timeZoneBias="420"/>
      </p:ext>
    </p:extLst>
  </p:cm>
  <p:cm authorId="0" dt="2026-05-12T20:18:12.677" idx="574">
    <p:pos x="6989" y="6259"/>
    <p:text>gated by GSM Ok2Engage</p:text>
    <p:extLst>
      <p:ext uri="{C676402C-5697-4E1C-873F-D02D1690AC5C}">
        <p15:threadingInfo xmlns:p15="http://schemas.microsoft.com/office/powerpoint/2012/main" timeZoneBias="420"/>
      </p:ext>
    </p:extLst>
  </p:cm>
  <p:cm authorId="0" dt="2026-05-12T20:18:12.677" idx="575">
    <p:pos x="7530" y="6259"/>
    <p:text>gated by GSM Ok2Engage</p:text>
    <p:extLst>
      <p:ext uri="{C676402C-5697-4E1C-873F-D02D1690AC5C}">
        <p15:threadingInfo xmlns:p15="http://schemas.microsoft.com/office/powerpoint/2012/main" timeZoneBias="420"/>
      </p:ext>
    </p:extLst>
  </p:cm>
  <p:cm authorId="0" dt="2026-05-12T20:02:15.231" idx="576">
    <p:pos x="8071" y="6259"/>
    <p:text>No recent performance in TTM</p:text>
    <p:extLst>
      <p:ext uri="{C676402C-5697-4E1C-873F-D02D1690AC5C}">
        <p15:threadingInfo xmlns:p15="http://schemas.microsoft.com/office/powerpoint/2012/main" timeZoneBias="420"/>
      </p:ext>
    </p:extLst>
  </p:cm>
  <p:cm authorId="0" dt="2026-05-12T20:02:15.231" idx="577">
    <p:pos x="8612" y="6259"/>
    <p:text>No recent performance in TTM</p:text>
    <p:extLst>
      <p:ext uri="{C676402C-5697-4E1C-873F-D02D1690AC5C}">
        <p15:threadingInfo xmlns:p15="http://schemas.microsoft.com/office/powerpoint/2012/main" timeZoneBias="420"/>
      </p:ext>
    </p:extLst>
  </p:cm>
  <p:cm authorId="0" dt="2026-05-12T20:02:15.231" idx="578">
    <p:pos x="9153" y="6259"/>
    <p:text>No recent performance in TTM</p:text>
    <p:extLst>
      <p:ext uri="{C676402C-5697-4E1C-873F-D02D1690AC5C}">
        <p15:threadingInfo xmlns:p15="http://schemas.microsoft.com/office/powerpoint/2012/main" timeZoneBias="420"/>
      </p:ext>
    </p:extLst>
  </p:cm>
  <p:cm authorId="0" dt="2026-05-12T20:18:12.677" idx="579">
    <p:pos x="9557" y="6259"/>
    <p:text>gated by GSM Ok2Engage</p:text>
    <p:extLst>
      <p:ext uri="{C676402C-5697-4E1C-873F-D02D1690AC5C}">
        <p15:threadingInfo xmlns:p15="http://schemas.microsoft.com/office/powerpoint/2012/main" timeZoneBias="420"/>
      </p:ext>
    </p:extLst>
  </p:cm>
  <p:cm authorId="0" dt="2026-05-12T20:18:12.677" idx="580">
    <p:pos x="9970" y="6259"/>
    <p:text>gated by GSM Ok2Engage</p:text>
    <p:extLst>
      <p:ext uri="{C676402C-5697-4E1C-873F-D02D1690AC5C}">
        <p15:threadingInfo xmlns:p15="http://schemas.microsoft.com/office/powerpoint/2012/main" timeZoneBias="420"/>
      </p:ext>
    </p:extLst>
  </p:cm>
  <p:cm authorId="0" dt="2026-05-12T20:18:12.677" idx="581">
    <p:pos x="10405" y="6259"/>
    <p:text>gated by GSM Ok2Engage</p:text>
    <p:extLst>
      <p:ext uri="{C676402C-5697-4E1C-873F-D02D1690AC5C}">
        <p15:threadingInfo xmlns:p15="http://schemas.microsoft.com/office/powerpoint/2012/main" timeZoneBias="420"/>
      </p:ext>
    </p:extLst>
  </p:cm>
  <p:cm authorId="1" dt="2026-05-19T11:44:09.068" idx="38">
    <p:pos x="1198" y="6454"/>
    <p:text>ARPA and EDPA still in negotiation</p:text>
    <p:extLst>
      <p:ext uri="{C676402C-5697-4E1C-873F-D02D1690AC5C}">
        <p15:threadingInfo xmlns:p15="http://schemas.microsoft.com/office/powerpoint/2012/main" timeZoneBias="420"/>
      </p:ext>
    </p:extLst>
  </p:cm>
  <p:cm authorId="0" dt="2026-05-12T20:18:12.677" idx="582">
    <p:pos x="1681" y="6454"/>
    <p:text>pending GSM feedback</p:text>
    <p:extLst>
      <p:ext uri="{C676402C-5697-4E1C-873F-D02D1690AC5C}">
        <p15:threadingInfo xmlns:p15="http://schemas.microsoft.com/office/powerpoint/2012/main" timeZoneBias="420"/>
      </p:ext>
    </p:extLst>
  </p:cm>
  <p:cm authorId="0" dt="2026-05-12T20:18:12.677" idx="583">
    <p:pos x="4094" y="6454"/>
    <p:text>gated by GSM Ok2Engage</p:text>
    <p:extLst>
      <p:ext uri="{C676402C-5697-4E1C-873F-D02D1690AC5C}">
        <p15:threadingInfo xmlns:p15="http://schemas.microsoft.com/office/powerpoint/2012/main" timeZoneBias="420"/>
      </p:ext>
    </p:extLst>
  </p:cm>
  <p:cm authorId="0" dt="2026-05-12T20:18:12.677" idx="584">
    <p:pos x="5554" y="6454"/>
    <p:text>gated by GSM Ok2Engage</p:text>
    <p:extLst>
      <p:ext uri="{C676402C-5697-4E1C-873F-D02D1690AC5C}">
        <p15:threadingInfo xmlns:p15="http://schemas.microsoft.com/office/powerpoint/2012/main" timeZoneBias="420"/>
      </p:ext>
    </p:extLst>
  </p:cm>
  <p:cm authorId="0" dt="2026-05-12T20:18:12.677" idx="585">
    <p:pos x="5972" y="6454"/>
    <p:text>gated by GSM Ok2Engage</p:text>
    <p:extLst>
      <p:ext uri="{C676402C-5697-4E1C-873F-D02D1690AC5C}">
        <p15:threadingInfo xmlns:p15="http://schemas.microsoft.com/office/powerpoint/2012/main" timeZoneBias="420"/>
      </p:ext>
    </p:extLst>
  </p:cm>
  <p:cm authorId="0" dt="2026-05-12T20:18:12.677" idx="586">
    <p:pos x="6506" y="6454"/>
    <p:text>gated by GSM Ok2Engage</p:text>
    <p:extLst>
      <p:ext uri="{C676402C-5697-4E1C-873F-D02D1690AC5C}">
        <p15:threadingInfo xmlns:p15="http://schemas.microsoft.com/office/powerpoint/2012/main" timeZoneBias="420"/>
      </p:ext>
    </p:extLst>
  </p:cm>
  <p:cm authorId="0" dt="2026-05-12T20:18:12.677" idx="587">
    <p:pos x="6989" y="6454"/>
    <p:text>gated by GSM Ok2Engage</p:text>
    <p:extLst>
      <p:ext uri="{C676402C-5697-4E1C-873F-D02D1690AC5C}">
        <p15:threadingInfo xmlns:p15="http://schemas.microsoft.com/office/powerpoint/2012/main" timeZoneBias="420"/>
      </p:ext>
    </p:extLst>
  </p:cm>
  <p:cm authorId="0" dt="2026-05-12T20:18:12.677" idx="588">
    <p:pos x="7530" y="6454"/>
    <p:text>gated by GSM Ok2Engage</p:text>
    <p:extLst>
      <p:ext uri="{C676402C-5697-4E1C-873F-D02D1690AC5C}">
        <p15:threadingInfo xmlns:p15="http://schemas.microsoft.com/office/powerpoint/2012/main" timeZoneBias="420"/>
      </p:ext>
    </p:extLst>
  </p:cm>
  <p:cm authorId="0" dt="2026-05-12T20:02:15.231" idx="589">
    <p:pos x="8071" y="6454"/>
    <p:text>No recent performance in TTM</p:text>
    <p:extLst>
      <p:ext uri="{C676402C-5697-4E1C-873F-D02D1690AC5C}">
        <p15:threadingInfo xmlns:p15="http://schemas.microsoft.com/office/powerpoint/2012/main" timeZoneBias="420"/>
      </p:ext>
    </p:extLst>
  </p:cm>
  <p:cm authorId="0" dt="2026-05-12T20:02:15.231" idx="590">
    <p:pos x="8612" y="6454"/>
    <p:text>No recent performance in TTM</p:text>
    <p:extLst>
      <p:ext uri="{C676402C-5697-4E1C-873F-D02D1690AC5C}">
        <p15:threadingInfo xmlns:p15="http://schemas.microsoft.com/office/powerpoint/2012/main" timeZoneBias="420"/>
      </p:ext>
    </p:extLst>
  </p:cm>
  <p:cm authorId="0" dt="2026-05-12T20:02:15.231" idx="591">
    <p:pos x="9153" y="6454"/>
    <p:text>No recent performance in TTM</p:text>
    <p:extLst>
      <p:ext uri="{C676402C-5697-4E1C-873F-D02D1690AC5C}">
        <p15:threadingInfo xmlns:p15="http://schemas.microsoft.com/office/powerpoint/2012/main" timeZoneBias="420"/>
      </p:ext>
    </p:extLst>
  </p:cm>
  <p:cm authorId="0" dt="2026-05-12T20:18:12.677" idx="592">
    <p:pos x="9557" y="6454"/>
    <p:text>gated by GSM Ok2Engage</p:text>
    <p:extLst>
      <p:ext uri="{C676402C-5697-4E1C-873F-D02D1690AC5C}">
        <p15:threadingInfo xmlns:p15="http://schemas.microsoft.com/office/powerpoint/2012/main" timeZoneBias="420"/>
      </p:ext>
    </p:extLst>
  </p:cm>
  <p:cm authorId="0" dt="2026-05-12T20:18:12.677" idx="593">
    <p:pos x="9970" y="6454"/>
    <p:text>gated by GSM Ok2Engage</p:text>
    <p:extLst>
      <p:ext uri="{C676402C-5697-4E1C-873F-D02D1690AC5C}">
        <p15:threadingInfo xmlns:p15="http://schemas.microsoft.com/office/powerpoint/2012/main" timeZoneBias="420"/>
      </p:ext>
    </p:extLst>
  </p:cm>
  <p:cm authorId="0" dt="2026-05-12T20:18:12.677" idx="594">
    <p:pos x="10405" y="6454"/>
    <p:text>gated by GSM Ok2Engage</p:text>
    <p:extLst>
      <p:ext uri="{C676402C-5697-4E1C-873F-D02D1690AC5C}">
        <p15:threadingInfo xmlns:p15="http://schemas.microsoft.com/office/powerpoint/2012/main" timeZoneBias="420"/>
      </p:ext>
    </p:extLst>
  </p:cm>
  <p:cm authorId="0" dt="2026-05-12T20:18:12.677" idx="595">
    <p:pos x="1198" y="6640"/>
    <p:text>pending GSM feedback</p:text>
    <p:extLst>
      <p:ext uri="{C676402C-5697-4E1C-873F-D02D1690AC5C}">
        <p15:threadingInfo xmlns:p15="http://schemas.microsoft.com/office/powerpoint/2012/main" timeZoneBias="420"/>
      </p:ext>
    </p:extLst>
  </p:cm>
  <p:cm authorId="1" dt="2026-05-19T11:19:07.729" idx="39">
    <p:pos x="1278" y="6560"/>
    <p:text>Refuse to sign EDPA- not likely to be engaged moving forward</p:text>
    <p:extLst>
      <p:ext uri="{C676402C-5697-4E1C-873F-D02D1690AC5C}">
        <p15:threadingInfo xmlns:p15="http://schemas.microsoft.com/office/powerpoint/2012/main" timeZoneBias="420">
          <p15:parentCm authorId="0" idx="595"/>
        </p15:threadingInfo>
      </p:ext>
    </p:extLst>
  </p:cm>
  <p:cm authorId="0" dt="2026-05-12T20:18:12.677" idx="596">
    <p:pos x="1681" y="6640"/>
    <p:text>pending GSM feedback</p:text>
    <p:extLst>
      <p:ext uri="{C676402C-5697-4E1C-873F-D02D1690AC5C}">
        <p15:threadingInfo xmlns:p15="http://schemas.microsoft.com/office/powerpoint/2012/main" timeZoneBias="420"/>
      </p:ext>
    </p:extLst>
  </p:cm>
  <p:cm authorId="0" dt="2026-05-12T20:18:12.677" idx="597">
    <p:pos x="4094" y="6640"/>
    <p:text>gated by GSM Ok2Engage</p:text>
    <p:extLst>
      <p:ext uri="{C676402C-5697-4E1C-873F-D02D1690AC5C}">
        <p15:threadingInfo xmlns:p15="http://schemas.microsoft.com/office/powerpoint/2012/main" timeZoneBias="420"/>
      </p:ext>
    </p:extLst>
  </p:cm>
  <p:cm authorId="0" dt="2026-05-12T20:18:12.677" idx="598">
    <p:pos x="5554" y="6640"/>
    <p:text>gated by GSM Ok2Engage</p:text>
    <p:extLst>
      <p:ext uri="{C676402C-5697-4E1C-873F-D02D1690AC5C}">
        <p15:threadingInfo xmlns:p15="http://schemas.microsoft.com/office/powerpoint/2012/main" timeZoneBias="420"/>
      </p:ext>
    </p:extLst>
  </p:cm>
  <p:cm authorId="0" dt="2026-05-12T20:18:12.677" idx="599">
    <p:pos x="5972" y="6640"/>
    <p:text>gated by GSM Ok2Engage</p:text>
    <p:extLst>
      <p:ext uri="{C676402C-5697-4E1C-873F-D02D1690AC5C}">
        <p15:threadingInfo xmlns:p15="http://schemas.microsoft.com/office/powerpoint/2012/main" timeZoneBias="420"/>
      </p:ext>
    </p:extLst>
  </p:cm>
  <p:cm authorId="0" dt="2026-05-12T20:18:12.677" idx="600">
    <p:pos x="6506" y="6640"/>
    <p:text>gated by GSM Ok2Engage</p:text>
    <p:extLst>
      <p:ext uri="{C676402C-5697-4E1C-873F-D02D1690AC5C}">
        <p15:threadingInfo xmlns:p15="http://schemas.microsoft.com/office/powerpoint/2012/main" timeZoneBias="420"/>
      </p:ext>
    </p:extLst>
  </p:cm>
  <p:cm authorId="0" dt="2026-05-12T20:18:12.677" idx="601">
    <p:pos x="6989" y="6640"/>
    <p:text>gated by GSM Ok2Engage</p:text>
    <p:extLst>
      <p:ext uri="{C676402C-5697-4E1C-873F-D02D1690AC5C}">
        <p15:threadingInfo xmlns:p15="http://schemas.microsoft.com/office/powerpoint/2012/main" timeZoneBias="420"/>
      </p:ext>
    </p:extLst>
  </p:cm>
  <p:cm authorId="0" dt="2026-05-12T20:18:12.677" idx="602">
    <p:pos x="7530" y="6640"/>
    <p:text>gated by GSM Ok2Engage</p:text>
    <p:extLst>
      <p:ext uri="{C676402C-5697-4E1C-873F-D02D1690AC5C}">
        <p15:threadingInfo xmlns:p15="http://schemas.microsoft.com/office/powerpoint/2012/main" timeZoneBias="420"/>
      </p:ext>
    </p:extLst>
  </p:cm>
  <p:cm authorId="0" dt="2026-05-12T20:02:15.231" idx="603">
    <p:pos x="8071" y="6640"/>
    <p:text>No recent performance in TTM</p:text>
    <p:extLst>
      <p:ext uri="{C676402C-5697-4E1C-873F-D02D1690AC5C}">
        <p15:threadingInfo xmlns:p15="http://schemas.microsoft.com/office/powerpoint/2012/main" timeZoneBias="420"/>
      </p:ext>
    </p:extLst>
  </p:cm>
  <p:cm authorId="0" dt="2026-05-12T20:02:15.231" idx="604">
    <p:pos x="8612" y="6640"/>
    <p:text>No recent performance in TTM</p:text>
    <p:extLst>
      <p:ext uri="{C676402C-5697-4E1C-873F-D02D1690AC5C}">
        <p15:threadingInfo xmlns:p15="http://schemas.microsoft.com/office/powerpoint/2012/main" timeZoneBias="420"/>
      </p:ext>
    </p:extLst>
  </p:cm>
  <p:cm authorId="0" dt="2026-05-12T20:02:15.231" idx="605">
    <p:pos x="9153" y="6640"/>
    <p:text>No recent performance in TTM</p:text>
    <p:extLst>
      <p:ext uri="{C676402C-5697-4E1C-873F-D02D1690AC5C}">
        <p15:threadingInfo xmlns:p15="http://schemas.microsoft.com/office/powerpoint/2012/main" timeZoneBias="420"/>
      </p:ext>
    </p:extLst>
  </p:cm>
  <p:cm authorId="0" dt="2026-05-12T20:18:12.677" idx="606">
    <p:pos x="9557" y="6640"/>
    <p:text>gated by GSM Ok2Engage</p:text>
    <p:extLst>
      <p:ext uri="{C676402C-5697-4E1C-873F-D02D1690AC5C}">
        <p15:threadingInfo xmlns:p15="http://schemas.microsoft.com/office/powerpoint/2012/main" timeZoneBias="420"/>
      </p:ext>
    </p:extLst>
  </p:cm>
  <p:cm authorId="0" dt="2026-05-12T20:18:12.677" idx="607">
    <p:pos x="9970" y="6640"/>
    <p:text>gated by GSM Ok2Engage</p:text>
    <p:extLst>
      <p:ext uri="{C676402C-5697-4E1C-873F-D02D1690AC5C}">
        <p15:threadingInfo xmlns:p15="http://schemas.microsoft.com/office/powerpoint/2012/main" timeZoneBias="420"/>
      </p:ext>
    </p:extLst>
  </p:cm>
  <p:cm authorId="0" dt="2026-05-12T20:18:12.677" idx="608">
    <p:pos x="10405" y="6640"/>
    <p:text>gated by GSM Ok2Engage</p:text>
    <p:extLst>
      <p:ext uri="{C676402C-5697-4E1C-873F-D02D1690AC5C}">
        <p15:threadingInfo xmlns:p15="http://schemas.microsoft.com/office/powerpoint/2012/main" timeZoneBias="420"/>
      </p:ext>
    </p:extLst>
  </p:cm>
  <p:cm authorId="1" dt="2026-05-19T11:44:09.068" idx="40">
    <p:pos x="1198" y="6835"/>
    <p:text>ARPA and EDPA still in negotiation</p:text>
    <p:extLst>
      <p:ext uri="{C676402C-5697-4E1C-873F-D02D1690AC5C}">
        <p15:threadingInfo xmlns:p15="http://schemas.microsoft.com/office/powerpoint/2012/main" timeZoneBias="420"/>
      </p:ext>
    </p:extLst>
  </p:cm>
  <p:cm authorId="0" dt="2026-05-12T20:18:12.677" idx="609">
    <p:pos x="1681" y="6835"/>
    <p:text>pending GSM feedback</p:text>
    <p:extLst>
      <p:ext uri="{C676402C-5697-4E1C-873F-D02D1690AC5C}">
        <p15:threadingInfo xmlns:p15="http://schemas.microsoft.com/office/powerpoint/2012/main" timeZoneBias="420"/>
      </p:ext>
    </p:extLst>
  </p:cm>
  <p:cm authorId="0" dt="2026-05-12T20:18:12.677" idx="610">
    <p:pos x="4094" y="6835"/>
    <p:text>gated by GSM Ok2Engage</p:text>
    <p:extLst>
      <p:ext uri="{C676402C-5697-4E1C-873F-D02D1690AC5C}">
        <p15:threadingInfo xmlns:p15="http://schemas.microsoft.com/office/powerpoint/2012/main" timeZoneBias="420"/>
      </p:ext>
    </p:extLst>
  </p:cm>
  <p:cm authorId="0" dt="2026-05-12T20:18:12.677" idx="611">
    <p:pos x="5554" y="6835"/>
    <p:text>gated by GSM Ok2Engage</p:text>
    <p:extLst>
      <p:ext uri="{C676402C-5697-4E1C-873F-D02D1690AC5C}">
        <p15:threadingInfo xmlns:p15="http://schemas.microsoft.com/office/powerpoint/2012/main" timeZoneBias="420"/>
      </p:ext>
    </p:extLst>
  </p:cm>
  <p:cm authorId="0" dt="2026-05-12T20:18:12.677" idx="612">
    <p:pos x="5972" y="6835"/>
    <p:text>gated by GSM Ok2Engage</p:text>
    <p:extLst>
      <p:ext uri="{C676402C-5697-4E1C-873F-D02D1690AC5C}">
        <p15:threadingInfo xmlns:p15="http://schemas.microsoft.com/office/powerpoint/2012/main" timeZoneBias="420"/>
      </p:ext>
    </p:extLst>
  </p:cm>
  <p:cm authorId="0" dt="2026-05-12T20:18:12.677" idx="613">
    <p:pos x="6506" y="6835"/>
    <p:text>gated by GSM Ok2Engage</p:text>
    <p:extLst>
      <p:ext uri="{C676402C-5697-4E1C-873F-D02D1690AC5C}">
        <p15:threadingInfo xmlns:p15="http://schemas.microsoft.com/office/powerpoint/2012/main" timeZoneBias="420"/>
      </p:ext>
    </p:extLst>
  </p:cm>
  <p:cm authorId="0" dt="2026-05-12T20:18:12.677" idx="614">
    <p:pos x="6989" y="6835"/>
    <p:text>gated by GSM Ok2Engage</p:text>
    <p:extLst>
      <p:ext uri="{C676402C-5697-4E1C-873F-D02D1690AC5C}">
        <p15:threadingInfo xmlns:p15="http://schemas.microsoft.com/office/powerpoint/2012/main" timeZoneBias="420"/>
      </p:ext>
    </p:extLst>
  </p:cm>
  <p:cm authorId="0" dt="2026-05-12T20:18:12.677" idx="615">
    <p:pos x="7530" y="6835"/>
    <p:text>gated by GSM Ok2Engage</p:text>
    <p:extLst>
      <p:ext uri="{C676402C-5697-4E1C-873F-D02D1690AC5C}">
        <p15:threadingInfo xmlns:p15="http://schemas.microsoft.com/office/powerpoint/2012/main" timeZoneBias="420"/>
      </p:ext>
    </p:extLst>
  </p:cm>
  <p:cm authorId="0" dt="2026-05-12T20:02:15.231" idx="616">
    <p:pos x="8071" y="6835"/>
    <p:text>No recent performance in TTM</p:text>
    <p:extLst>
      <p:ext uri="{C676402C-5697-4E1C-873F-D02D1690AC5C}">
        <p15:threadingInfo xmlns:p15="http://schemas.microsoft.com/office/powerpoint/2012/main" timeZoneBias="420"/>
      </p:ext>
    </p:extLst>
  </p:cm>
  <p:cm authorId="0" dt="2026-05-12T20:02:15.231" idx="617">
    <p:pos x="8612" y="6835"/>
    <p:text>No recent performance in TTM</p:text>
    <p:extLst>
      <p:ext uri="{C676402C-5697-4E1C-873F-D02D1690AC5C}">
        <p15:threadingInfo xmlns:p15="http://schemas.microsoft.com/office/powerpoint/2012/main" timeZoneBias="420"/>
      </p:ext>
    </p:extLst>
  </p:cm>
  <p:cm authorId="0" dt="2026-05-12T20:02:15.231" idx="618">
    <p:pos x="9153" y="6835"/>
    <p:text>No recent performance in TTM</p:text>
    <p:extLst>
      <p:ext uri="{C676402C-5697-4E1C-873F-D02D1690AC5C}">
        <p15:threadingInfo xmlns:p15="http://schemas.microsoft.com/office/powerpoint/2012/main" timeZoneBias="420"/>
      </p:ext>
    </p:extLst>
  </p:cm>
  <p:cm authorId="0" dt="2026-05-12T20:18:12.677" idx="619">
    <p:pos x="9557" y="6835"/>
    <p:text>gated by GSM Ok2Engage</p:text>
    <p:extLst>
      <p:ext uri="{C676402C-5697-4E1C-873F-D02D1690AC5C}">
        <p15:threadingInfo xmlns:p15="http://schemas.microsoft.com/office/powerpoint/2012/main" timeZoneBias="420"/>
      </p:ext>
    </p:extLst>
  </p:cm>
  <p:cm authorId="0" dt="2026-05-12T20:18:12.677" idx="620">
    <p:pos x="9970" y="6835"/>
    <p:text>gated by GSM Ok2Engage</p:text>
    <p:extLst>
      <p:ext uri="{C676402C-5697-4E1C-873F-D02D1690AC5C}">
        <p15:threadingInfo xmlns:p15="http://schemas.microsoft.com/office/powerpoint/2012/main" timeZoneBias="420"/>
      </p:ext>
    </p:extLst>
  </p:cm>
  <p:cm authorId="0" dt="2026-05-12T20:18:12.677" idx="621">
    <p:pos x="10405" y="6835"/>
    <p:text>gated by GSM Ok2Engage</p:text>
    <p:extLst>
      <p:ext uri="{C676402C-5697-4E1C-873F-D02D1690AC5C}">
        <p15:threadingInfo xmlns:p15="http://schemas.microsoft.com/office/powerpoint/2012/main" timeZoneBias="420"/>
      </p:ext>
    </p:extLst>
  </p:cm>
</p:cmLst>
</file>

<file path=ppt/comments/comment5.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6-05-20T00:01:28.656" idx="622">
    <p:pos x="2163" y="2425"/>
    <p:text>1.0 = Proven / operational today
0.75 = Operational but immature or limited scale
0.5 = Capability exists but not demonstrated for HWTE scope
0.25 = Theoretical capability only (i.e. Amp Thai)
TBD = Insufficient validation / roadmap only (I.e.maybe VVDN 🤷‍♂️ )
0 = Does not meet requirement</p:text>
    <p:extLst>
      <p:ext uri="{C676402C-5697-4E1C-873F-D02D1690AC5C}">
        <p15:threadingInfo xmlns:p15="http://schemas.microsoft.com/office/powerpoint/2012/main" timeZoneBias="420"/>
      </p:ext>
    </p:extLst>
  </p:cm>
  <p:cm authorId="0" dt="2026-05-19T19:52:35.442" idx="623">
    <p:pos x="1681" y="3375"/>
    <p:text>Have had assurances from Apple leadership that Amphenol is committed to working on TE stations. However, we’ve seen several verbal commits throughout the last twelve months that Amphenol subsequently backed out of. K12p will be last opportunity to have them bid on projects.</p:text>
    <p:extLst>
      <p:ext uri="{C676402C-5697-4E1C-873F-D02D1690AC5C}">
        <p15:threadingInfo xmlns:p15="http://schemas.microsoft.com/office/powerpoint/2012/main" timeZoneBias="420"/>
      </p:ext>
    </p:extLst>
  </p:cm>
  <p:cm authorId="0" dt="2026-05-12T15:35:54.130" idx="624">
    <p:pos x="4094" y="3375"/>
    <p:text>Strong Apple manufacturing/integration experience with expanding automation capability. Global facilities need follow up but can support from CN for this project. Need conveyor experience.</p:text>
    <p:extLst>
      <p:ext uri="{C676402C-5697-4E1C-873F-D02D1690AC5C}">
        <p15:threadingInfo xmlns:p15="http://schemas.microsoft.com/office/powerpoint/2012/main" timeZoneBias="420"/>
      </p:ext>
    </p:extLst>
  </p:cm>
  <p:cm authorId="0" dt="2026-05-12T15:35:54.130" idx="625">
    <p:pos x="4576" y="3375"/>
    <p:text>Support retrofits only for Ironman stations on V6y programs. </p:text>
    <p:extLst>
      <p:ext uri="{C676402C-5697-4E1C-873F-D02D1690AC5C}">
        <p15:threadingInfo xmlns:p15="http://schemas.microsoft.com/office/powerpoint/2012/main" timeZoneBias="420"/>
      </p:ext>
    </p:extLst>
  </p:cm>
  <p:cm authorId="0" dt="2026-05-20T00:05:26.554" idx="626">
    <p:pos x="5059" y="3375"/>
    <p:text>Thailand site unvetted, pending SQE audit</p:text>
    <p:extLst>
      <p:ext uri="{C676402C-5697-4E1C-873F-D02D1690AC5C}">
        <p15:threadingInfo xmlns:p15="http://schemas.microsoft.com/office/powerpoint/2012/main" timeZoneBias="420"/>
      </p:ext>
    </p:extLst>
  </p:cm>
  <p:cm authorId="0" dt="2026-05-12T15:36:06.879" idx="627">
    <p:pos x="5554" y="3375"/>
    <p:text>Significant apple experience but needs a conveyor/automation project to stress-test capability</p:text>
    <p:extLst>
      <p:ext uri="{C676402C-5697-4E1C-873F-D02D1690AC5C}">
        <p15:threadingInfo xmlns:p15="http://schemas.microsoft.com/office/powerpoint/2012/main" timeZoneBias="420"/>
      </p:ext>
    </p:extLst>
  </p:cm>
  <p:cm authorId="0" dt="2026-05-19T19:52:35.442" idx="628">
    <p:pos x="9970" y="3375"/>
    <p:text>Have had assurances from Apple leadership that Amphenol is committed to working on TE stations. However, we’ve seen several verbal commits throughout the last twelve months that Amphenol subsequently backed out of. K12p will be last opportunity to have them bid on projects.</p:text>
    <p:extLst>
      <p:ext uri="{C676402C-5697-4E1C-873F-D02D1690AC5C}">
        <p15:threadingInfo xmlns:p15="http://schemas.microsoft.com/office/powerpoint/2012/main" timeZoneBias="420"/>
      </p:ext>
    </p:extLst>
  </p:cm>
  <p:cm authorId="0" dt="2026-05-12T15:47:20.969" idx="629">
    <p:pos x="1681" y="3563"/>
    <p:text>Cannot meet MP pricing targets</p:text>
    <p:extLst>
      <p:ext uri="{C676402C-5697-4E1C-873F-D02D1690AC5C}">
        <p15:threadingInfo xmlns:p15="http://schemas.microsoft.com/office/powerpoint/2012/main" timeZoneBias="420"/>
      </p:ext>
    </p:extLst>
  </p:cm>
  <p:cm authorId="0" dt="2026-05-12T15:38:38.148" idx="630">
    <p:pos x="4094" y="3563"/>
    <p:text>Elite technical capability for advanced metrology/test/cal systems.</p:text>
    <p:extLst>
      <p:ext uri="{C676402C-5697-4E1C-873F-D02D1690AC5C}">
        <p15:threadingInfo xmlns:p15="http://schemas.microsoft.com/office/powerpoint/2012/main" timeZoneBias="420"/>
      </p:ext>
    </p:extLst>
  </p:cm>
  <p:cm authorId="0" dt="2026-05-12T15:38:38.148" idx="631">
    <p:pos x="4576" y="3563"/>
    <p:text>Elite technical capability for advanced metrology/test/cal systems.</p:text>
    <p:extLst>
      <p:ext uri="{C676402C-5697-4E1C-873F-D02D1690AC5C}">
        <p15:threadingInfo xmlns:p15="http://schemas.microsoft.com/office/powerpoint/2012/main" timeZoneBias="420"/>
      </p:ext>
    </p:extLst>
  </p:cm>
  <p:cm authorId="0" dt="2026-05-12T15:38:38.148" idx="632">
    <p:pos x="5059" y="3563"/>
    <p:text>Elite technical capability for advanced metrology/test/cal systems.</p:text>
    <p:extLst>
      <p:ext uri="{C676402C-5697-4E1C-873F-D02D1690AC5C}">
        <p15:threadingInfo xmlns:p15="http://schemas.microsoft.com/office/powerpoint/2012/main" timeZoneBias="420"/>
      </p:ext>
    </p:extLst>
  </p:cm>
  <p:cm authorId="0" dt="2026-05-12T19:51:01.997" idx="633">
    <p:pos x="7530" y="3563"/>
    <p:text>Missed EIH on some stations during early engagements (need list from teams).</p:text>
    <p:extLst>
      <p:ext uri="{C676402C-5697-4E1C-873F-D02D1690AC5C}">
        <p15:threadingInfo xmlns:p15="http://schemas.microsoft.com/office/powerpoint/2012/main" timeZoneBias="420"/>
      </p:ext>
    </p:extLst>
  </p:cm>
  <p:cm authorId="0" dt="2026-05-14T02:05:54.779" idx="634">
    <p:pos x="716" y="3759"/>
    <p:text>Overcharge for OSS (J312 Wavesight), Slow comms (have to go back to Italy for everything)</p:text>
    <p:extLst>
      <p:ext uri="{C676402C-5697-4E1C-873F-D02D1690AC5C}">
        <p15:threadingInfo xmlns:p15="http://schemas.microsoft.com/office/powerpoint/2012/main" timeZoneBias="420"/>
      </p:ext>
    </p:extLst>
  </p:cm>
  <p:cm authorId="0" dt="2026-05-12T20:00:58.422" idx="635">
    <p:pos x="1681" y="3759"/>
    <p:text>Need GSMs to confirm pricing targets can be met, but historically have supplied stations so in theory should be ok.</p:text>
    <p:extLst>
      <p:ext uri="{C676402C-5697-4E1C-873F-D02D1690AC5C}">
        <p15:threadingInfo xmlns:p15="http://schemas.microsoft.com/office/powerpoint/2012/main" timeZoneBias="420"/>
      </p:ext>
    </p:extLst>
  </p:cm>
  <p:cm authorId="0" dt="2026-05-12T15:42:08.349" idx="636">
    <p:pos x="4094" y="3759"/>
    <p:text>Proven Apple SI with strong electronics and test-domain expertise</p:text>
    <p:extLst>
      <p:ext uri="{C676402C-5697-4E1C-873F-D02D1690AC5C}">
        <p15:threadingInfo xmlns:p15="http://schemas.microsoft.com/office/powerpoint/2012/main" timeZoneBias="420"/>
      </p:ext>
    </p:extLst>
  </p:cm>
  <p:cm authorId="0" dt="2026-05-20T00:34:38.714" idx="637">
    <p:pos x="4576" y="3759"/>
    <p:text>Would support IN from their IT and TH facility. unclear how their OSS speed and retrofit capability would work, Bob to further vet.</p:text>
    <p:extLst>
      <p:ext uri="{C676402C-5697-4E1C-873F-D02D1690AC5C}">
        <p15:threadingInfo xmlns:p15="http://schemas.microsoft.com/office/powerpoint/2012/main" timeZoneBias="420"/>
      </p:ext>
    </p:extLst>
  </p:cm>
  <p:cm authorId="0" dt="2026-05-20T00:34:38.714" idx="638">
    <p:pos x="5059" y="3759"/>
    <p:text>Would support IN from their IT and TH facility. unclear how their OSS speed and retrofit capability would work, Bob to further vet.</p:text>
    <p:extLst>
      <p:ext uri="{C676402C-5697-4E1C-873F-D02D1690AC5C}">
        <p15:threadingInfo xmlns:p15="http://schemas.microsoft.com/office/powerpoint/2012/main" timeZoneBias="420"/>
      </p:ext>
    </p:extLst>
  </p:cm>
  <p:cm authorId="0" dt="2026-05-12T20:01:24.734" idx="639">
    <p:pos x="5554" y="3759"/>
    <p:text>Experienced with complex automation but haven’t completed a conveyor qual. would be a good candidate station for SPEA to learn and scale on.</p:text>
    <p:extLst>
      <p:ext uri="{C676402C-5697-4E1C-873F-D02D1690AC5C}">
        <p15:threadingInfo xmlns:p15="http://schemas.microsoft.com/office/powerpoint/2012/main" timeZoneBias="420"/>
      </p:ext>
    </p:extLst>
  </p:cm>
  <p:cm authorId="0" dt="2026-05-20T00:36:27.033" idx="640">
    <p:pos x="9153" y="3759"/>
    <p:text>Performance issues highlighted around speed of feedback. major concern is on scalability/ability to support large quantifies of projects in and outside of CN.</p:text>
    <p:extLst>
      <p:ext uri="{C676402C-5697-4E1C-873F-D02D1690AC5C}">
        <p15:threadingInfo xmlns:p15="http://schemas.microsoft.com/office/powerpoint/2012/main" timeZoneBias="420"/>
      </p:ext>
    </p:extLst>
  </p:cm>
  <p:cm authorId="0" dt="2026-05-29T02:22:50.166" idx="641">
    <p:pos x="9233" y="3679"/>
    <p:text>From Leon: I remember their support is very slow on portable project before and the OSS is not from their company(should from 3rd part if I remember correctly). </p:text>
    <p:extLst>
      <p:ext uri="{C676402C-5697-4E1C-873F-D02D1690AC5C}">
        <p15:threadingInfo xmlns:p15="http://schemas.microsoft.com/office/powerpoint/2012/main" timeZoneBias="420">
          <p15:parentCm authorId="0" idx="640"/>
        </p15:threadingInfo>
      </p:ext>
    </p:extLst>
  </p:cm>
  <p:cm authorId="0" dt="2026-05-20T00:53:06.290" idx="642">
    <p:pos x="10405" y="3759"/>
    <p:text>Need to confirm scalability/ability to support ramp.</p:text>
    <p:extLst>
      <p:ext uri="{C676402C-5697-4E1C-873F-D02D1690AC5C}">
        <p15:threadingInfo xmlns:p15="http://schemas.microsoft.com/office/powerpoint/2012/main" timeZoneBias="420"/>
      </p:ext>
    </p:extLst>
  </p:cm>
  <p:cm authorId="0" dt="2026-05-12T15:33:06.628" idx="643">
    <p:pos x="4094" y="3954"/>
    <p:text>From Bob: Strong India infrastructure, machining capability, and growing technical alignment to HWTE needs</p:text>
    <p:extLst>
      <p:ext uri="{C676402C-5697-4E1C-873F-D02D1690AC5C}">
        <p15:threadingInfo xmlns:p15="http://schemas.microsoft.com/office/powerpoint/2012/main" timeZoneBias="420"/>
      </p:ext>
    </p:extLst>
  </p:cm>
  <p:cm authorId="0" dt="2026-05-20T00:05:26.554" idx="644">
    <p:pos x="4576" y="3954"/>
    <p:text>IN Facility built (has it been approved yet, Bob?). ready to take on new projects/orders.</p:text>
    <p:extLst>
      <p:ext uri="{C676402C-5697-4E1C-873F-D02D1690AC5C}">
        <p15:threadingInfo xmlns:p15="http://schemas.microsoft.com/office/powerpoint/2012/main" timeZoneBias="420"/>
      </p:ext>
    </p:extLst>
  </p:cm>
  <p:cm authorId="0" dt="2026-05-12T15:33:06.628" idx="645">
    <p:pos x="5059" y="3954"/>
    <p:text>Can support from KR site and deploy OSS to VN.</p:text>
    <p:extLst>
      <p:ext uri="{C676402C-5697-4E1C-873F-D02D1690AC5C}">
        <p15:threadingInfo xmlns:p15="http://schemas.microsoft.com/office/powerpoint/2012/main" timeZoneBias="420"/>
      </p:ext>
    </p:extLst>
  </p:cm>
  <p:cm authorId="0" dt="2026-05-22T02:17:27.328" idx="646">
    <p:pos x="5554" y="3954"/>
    <p:text>Qualifying on B798 for NPI support. no bandwidth to work on these projects.</p:text>
    <p:extLst>
      <p:ext uri="{C676402C-5697-4E1C-873F-D02D1690AC5C}">
        <p15:threadingInfo xmlns:p15="http://schemas.microsoft.com/office/powerpoint/2012/main" timeZoneBias="420"/>
      </p:ext>
    </p:extLst>
  </p:cm>
  <p:cm authorId="1" dt="2026-05-19T11:21:27.636" idx="41">
    <p:pos x="5972" y="3954"/>
    <p:text>Focus needs to be on B798; capacity is available but should not be spread thin</p:text>
    <p:extLst>
      <p:ext uri="{C676402C-5697-4E1C-873F-D02D1690AC5C}">
        <p15:threadingInfo xmlns:p15="http://schemas.microsoft.com/office/powerpoint/2012/main" timeZoneBias="420"/>
      </p:ext>
    </p:extLst>
  </p:cm>
  <p:cm authorId="0" dt="2026-05-12T19:43:09.708" idx="647">
    <p:pos x="6506" y="3954"/>
    <p:text>Fully booked on B798 readiness. Need to confirm if they have additional resources to support.</p:text>
    <p:extLst>
      <p:ext uri="{C676402C-5697-4E1C-873F-D02D1690AC5C}">
        <p15:threadingInfo xmlns:p15="http://schemas.microsoft.com/office/powerpoint/2012/main" timeZoneBias="420"/>
      </p:ext>
    </p:extLst>
  </p:cm>
  <p:cm authorId="0" dt="2026-05-12T19:46:24.566" idx="648">
    <p:pos x="7530" y="3954"/>
    <p:text>Delivery of V68 stations was delayed, but partially contributed by Apple team not setting up for success given compressed schedule.</p:text>
    <p:extLst>
      <p:ext uri="{C676402C-5697-4E1C-873F-D02D1690AC5C}">
        <p15:threadingInfo xmlns:p15="http://schemas.microsoft.com/office/powerpoint/2012/main" timeZoneBias="420"/>
      </p:ext>
    </p:extLst>
  </p:cm>
  <p:cm authorId="0" dt="2026-05-15T07:07:36.404" idx="649">
    <p:pos x="8612" y="3954"/>
    <p:text>Need to confirm for V68</p:text>
    <p:extLst>
      <p:ext uri="{C676402C-5697-4E1C-873F-D02D1690AC5C}">
        <p15:threadingInfo xmlns:p15="http://schemas.microsoft.com/office/powerpoint/2012/main" timeZoneBias="420"/>
      </p:ext>
    </p:extLst>
  </p:cm>
  <p:cm authorId="0" dt="2026-05-20T19:20:30.660" idx="650">
    <p:pos x="9153" y="3954"/>
    <p:text>Bumpy experience on V68 shadow sets but many of those issues related to issues on our end.</p:text>
    <p:extLst>
      <p:ext uri="{C676402C-5697-4E1C-873F-D02D1690AC5C}">
        <p15:threadingInfo xmlns:p15="http://schemas.microsoft.com/office/powerpoint/2012/main" timeZoneBias="420"/>
      </p:ext>
    </p:extLst>
  </p:cm>
  <p:cm authorId="0" dt="2026-05-20T00:05:26.554" idx="651">
    <p:pos x="5059" y="4142"/>
    <p:text>VN site can support retrofits for MP.</p:text>
    <p:extLst>
      <p:ext uri="{C676402C-5697-4E1C-873F-D02D1690AC5C}">
        <p15:threadingInfo xmlns:p15="http://schemas.microsoft.com/office/powerpoint/2012/main" timeZoneBias="420"/>
      </p:ext>
    </p:extLst>
  </p:cm>
  <p:cm authorId="0" dt="2026-05-12T19:34:34.942" idx="652">
    <p:pos x="5972" y="4142"/>
    <p:text>Can be available if this is a priority project, but want to save for other projects if possible.</p:text>
    <p:extLst>
      <p:ext uri="{C676402C-5697-4E1C-873F-D02D1690AC5C}">
        <p15:threadingInfo xmlns:p15="http://schemas.microsoft.com/office/powerpoint/2012/main" timeZoneBias="420"/>
      </p:ext>
    </p:extLst>
  </p:cm>
  <p:cm authorId="0" dt="2026-05-12T19:36:08.136" idx="653">
    <p:pos x="6506" y="4142"/>
    <p:text>Significant performance issues in TTM (N50 Vader, Grape/Touch, delays on B798 conveyor design) point to limited availability</p:text>
    <p:extLst>
      <p:ext uri="{C676402C-5697-4E1C-873F-D02D1690AC5C}">
        <p15:threadingInfo xmlns:p15="http://schemas.microsoft.com/office/powerpoint/2012/main" timeZoneBias="420"/>
      </p:ext>
    </p:extLst>
  </p:cm>
  <p:cm authorId="0" dt="2026-05-13T22:20:01.677" idx="654">
    <p:pos x="6989" y="4142"/>
    <p:text>https://jira.apple.com/browse/HWECMP-6433 was a potential build blocker, massive efficiency hit to the team.</p:text>
    <p:extLst>
      <p:ext uri="{C676402C-5697-4E1C-873F-D02D1690AC5C}">
        <p15:threadingInfo xmlns:p15="http://schemas.microsoft.com/office/powerpoint/2012/main" timeZoneBias="420"/>
      </p:ext>
    </p:extLst>
  </p:cm>
  <p:cm authorId="0" dt="2026-05-12T19:50:23.571" idx="655">
    <p:pos x="7530" y="4142"/>
    <p:text>Significant performance issues in TTM (N50 Vader, Grape/Touch, delays on B798 conveyor design).</p:text>
    <p:extLst>
      <p:ext uri="{C676402C-5697-4E1C-873F-D02D1690AC5C}">
        <p15:threadingInfo xmlns:p15="http://schemas.microsoft.com/office/powerpoint/2012/main" timeZoneBias="420"/>
      </p:ext>
    </p:extLst>
  </p:cm>
  <p:cm authorId="0" dt="2026-05-15T07:07:07.716" idx="656">
    <p:pos x="8071" y="4142"/>
    <p:text>Missed design lock for B798 project will cause it to miss EIH target.</p:text>
    <p:extLst>
      <p:ext uri="{C676402C-5697-4E1C-873F-D02D1690AC5C}">
        <p15:threadingInfo xmlns:p15="http://schemas.microsoft.com/office/powerpoint/2012/main" timeZoneBias="420"/>
      </p:ext>
    </p:extLst>
  </p:cm>
  <p:cm authorId="0" dt="2026-05-15T07:07:07.716" idx="657">
    <p:pos x="8612" y="4142"/>
    <p:text>Missed design lock for B798 project.</p:text>
    <p:extLst>
      <p:ext uri="{C676402C-5697-4E1C-873F-D02D1690AC5C}">
        <p15:threadingInfo xmlns:p15="http://schemas.microsoft.com/office/powerpoint/2012/main" timeZoneBias="420"/>
      </p:ext>
    </p:extLst>
  </p:cm>
  <p:cm authorId="0" dt="2026-05-15T07:12:55.246" idx="658">
    <p:pos x="9153" y="4142"/>
    <p:text>JLK (HWECMP-6528) - FY26 Q3 (Apr-Jun) Infrequent communication between JLK-IN and JLK-CN led to divergent design conclusions. Deliverable requests were funneled to Apple near the design lock phase instead of early in the design phase.
Quote: "...funneling deliver requests near design lock instead of early design phase" (Summary)</p:text>
    <p:extLst>
      <p:ext uri="{C676402C-5697-4E1C-873F-D02D1690AC5C}">
        <p15:threadingInfo xmlns:p15="http://schemas.microsoft.com/office/powerpoint/2012/main" timeZoneBias="420"/>
      </p:ext>
    </p:extLst>
  </p:cm>
  <p:cm authorId="0" dt="2026-05-12T20:00:58.422" idx="659">
    <p:pos x="1681" y="4330"/>
    <p:text>PRM inflating prices in advance of their IPO and causing commercial issues. proceed with caution.</p:text>
    <p:extLst>
      <p:ext uri="{C676402C-5697-4E1C-873F-D02D1690AC5C}">
        <p15:threadingInfo xmlns:p15="http://schemas.microsoft.com/office/powerpoint/2012/main" timeZoneBias="420"/>
      </p:ext>
    </p:extLst>
  </p:cm>
  <p:cm authorId="0" dt="2026-05-12T15:35:54.130" idx="660">
    <p:pos x="5059" y="4330"/>
    <p:text>Support retrofits for MP programs</p:text>
    <p:extLst>
      <p:ext uri="{C676402C-5697-4E1C-873F-D02D1690AC5C}">
        <p15:threadingInfo xmlns:p15="http://schemas.microsoft.com/office/powerpoint/2012/main" timeZoneBias="420"/>
      </p:ext>
    </p:extLst>
  </p:cm>
  <p:cm authorId="0" dt="2026-06-04T18:16:31.651" idx="661">
    <p:pos x="6989" y="4330"/>
    <p:text>Would have blocked V68 EVT main due to performance issues on CCB block for Grape station.
Able to deliver Helios in several weeks with tons of design changes. invaluable partner to get things done quickly and a much bigger value to NPI.</p:text>
    <p:extLst>
      <p:ext uri="{C676402C-5697-4E1C-873F-D02D1690AC5C}">
        <p15:threadingInfo xmlns:p15="http://schemas.microsoft.com/office/powerpoint/2012/main" timeZoneBias="420"/>
      </p:ext>
    </p:extLst>
  </p:cm>
  <p:cm authorId="0" dt="2026-05-20T00:17:50.013" idx="662">
    <p:pos x="9153" y="4330"/>
    <p:text>From Capex SQE Alan:
- Critical specs are not required in quality check or not reasonable, eg belt roller height inspection position not defined, belt tension inspection point not defined, belt driver shaft runout speed not defined, no specific position defined for sensors position check in IPQC etc;
- GB name and version are not marked on GB, and assembly SOP/IPQC didn’t mention which GB is needed for specific steps;
- QA didn’t use latest measurement tool GO/No GO GB for conveyor width check;
- Grape grounding cable routing and screw fix method is not well defined and no IPQC re-do process after onsite retrofit during SQE onsite audit at CM.
- CM escalation on no dedicate onsite PM during LXKU LBU.
- unproven for ramp, need to monitor closely</p:text>
    <p:extLst>
      <p:ext uri="{C676402C-5697-4E1C-873F-D02D1690AC5C}">
        <p15:threadingInfo xmlns:p15="http://schemas.microsoft.com/office/powerpoint/2012/main" timeZoneBias="420"/>
      </p:ext>
    </p:extLst>
  </p:cm>
  <p:cm authorId="0" dt="2026-05-28T00:15:32.682" idx="663">
    <p:pos x="9233" y="4250"/>
    <p:text>From Rachel Shi: Aligned. In short, 1) their management level is short of ramp knowhow, cannot find the issues by themselves; 2) they have serious resource issue: many key roles like PM are new hiring or no rich Apple ramp experience; 3) technical PM is limited: the senior ones are strong, but only few are capable.</p:text>
    <p:extLst>
      <p:ext uri="{C676402C-5697-4E1C-873F-D02D1690AC5C}">
        <p15:threadingInfo xmlns:p15="http://schemas.microsoft.com/office/powerpoint/2012/main" timeZoneBias="420">
          <p15:parentCm authorId="0" idx="662"/>
        </p15:threadingInfo>
      </p:ext>
    </p:extLst>
  </p:cm>
  <p:cm authorId="0" dt="2026-06-04T18:15:21.821" idx="664">
    <p:pos x="9233" y="4250"/>
    <p:text>From Roy: https://jira.corp.apple.com/browse/HWECMP-6485
Bad support on CCD jig for Edge probe alignment. There is not SW support to this station, and the edge/feature capture is not accurate, which would have blocked EVT main build. iPD was able to implement a workaround to avoid blocking the build. Still waiting on corrective actions from PRM.</p:text>
    <p:extLst>
      <p:ext uri="{C676402C-5697-4E1C-873F-D02D1690AC5C}">
        <p15:threadingInfo xmlns:p15="http://schemas.microsoft.com/office/powerpoint/2012/main" timeZoneBias="420">
          <p15:parentCm authorId="0" idx="662"/>
        </p15:threadingInfo>
      </p:ext>
    </p:extLst>
  </p:cm>
  <p:cm authorId="0" dt="2026-05-12T15:35:54.130" idx="665">
    <p:pos x="5059" y="4516"/>
    <p:text>Support retrofits for MP programs</p:text>
    <p:extLst>
      <p:ext uri="{C676402C-5697-4E1C-873F-D02D1690AC5C}">
        <p15:threadingInfo xmlns:p15="http://schemas.microsoft.com/office/powerpoint/2012/main" timeZoneBias="420"/>
      </p:ext>
    </p:extLst>
  </p:cm>
  <p:cm authorId="0" dt="2026-05-13T22:24:26.244" idx="666">
    <p:pos x="7530" y="4516"/>
    <p:text>Cencorp failed to validate the PLC code with the Coreless script before shipping the fixture, despite repeated instructions to do so. This omission jeopardized the PLC code readiness detection. https://jira.apple.com/browse/HWECMP-6278. </p:text>
    <p:extLst>
      <p:ext uri="{C676402C-5697-4E1C-873F-D02D1690AC5C}">
        <p15:threadingInfo xmlns:p15="http://schemas.microsoft.com/office/powerpoint/2012/main" timeZoneBias="420"/>
      </p:ext>
    </p:extLst>
  </p:cm>
  <p:cm authorId="0" dt="2026-05-13T22:26:56.020" idx="667">
    <p:pos x="9153" y="4516"/>
    <p:text>Cencorp (HWECMP-6277) - FY25 Q4 (Jul-Sep) Cencorp's TPM failed to provide timely feedback on Beckhoff tuning and OQC status. This lack of communication put the fixture EIH and vendor site PLC validation plans at risk.</p:text>
    <p:extLst>
      <p:ext uri="{C676402C-5697-4E1C-873F-D02D1690AC5C}">
        <p15:threadingInfo xmlns:p15="http://schemas.microsoft.com/office/powerpoint/2012/main" timeZoneBias="420"/>
      </p:ext>
    </p:extLst>
  </p:cm>
  <p:cm authorId="0" dt="2026-05-12T15:35:54.130" idx="668">
    <p:pos x="5059" y="4703"/>
    <p:text>Support retrofits for MP programs</p:text>
    <p:extLst>
      <p:ext uri="{C676402C-5697-4E1C-873F-D02D1690AC5C}">
        <p15:threadingInfo xmlns:p15="http://schemas.microsoft.com/office/powerpoint/2012/main" timeZoneBias="420"/>
      </p:ext>
    </p:extLst>
  </p:cm>
  <p:cm authorId="0" dt="2026-05-12T19:43:09.708" idx="669">
    <p:pos x="6506" y="4703"/>
    <p:text>Performance issues pointing to significant capacity issues, suggest hold any engagements until performance improvement plan approved.</p:text>
    <p:extLst>
      <p:ext uri="{C676402C-5697-4E1C-873F-D02D1690AC5C}">
        <p15:threadingInfo xmlns:p15="http://schemas.microsoft.com/office/powerpoint/2012/main" timeZoneBias="420"/>
      </p:ext>
    </p:extLst>
  </p:cm>
  <p:cm authorId="0" dt="2026-05-20T19:00:31.666" idx="670">
    <p:pos x="6989" y="4703"/>
    <p:text>Falsified data. From Capex SQE Alan on 5/20/26: During SQE audit for phone program we found skip whole quality check for one tester, and input make data into quality check sheet, etc.</p:text>
    <p:extLst>
      <p:ext uri="{C676402C-5697-4E1C-873F-D02D1690AC5C}">
        <p15:threadingInfo xmlns:p15="http://schemas.microsoft.com/office/powerpoint/2012/main" timeZoneBias="420"/>
      </p:ext>
    </p:extLst>
  </p:cm>
  <p:cm authorId="0" dt="2026-05-12T19:53:30.889" idx="671">
    <p:pos x="7530" y="4703"/>
    <p:text>Multiple EIH and MBO bringup delays on V68, N50 programs resulting in delays.</p:text>
    <p:extLst>
      <p:ext uri="{C676402C-5697-4E1C-873F-D02D1690AC5C}">
        <p15:threadingInfo xmlns:p15="http://schemas.microsoft.com/office/powerpoint/2012/main" timeZoneBias="420"/>
      </p:ext>
    </p:extLst>
  </p:cm>
  <p:cm authorId="0" dt="2026-05-13T22:26:40.333" idx="672">
    <p:pos x="8071" y="4703"/>
    <p:text>Innorev (HWECMP-6404) - FY26 Q2 (Jan-Mar) Poor quality control on the Brontes Freja station (e.g., OGB bracket issues, wrong tray loading pins) slowed down fixture bring-up. These tray quality issues continuously delayed the EIH of OVB trays.
Quote: "...recently keep delaying the EIH of OVB trays..."
Innorev (HWECMP-6383) - FY26 Q1 (Oct-Dec) Innorev experienced multiple ETA delays for LDCM and QT1 fixtures, severely impacting the build schedule and missing the required P1 EIH date.
Quote: "P1 required EIH date 11/24... Innorev PM informed LDCM ETA delay... QT1 ETD delay to 12/8..."
Innorev (HWECMP-6274) - FY25 Q4 (Jul-Sep) Failure to perform OQC inspections as required, such as failing to separate signal and grounding wires, resulted in signal interference and a 1-2 day delay in the fixture's EIH.
Quote: "...resulting in a 1-2 day delay in the fixture's EIH?"
Innorev (HWECMP-6271) - FY25 Q4 (Jul-Sep) The QT/LDCM fixture experienced ETA and EIH delays tied to late deliveries from a material supplier.
Quote: "...8/20 required EIH, 9/1 delayed ETA..."
Innorev (HWECMP-6270) - FY25 Q4 (Jul-Sep) The iSD Thermal DOE fixture missed its required EIH and suffered ETA delays due to ongoing debugging and uncertain issues described by the vendor.
Quote: "...7/30 required EIH, 8/24 delayed ETA..."
Innorev (HWECMP-6269) - FY25 Q4 (Jul-Sep) No ETA or delivery status updates were provided for the J65 camera, causing it to miss its required EIH.
Quote: "...8/18 required EIH..."</p:text>
    <p:extLst>
      <p:ext uri="{C676402C-5697-4E1C-873F-D02D1690AC5C}">
        <p15:threadingInfo xmlns:p15="http://schemas.microsoft.com/office/powerpoint/2012/main" timeZoneBias="420"/>
      </p:ext>
    </p:extLst>
  </p:cm>
  <p:cm authorId="0" dt="2026-05-15T07:12:21.986" idx="673">
    <p:pos x="9153" y="4703"/>
    <p:text>Innorev (HWECMP-6405) - FY26 Q2 (Jan-Mar) A significant 53-day delay in delivering the Acktar chart for the J917/J920 P1 build occurred due to poor ETA management. While mitigated to avoid an immediate POC blocker, it posed a massive delay risk for subsequent builds.
Quote: "To avoid blocker for POC build..." and "...it is not a blocker yet it a huge delay..."
Innorev (HWECMP-6361) - FY26 Q1 (Oct-Dec) Poor delivery quality of the B790 FATP Freja station risked blocking the build. Issues included missing important components, poorly checked parts, and a failure to implement past lessons learned.
Quote: "FATP Freja delivery quality is very concerning, risk to block the build..."</p:text>
    <p:extLst>
      <p:ext uri="{C676402C-5697-4E1C-873F-D02D1690AC5C}">
        <p15:threadingInfo xmlns:p15="http://schemas.microsoft.com/office/powerpoint/2012/main" timeZoneBias="420"/>
      </p:ext>
    </p:extLst>
  </p:cm>
  <p:cm authorId="0" dt="2026-05-20T00:20:07.337" idx="674">
    <p:pos x="4094" y="4889"/>
    <p:text>Partner with Strong for CN-based fabrication for AE teams for 6+ months. Also partnering with Strong for retrofit kit fabrication on the V68 Magnolia station, where their fab + OSS would support on the ground with Pentamaster’s engineers. Partnership needs help from GSM to reduce lead times (current project has a 6-8 week lead time but help required to pull that in).</p:text>
    <p:extLst>
      <p:ext uri="{C676402C-5697-4E1C-873F-D02D1690AC5C}">
        <p15:threadingInfo xmlns:p15="http://schemas.microsoft.com/office/powerpoint/2012/main" timeZoneBias="420"/>
      </p:ext>
    </p:extLst>
  </p:cm>
  <p:cm authorId="0" dt="2026-05-20T00:20:07.337" idx="675">
    <p:pos x="4576" y="4889"/>
    <p:text>Similar to China, they have a local partnership that will make parts which have proven lead times through AE experience. Would also send their OSS/Engineers from Malaysia to support. </p:text>
    <p:extLst>
      <p:ext uri="{C676402C-5697-4E1C-873F-D02D1690AC5C}">
        <p15:threadingInfo xmlns:p15="http://schemas.microsoft.com/office/powerpoint/2012/main" timeZoneBias="420"/>
      </p:ext>
    </p:extLst>
  </p:cm>
  <p:cm authorId="0" dt="2026-05-12T15:42:27.278" idx="676">
    <p:pos x="5059" y="4889"/>
    <p:text>Promising automation/integration capability with growing strategic relevance</p:text>
    <p:extLst>
      <p:ext uri="{C676402C-5697-4E1C-873F-D02D1690AC5C}">
        <p15:threadingInfo xmlns:p15="http://schemas.microsoft.com/office/powerpoint/2012/main" timeZoneBias="420"/>
      </p:ext>
    </p:extLst>
  </p:cm>
  <p:cm authorId="0" dt="2026-05-22T02:17:27.328" idx="677">
    <p:pos x="5554" y="4889"/>
    <p:text>Have not yet completed a build cycle on their stations, recommend waiting and give a shadow set in the meantime.
Pentamaster turned down MP 2nd source for Chocolate due to bandwidth, demonstrates constraint.</p:text>
    <p:extLst>
      <p:ext uri="{C676402C-5697-4E1C-873F-D02D1690AC5C}">
        <p15:threadingInfo xmlns:p15="http://schemas.microsoft.com/office/powerpoint/2012/main" timeZoneBias="420"/>
      </p:ext>
    </p:extLst>
  </p:cm>
  <p:cm authorId="0" dt="2026-05-12T20:02:15.231" idx="678">
    <p:pos x="6989" y="4889"/>
    <p:text>No recent performance in TTM</p:text>
    <p:extLst>
      <p:ext uri="{C676402C-5697-4E1C-873F-D02D1690AC5C}">
        <p15:threadingInfo xmlns:p15="http://schemas.microsoft.com/office/powerpoint/2012/main" timeZoneBias="420"/>
      </p:ext>
    </p:extLst>
  </p:cm>
  <p:cm authorId="0" dt="2026-05-12T20:02:15.231" idx="679">
    <p:pos x="7530" y="4889"/>
    <p:text>No recent performance in TTM</p:text>
    <p:extLst>
      <p:ext uri="{C676402C-5697-4E1C-873F-D02D1690AC5C}">
        <p15:threadingInfo xmlns:p15="http://schemas.microsoft.com/office/powerpoint/2012/main" timeZoneBias="420"/>
      </p:ext>
    </p:extLst>
  </p:cm>
  <p:cm authorId="0" dt="2026-05-12T20:02:15.231" idx="680">
    <p:pos x="8612" y="4889"/>
    <p:text>No recent performance in TTM</p:text>
    <p:extLst>
      <p:ext uri="{C676402C-5697-4E1C-873F-D02D1690AC5C}">
        <p15:threadingInfo xmlns:p15="http://schemas.microsoft.com/office/powerpoint/2012/main" timeZoneBias="420"/>
      </p:ext>
    </p:extLst>
  </p:cm>
  <p:cm authorId="0" dt="2026-05-20T00:53:06.290" idx="681">
    <p:pos x="10405" y="4889"/>
    <p:text>Slow turnaround times but do have apple module experience. need to evaluate.</p:text>
    <p:extLst>
      <p:ext uri="{C676402C-5697-4E1C-873F-D02D1690AC5C}">
        <p15:threadingInfo xmlns:p15="http://schemas.microsoft.com/office/powerpoint/2012/main" timeZoneBias="420"/>
      </p:ext>
    </p:extLst>
  </p:cm>
  <p:cm authorId="1" dt="2026-05-19T11:17:57.452" idx="42">
    <p:pos x="1681" y="5084"/>
    <p:text>IVD is untested in quoting as of now; will need to gauge once RFPs shared</p:text>
    <p:extLst>
      <p:ext uri="{C676402C-5697-4E1C-873F-D02D1690AC5C}">
        <p15:threadingInfo xmlns:p15="http://schemas.microsoft.com/office/powerpoint/2012/main" timeZoneBias="420"/>
      </p:ext>
    </p:extLst>
  </p:cm>
  <p:cm authorId="0" dt="2026-05-22T18:43:00.572" idx="682">
    <p:pos x="1761" y="5004"/>
    <p:text>Future business success appears overly reliant on Apple Capex business, need to vet if they will be willing to work with us given size of opportunity.</p:text>
    <p:extLst>
      <p:ext uri="{C676402C-5697-4E1C-873F-D02D1690AC5C}">
        <p15:threadingInfo xmlns:p15="http://schemas.microsoft.com/office/powerpoint/2012/main" timeZoneBias="420">
          <p15:parentCm authorId="1" idx="42"/>
        </p15:threadingInfo>
      </p:ext>
    </p:extLst>
  </p:cm>
  <p:cm authorId="0" dt="2026-05-20T00:34:03.592" idx="683">
    <p:pos x="4094" y="5084"/>
    <p:text>Has a CN facility but is only bidding for non-CN work. Pending visit to this facility to understand what they do.</p:text>
    <p:extLst>
      <p:ext uri="{C676402C-5697-4E1C-873F-D02D1690AC5C}">
        <p15:threadingInfo xmlns:p15="http://schemas.microsoft.com/office/powerpoint/2012/main" timeZoneBias="420"/>
      </p:ext>
    </p:extLst>
  </p:cm>
  <p:cm authorId="0" dt="2026-05-20T00:34:38.714" idx="684">
    <p:pos x="4576" y="5084"/>
    <p:text>Would support IN from their VN facility.</p:text>
    <p:extLst>
      <p:ext uri="{C676402C-5697-4E1C-873F-D02D1690AC5C}">
        <p15:threadingInfo xmlns:p15="http://schemas.microsoft.com/office/powerpoint/2012/main" timeZoneBias="420"/>
      </p:ext>
    </p:extLst>
  </p:cm>
  <p:cm authorId="0" dt="2026-05-20T00:35:19.146" idx="685">
    <p:pos x="5059" y="5084"/>
    <p:text>Working on test stations for other customers. </p:text>
    <p:extLst>
      <p:ext uri="{C676402C-5697-4E1C-873F-D02D1690AC5C}">
        <p15:threadingInfo xmlns:p15="http://schemas.microsoft.com/office/powerpoint/2012/main" timeZoneBias="420"/>
      </p:ext>
    </p:extLst>
  </p:cm>
  <p:cm authorId="0" dt="2026-05-12T20:02:15.231" idx="686">
    <p:pos x="6989" y="5084"/>
    <p:text>No recent performance in TTM</p:text>
    <p:extLst>
      <p:ext uri="{C676402C-5697-4E1C-873F-D02D1690AC5C}">
        <p15:threadingInfo xmlns:p15="http://schemas.microsoft.com/office/powerpoint/2012/main" timeZoneBias="420"/>
      </p:ext>
    </p:extLst>
  </p:cm>
  <p:cm authorId="0" dt="2026-05-12T20:02:15.231" idx="687">
    <p:pos x="7530" y="5084"/>
    <p:text>No recent performance in TTM</p:text>
    <p:extLst>
      <p:ext uri="{C676402C-5697-4E1C-873F-D02D1690AC5C}">
        <p15:threadingInfo xmlns:p15="http://schemas.microsoft.com/office/powerpoint/2012/main" timeZoneBias="420"/>
      </p:ext>
    </p:extLst>
  </p:cm>
  <p:cm authorId="0" dt="2026-05-12T20:02:15.231" idx="688">
    <p:pos x="8612" y="5084"/>
    <p:text>No recent performance in TTM</p:text>
    <p:extLst>
      <p:ext uri="{C676402C-5697-4E1C-873F-D02D1690AC5C}">
        <p15:threadingInfo xmlns:p15="http://schemas.microsoft.com/office/powerpoint/2012/main" timeZoneBias="420"/>
      </p:ext>
    </p:extLst>
  </p:cm>
  <p:cm authorId="0" dt="2026-05-20T00:53:38.672" idx="689">
    <p:pos x="9970" y="5084"/>
    <p:text>Need to prove out technical capability. newly assembled team who has not worked together on complex projects.	</p:text>
    <p:extLst>
      <p:ext uri="{C676402C-5697-4E1C-873F-D02D1690AC5C}">
        <p15:threadingInfo xmlns:p15="http://schemas.microsoft.com/office/powerpoint/2012/main" timeZoneBias="420"/>
      </p:ext>
    </p:extLst>
  </p:cm>
  <p:cm authorId="0" dt="2026-05-20T00:53:38.672" idx="690">
    <p:pos x="10405" y="5084"/>
    <p:text>Need to prove out technical capability. newly assembled team who has not worked together on complex projects.	</p:text>
    <p:extLst>
      <p:ext uri="{C676402C-5697-4E1C-873F-D02D1690AC5C}">
        <p15:threadingInfo xmlns:p15="http://schemas.microsoft.com/office/powerpoint/2012/main" timeZoneBias="420"/>
      </p:ext>
    </p:extLst>
  </p:cm>
  <p:cm authorId="0" dt="2026-05-12T15:43:49.417" idx="691">
    <p:pos x="3128" y="5287"/>
    <p:text>CN/VN support strategy not vetted, not likely to clear by deadline</p:text>
    <p:extLst>
      <p:ext uri="{C676402C-5697-4E1C-873F-D02D1690AC5C}">
        <p15:threadingInfo xmlns:p15="http://schemas.microsoft.com/office/powerpoint/2012/main" timeZoneBias="420"/>
      </p:ext>
    </p:extLst>
  </p:cm>
  <p:cm authorId="1" dt="2026-05-19T11:20:19.982" idx="43">
    <p:pos x="3611" y="5287"/>
    <p:text>Partnership manufacturing sites; unlikely to be used by Apple</p:text>
    <p:extLst>
      <p:ext uri="{C676402C-5697-4E1C-873F-D02D1690AC5C}">
        <p15:threadingInfo xmlns:p15="http://schemas.microsoft.com/office/powerpoint/2012/main" timeZoneBias="420"/>
      </p:ext>
    </p:extLst>
  </p:cm>
  <p:cm authorId="0" dt="2026-05-13T21:16:51.780" idx="692">
    <p:pos x="4094" y="5287"/>
    <p:text>No existing infrastructure in VN/CN for HWTE to validate.</p:text>
    <p:extLst>
      <p:ext uri="{C676402C-5697-4E1C-873F-D02D1690AC5C}">
        <p15:threadingInfo xmlns:p15="http://schemas.microsoft.com/office/powerpoint/2012/main" timeZoneBias="420"/>
      </p:ext>
    </p:extLst>
  </p:cm>
  <p:cm authorId="0" dt="2026-05-13T21:16:51.780" idx="693">
    <p:pos x="5059" y="5287"/>
    <p:text>No existing infrastructure in VN/CN for HWTE to validate.</p:text>
    <p:extLst>
      <p:ext uri="{C676402C-5697-4E1C-873F-D02D1690AC5C}">
        <p15:threadingInfo xmlns:p15="http://schemas.microsoft.com/office/powerpoint/2012/main" timeZoneBias="420"/>
      </p:ext>
    </p:extLst>
  </p:cm>
  <p:cm authorId="0" dt="2026-05-12T20:11:44.560" idx="694">
    <p:pos x="5554" y="5287"/>
    <p:text>Doing conveyors as part of ramp, need YK to confirm performance</p:text>
    <p:extLst>
      <p:ext uri="{C676402C-5697-4E1C-873F-D02D1690AC5C}">
        <p15:threadingInfo xmlns:p15="http://schemas.microsoft.com/office/powerpoint/2012/main" timeZoneBias="420"/>
      </p:ext>
    </p:extLst>
  </p:cm>
  <p:cm authorId="0" dt="2026-05-12T20:02:15.231" idx="695">
    <p:pos x="7530" y="5287"/>
    <p:text>NPI: No recent performance in TTM
MP: VVDN do has issue. Magnolia cannot even setup running at India. India fall back to standalone. We have concern for VVDN for conveyor. They block station bringup Station even cannot start run. Cannot functional. With pull all our engineering resource, still cannot function </p:text>
    <p:extLst>
      <p:ext uri="{C676402C-5697-4E1C-873F-D02D1690AC5C}">
        <p15:threadingInfo xmlns:p15="http://schemas.microsoft.com/office/powerpoint/2012/main" timeZoneBias="420"/>
      </p:ext>
    </p:extLst>
  </p:cm>
  <p:cm authorId="0" dt="2026-05-15T07:08:37.727" idx="696">
    <p:pos x="8612" y="5287"/>
    <p:text>Need to confirm</p:text>
    <p:extLst>
      <p:ext uri="{C676402C-5697-4E1C-873F-D02D1690AC5C}">
        <p15:threadingInfo xmlns:p15="http://schemas.microsoft.com/office/powerpoint/2012/main" timeZoneBias="420"/>
      </p:ext>
    </p:extLst>
  </p:cm>
  <p:cm authorId="0" dt="2026-05-12T15:43:54.140" idx="697">
    <p:pos x="3128" y="5490"/>
    <p:text>CN/VN support strategy not vetted, not likely to clear by deadline</p:text>
    <p:extLst>
      <p:ext uri="{C676402C-5697-4E1C-873F-D02D1690AC5C}">
        <p15:threadingInfo xmlns:p15="http://schemas.microsoft.com/office/powerpoint/2012/main" timeZoneBias="420"/>
      </p:ext>
    </p:extLst>
  </p:cm>
  <p:cm authorId="0" dt="2026-05-12T15:44:09.216" idx="698">
    <p:pos x="3611" y="5490"/>
    <p:text>CN/VN support strategy not vetted, not likely to clear by deadline</p:text>
    <p:extLst>
      <p:ext uri="{C676402C-5697-4E1C-873F-D02D1690AC5C}">
        <p15:threadingInfo xmlns:p15="http://schemas.microsoft.com/office/powerpoint/2012/main" timeZoneBias="420"/>
      </p:ext>
    </p:extLst>
  </p:cm>
  <p:cm authorId="0" dt="2026-05-13T21:16:51.780" idx="699">
    <p:pos x="4094" y="5490"/>
    <p:text>No existing infrastructure in VN/CN for HWTE to validate.</p:text>
    <p:extLst>
      <p:ext uri="{C676402C-5697-4E1C-873F-D02D1690AC5C}">
        <p15:threadingInfo xmlns:p15="http://schemas.microsoft.com/office/powerpoint/2012/main" timeZoneBias="420"/>
      </p:ext>
    </p:extLst>
  </p:cm>
  <p:cm authorId="0" dt="2026-05-13T21:16:51.780" idx="700">
    <p:pos x="5059" y="5490"/>
    <p:text>No existing infrastructure in VN/CN for HWTE to validate.</p:text>
    <p:extLst>
      <p:ext uri="{C676402C-5697-4E1C-873F-D02D1690AC5C}">
        <p15:threadingInfo xmlns:p15="http://schemas.microsoft.com/office/powerpoint/2012/main" timeZoneBias="420"/>
      </p:ext>
    </p:extLst>
  </p:cm>
  <p:cm authorId="0" dt="2026-05-12T20:13:41.808" idx="701">
    <p:pos x="5554" y="5490"/>
    <p:text>No plan to qualify for conveyor projects due to capability limitations</p:text>
    <p:extLst>
      <p:ext uri="{C676402C-5697-4E1C-873F-D02D1690AC5C}">
        <p15:threadingInfo xmlns:p15="http://schemas.microsoft.com/office/powerpoint/2012/main" timeZoneBias="420"/>
      </p:ext>
    </p:extLst>
  </p:cm>
  <p:cm authorId="0" dt="2026-05-15T07:08:37.727" idx="702">
    <p:pos x="8612" y="5490"/>
    <p:text>Need to confirm</p:text>
    <p:extLst>
      <p:ext uri="{C676402C-5697-4E1C-873F-D02D1690AC5C}">
        <p15:threadingInfo xmlns:p15="http://schemas.microsoft.com/office/powerpoint/2012/main" timeZoneBias="420"/>
      </p:ext>
    </p:extLst>
  </p:cm>
  <p:cm authorId="0" dt="2026-05-12T15:43:49.417" idx="703">
    <p:pos x="3128" y="5675"/>
    <p:text>CN/VN support strategy not vetted, not likely to clear by deadline</p:text>
    <p:extLst>
      <p:ext uri="{C676402C-5697-4E1C-873F-D02D1690AC5C}">
        <p15:threadingInfo xmlns:p15="http://schemas.microsoft.com/office/powerpoint/2012/main" timeZoneBias="420"/>
      </p:ext>
    </p:extLst>
  </p:cm>
  <p:cm authorId="0" dt="2026-05-12T15:43:49.417" idx="704">
    <p:pos x="3611" y="5675"/>
    <p:text>CN/VN support strategy not vetted, not likely to clear by deadline</p:text>
    <p:extLst>
      <p:ext uri="{C676402C-5697-4E1C-873F-D02D1690AC5C}">
        <p15:threadingInfo xmlns:p15="http://schemas.microsoft.com/office/powerpoint/2012/main" timeZoneBias="420"/>
      </p:ext>
    </p:extLst>
  </p:cm>
  <p:cm authorId="0" dt="2026-05-13T21:16:51.780" idx="705">
    <p:pos x="4094" y="5675"/>
    <p:text>No existing infrastructure in VN/CN for HWTE to validate.</p:text>
    <p:extLst>
      <p:ext uri="{C676402C-5697-4E1C-873F-D02D1690AC5C}">
        <p15:threadingInfo xmlns:p15="http://schemas.microsoft.com/office/powerpoint/2012/main" timeZoneBias="420"/>
      </p:ext>
    </p:extLst>
  </p:cm>
  <p:cm authorId="0" dt="2026-05-13T21:16:51.780" idx="706">
    <p:pos x="5059" y="5675"/>
    <p:text>No existing infrastructure in VN/CN for HWTE to validate.</p:text>
    <p:extLst>
      <p:ext uri="{C676402C-5697-4E1C-873F-D02D1690AC5C}">
        <p15:threadingInfo xmlns:p15="http://schemas.microsoft.com/office/powerpoint/2012/main" timeZoneBias="420"/>
      </p:ext>
    </p:extLst>
  </p:cm>
  <p:cm authorId="0" dt="2026-05-12T20:20:14.345" idx="707">
    <p:pos x="6506" y="5675"/>
    <p:text>Performance issues in NPI point to limited bandwidth for team to focus on project.</p:text>
    <p:extLst>
      <p:ext uri="{C676402C-5697-4E1C-873F-D02D1690AC5C}">
        <p15:threadingInfo xmlns:p15="http://schemas.microsoft.com/office/powerpoint/2012/main" timeZoneBias="420"/>
      </p:ext>
    </p:extLst>
  </p:cm>
  <p:cm authorId="0" dt="2026-05-12T20:20:35.597" idx="708">
    <p:pos x="6989" y="5675"/>
    <p:text>Multiple line-down issues in MP and NPI</p:text>
    <p:extLst>
      <p:ext uri="{C676402C-5697-4E1C-873F-D02D1690AC5C}">
        <p15:threadingInfo xmlns:p15="http://schemas.microsoft.com/office/powerpoint/2012/main" timeZoneBias="420"/>
      </p:ext>
    </p:extLst>
  </p:cm>
  <p:cm authorId="0" dt="2026-05-12T20:20:35.597" idx="709">
    <p:pos x="7530" y="5675"/>
    <p:text>Multiple line-down issues in MP and NPI</p:text>
    <p:extLst>
      <p:ext uri="{C676402C-5697-4E1C-873F-D02D1690AC5C}">
        <p15:threadingInfo xmlns:p15="http://schemas.microsoft.com/office/powerpoint/2012/main" timeZoneBias="420"/>
      </p:ext>
    </p:extLst>
  </p:cm>
  <p:cm authorId="0" dt="2026-05-15T07:08:37.727" idx="710">
    <p:pos x="8612" y="5675"/>
    <p:text>Need to confirm</p:text>
    <p:extLst>
      <p:ext uri="{C676402C-5697-4E1C-873F-D02D1690AC5C}">
        <p15:threadingInfo xmlns:p15="http://schemas.microsoft.com/office/powerpoint/2012/main" timeZoneBias="420"/>
      </p:ext>
    </p:extLst>
  </p:cm>
  <p:cm authorId="0" dt="2026-05-12T20:16:03.969" idx="711">
    <p:pos x="4094" y="5878"/>
    <p:text>Not KO’ed since Anora was not identified as a high-priority SI.</p:text>
    <p:extLst>
      <p:ext uri="{C676402C-5697-4E1C-873F-D02D1690AC5C}">
        <p15:threadingInfo xmlns:p15="http://schemas.microsoft.com/office/powerpoint/2012/main" timeZoneBias="420"/>
      </p:ext>
    </p:extLst>
  </p:cm>
  <p:cm authorId="0" dt="2026-05-12T20:16:03.969" idx="712">
    <p:pos x="5554" y="5878"/>
    <p:text>Not KO’ed since Anora was not identified as a high-priority SI.</p:text>
    <p:extLst>
      <p:ext uri="{C676402C-5697-4E1C-873F-D02D1690AC5C}">
        <p15:threadingInfo xmlns:p15="http://schemas.microsoft.com/office/powerpoint/2012/main" timeZoneBias="420"/>
      </p:ext>
    </p:extLst>
  </p:cm>
  <p:cm authorId="0" dt="2026-05-12T20:17:13.365" idx="713">
    <p:pos x="5972" y="5878"/>
    <p:text>GSM to confirm</p:text>
    <p:extLst>
      <p:ext uri="{C676402C-5697-4E1C-873F-D02D1690AC5C}">
        <p15:threadingInfo xmlns:p15="http://schemas.microsoft.com/office/powerpoint/2012/main" timeZoneBias="420"/>
      </p:ext>
    </p:extLst>
  </p:cm>
  <p:cm authorId="0" dt="2026-05-12T20:17:13.365" idx="714">
    <p:pos x="6506" y="5878"/>
    <p:text>GSM to confirm</p:text>
    <p:extLst>
      <p:ext uri="{C676402C-5697-4E1C-873F-D02D1690AC5C}">
        <p15:threadingInfo xmlns:p15="http://schemas.microsoft.com/office/powerpoint/2012/main" timeZoneBias="420"/>
      </p:ext>
    </p:extLst>
  </p:cm>
  <p:cm authorId="0" dt="2026-05-12T20:02:15.231" idx="715">
    <p:pos x="6989" y="5878"/>
    <p:text>No recent performance in TTM</p:text>
    <p:extLst>
      <p:ext uri="{C676402C-5697-4E1C-873F-D02D1690AC5C}">
        <p15:threadingInfo xmlns:p15="http://schemas.microsoft.com/office/powerpoint/2012/main" timeZoneBias="420"/>
      </p:ext>
    </p:extLst>
  </p:cm>
  <p:cm authorId="0" dt="2026-05-12T20:02:15.231" idx="716">
    <p:pos x="7530" y="5878"/>
    <p:text>No recent performance in TTM</p:text>
    <p:extLst>
      <p:ext uri="{C676402C-5697-4E1C-873F-D02D1690AC5C}">
        <p15:threadingInfo xmlns:p15="http://schemas.microsoft.com/office/powerpoint/2012/main" timeZoneBias="420"/>
      </p:ext>
    </p:extLst>
  </p:cm>
  <p:cm authorId="0" dt="2026-05-12T20:02:15.231" idx="717">
    <p:pos x="8071" y="5878"/>
    <p:text>No recent performance in TTM</p:text>
    <p:extLst>
      <p:ext uri="{C676402C-5697-4E1C-873F-D02D1690AC5C}">
        <p15:threadingInfo xmlns:p15="http://schemas.microsoft.com/office/powerpoint/2012/main" timeZoneBias="420"/>
      </p:ext>
    </p:extLst>
  </p:cm>
  <p:cm authorId="0" dt="2026-05-12T20:02:15.231" idx="718">
    <p:pos x="8612" y="5878"/>
    <p:text>No recent performance in TTM</p:text>
    <p:extLst>
      <p:ext uri="{C676402C-5697-4E1C-873F-D02D1690AC5C}">
        <p15:threadingInfo xmlns:p15="http://schemas.microsoft.com/office/powerpoint/2012/main" timeZoneBias="420"/>
      </p:ext>
    </p:extLst>
  </p:cm>
  <p:cm authorId="0" dt="2026-05-12T20:02:15.231" idx="719">
    <p:pos x="9153" y="5878"/>
    <p:text>No recent performance in TTM</p:text>
    <p:extLst>
      <p:ext uri="{C676402C-5697-4E1C-873F-D02D1690AC5C}">
        <p15:threadingInfo xmlns:p15="http://schemas.microsoft.com/office/powerpoint/2012/main" timeZoneBias="420"/>
      </p:ext>
    </p:extLst>
  </p:cm>
  <p:cm authorId="1" dt="2026-05-19T11:22:38.531" idx="44">
    <p:pos x="1681" y="6073"/>
    <p:text>Redacting on prior commitments and declining RFPs</p:text>
    <p:extLst>
      <p:ext uri="{C676402C-5697-4E1C-873F-D02D1690AC5C}">
        <p15:threadingInfo xmlns:p15="http://schemas.microsoft.com/office/powerpoint/2012/main" timeZoneBias="420"/>
      </p:ext>
    </p:extLst>
  </p:cm>
  <p:cm authorId="0" dt="2026-05-12T20:05:16.904" idx="720">
    <p:pos x="4094" y="6073"/>
    <p:text>Pass but audit seems to indicate they would fail commercials.</p:text>
    <p:extLst>
      <p:ext uri="{C676402C-5697-4E1C-873F-D02D1690AC5C}">
        <p15:threadingInfo xmlns:p15="http://schemas.microsoft.com/office/powerpoint/2012/main" timeZoneBias="420"/>
      </p:ext>
    </p:extLst>
  </p:cm>
  <p:cm authorId="1" dt="2026-05-19T11:23:37.583" idx="45">
    <p:pos x="5972" y="6073"/>
    <p:text>Redacting on prior commitments and declining RFPs</p:text>
    <p:extLst>
      <p:ext uri="{C676402C-5697-4E1C-873F-D02D1690AC5C}">
        <p15:threadingInfo xmlns:p15="http://schemas.microsoft.com/office/powerpoint/2012/main" timeZoneBias="420"/>
      </p:ext>
    </p:extLst>
  </p:cm>
  <p:cm authorId="0" dt="2026-05-12T20:02:15.231" idx="721">
    <p:pos x="6989" y="6073"/>
    <p:text>No recent performance in TTM</p:text>
    <p:extLst>
      <p:ext uri="{C676402C-5697-4E1C-873F-D02D1690AC5C}">
        <p15:threadingInfo xmlns:p15="http://schemas.microsoft.com/office/powerpoint/2012/main" timeZoneBias="420"/>
      </p:ext>
    </p:extLst>
  </p:cm>
  <p:cm authorId="0" dt="2026-05-12T20:02:15.231" idx="722">
    <p:pos x="7530" y="6073"/>
    <p:text>No recent performance in TTM</p:text>
    <p:extLst>
      <p:ext uri="{C676402C-5697-4E1C-873F-D02D1690AC5C}">
        <p15:threadingInfo xmlns:p15="http://schemas.microsoft.com/office/powerpoint/2012/main" timeZoneBias="420"/>
      </p:ext>
    </p:extLst>
  </p:cm>
  <p:cm authorId="0" dt="2026-05-12T20:02:15.231" idx="723">
    <p:pos x="8071" y="6073"/>
    <p:text>No recent performance in TTM</p:text>
    <p:extLst>
      <p:ext uri="{C676402C-5697-4E1C-873F-D02D1690AC5C}">
        <p15:threadingInfo xmlns:p15="http://schemas.microsoft.com/office/powerpoint/2012/main" timeZoneBias="420"/>
      </p:ext>
    </p:extLst>
  </p:cm>
  <p:cm authorId="0" dt="2026-05-12T20:02:15.231" idx="724">
    <p:pos x="8612" y="6073"/>
    <p:text>No recent performance in TTM</p:text>
    <p:extLst>
      <p:ext uri="{C676402C-5697-4E1C-873F-D02D1690AC5C}">
        <p15:threadingInfo xmlns:p15="http://schemas.microsoft.com/office/powerpoint/2012/main" timeZoneBias="420"/>
      </p:ext>
    </p:extLst>
  </p:cm>
  <p:cm authorId="0" dt="2026-05-12T20:02:15.231" idx="725">
    <p:pos x="9153" y="6073"/>
    <p:text>No recent performance in TTM</p:text>
    <p:extLst>
      <p:ext uri="{C676402C-5697-4E1C-873F-D02D1690AC5C}">
        <p15:threadingInfo xmlns:p15="http://schemas.microsoft.com/office/powerpoint/2012/main" timeZoneBias="420"/>
      </p:ext>
    </p:extLst>
  </p:cm>
  <p:cm authorId="1" dt="2026-05-19T11:24:21.777" idx="46">
    <p:pos x="11444" y="6073"/>
    <p:text>Declining RFPs currently</p:text>
    <p:extLst>
      <p:ext uri="{C676402C-5697-4E1C-873F-D02D1690AC5C}">
        <p15:threadingInfo xmlns:p15="http://schemas.microsoft.com/office/powerpoint/2012/main" timeZoneBias="420"/>
      </p:ext>
    </p:extLst>
  </p:cm>
  <p:cm authorId="1" dt="2026-05-19T11:54:33.441" idx="47">
    <p:pos x="1681" y="6259"/>
    <p:text>Not historically competitive in VPG</p:text>
    <p:extLst>
      <p:ext uri="{C676402C-5697-4E1C-873F-D02D1690AC5C}">
        <p15:threadingInfo xmlns:p15="http://schemas.microsoft.com/office/powerpoint/2012/main" timeZoneBias="420"/>
      </p:ext>
    </p:extLst>
  </p:cm>
  <p:cm authorId="0" dt="2026-05-12T20:18:12.677" idx="726">
    <p:pos x="4094" y="6259"/>
    <p:text>gated by GSM Ok2Engage</p:text>
    <p:extLst>
      <p:ext uri="{C676402C-5697-4E1C-873F-D02D1690AC5C}">
        <p15:threadingInfo xmlns:p15="http://schemas.microsoft.com/office/powerpoint/2012/main" timeZoneBias="420"/>
      </p:ext>
    </p:extLst>
  </p:cm>
  <p:cm authorId="0" dt="2026-05-12T20:18:12.677" idx="727">
    <p:pos x="5554" y="6259"/>
    <p:text>gated by GSM Ok2Engage</p:text>
    <p:extLst>
      <p:ext uri="{C676402C-5697-4E1C-873F-D02D1690AC5C}">
        <p15:threadingInfo xmlns:p15="http://schemas.microsoft.com/office/powerpoint/2012/main" timeZoneBias="420"/>
      </p:ext>
    </p:extLst>
  </p:cm>
  <p:cm authorId="0" dt="2026-05-12T20:18:12.677" idx="728">
    <p:pos x="6506" y="6259"/>
    <p:text>gated by GSM Ok2Engage</p:text>
    <p:extLst>
      <p:ext uri="{C676402C-5697-4E1C-873F-D02D1690AC5C}">
        <p15:threadingInfo xmlns:p15="http://schemas.microsoft.com/office/powerpoint/2012/main" timeZoneBias="420"/>
      </p:ext>
    </p:extLst>
  </p:cm>
  <p:cm authorId="0" dt="2026-05-12T20:18:12.677" idx="729">
    <p:pos x="6989" y="6259"/>
    <p:text>gated by GSM Ok2Engage</p:text>
    <p:extLst>
      <p:ext uri="{C676402C-5697-4E1C-873F-D02D1690AC5C}">
        <p15:threadingInfo xmlns:p15="http://schemas.microsoft.com/office/powerpoint/2012/main" timeZoneBias="420"/>
      </p:ext>
    </p:extLst>
  </p:cm>
  <p:cm authorId="0" dt="2026-05-12T20:18:12.677" idx="730">
    <p:pos x="7530" y="6259"/>
    <p:text>gated by GSM Ok2Engage</p:text>
    <p:extLst>
      <p:ext uri="{C676402C-5697-4E1C-873F-D02D1690AC5C}">
        <p15:threadingInfo xmlns:p15="http://schemas.microsoft.com/office/powerpoint/2012/main" timeZoneBias="420"/>
      </p:ext>
    </p:extLst>
  </p:cm>
  <p:cm authorId="0" dt="2026-05-12T20:02:15.231" idx="731">
    <p:pos x="8071" y="6259"/>
    <p:text>No recent performance in TTM</p:text>
    <p:extLst>
      <p:ext uri="{C676402C-5697-4E1C-873F-D02D1690AC5C}">
        <p15:threadingInfo xmlns:p15="http://schemas.microsoft.com/office/powerpoint/2012/main" timeZoneBias="420"/>
      </p:ext>
    </p:extLst>
  </p:cm>
  <p:cm authorId="0" dt="2026-05-12T20:02:15.231" idx="732">
    <p:pos x="8612" y="6259"/>
    <p:text>No recent performance in TTM</p:text>
    <p:extLst>
      <p:ext uri="{C676402C-5697-4E1C-873F-D02D1690AC5C}">
        <p15:threadingInfo xmlns:p15="http://schemas.microsoft.com/office/powerpoint/2012/main" timeZoneBias="420"/>
      </p:ext>
    </p:extLst>
  </p:cm>
  <p:cm authorId="0" dt="2026-05-12T20:02:15.231" idx="733">
    <p:pos x="9153" y="6259"/>
    <p:text>No recent performance in TTM</p:text>
    <p:extLst>
      <p:ext uri="{C676402C-5697-4E1C-873F-D02D1690AC5C}">
        <p15:threadingInfo xmlns:p15="http://schemas.microsoft.com/office/powerpoint/2012/main" timeZoneBias="420"/>
      </p:ext>
    </p:extLst>
  </p:cm>
  <p:cm authorId="0" dt="2026-05-12T20:18:12.677" idx="734">
    <p:pos x="9557" y="6259"/>
    <p:text>gated by GSM Ok2Engage</p:text>
    <p:extLst>
      <p:ext uri="{C676402C-5697-4E1C-873F-D02D1690AC5C}">
        <p15:threadingInfo xmlns:p15="http://schemas.microsoft.com/office/powerpoint/2012/main" timeZoneBias="420"/>
      </p:ext>
    </p:extLst>
  </p:cm>
  <p:cm authorId="0" dt="2026-05-12T20:18:12.677" idx="735">
    <p:pos x="9970" y="6259"/>
    <p:text>gated by GSM Ok2Engage</p:text>
    <p:extLst>
      <p:ext uri="{C676402C-5697-4E1C-873F-D02D1690AC5C}">
        <p15:threadingInfo xmlns:p15="http://schemas.microsoft.com/office/powerpoint/2012/main" timeZoneBias="420"/>
      </p:ext>
    </p:extLst>
  </p:cm>
  <p:cm authorId="0" dt="2026-05-12T20:18:12.677" idx="736">
    <p:pos x="10405" y="6259"/>
    <p:text>gated by GSM Ok2Engage</p:text>
    <p:extLst>
      <p:ext uri="{C676402C-5697-4E1C-873F-D02D1690AC5C}">
        <p15:threadingInfo xmlns:p15="http://schemas.microsoft.com/office/powerpoint/2012/main" timeZoneBias="420"/>
      </p:ext>
    </p:extLst>
  </p:cm>
  <p:cm authorId="1" dt="2026-05-19T11:44:09.068" idx="48">
    <p:pos x="1198" y="6454"/>
    <p:text>ARPA and EDPA still in negotiation</p:text>
    <p:extLst>
      <p:ext uri="{C676402C-5697-4E1C-873F-D02D1690AC5C}">
        <p15:threadingInfo xmlns:p15="http://schemas.microsoft.com/office/powerpoint/2012/main" timeZoneBias="420"/>
      </p:ext>
    </p:extLst>
  </p:cm>
  <p:cm authorId="0" dt="2026-05-12T20:18:12.677" idx="737">
    <p:pos x="1681" y="6454"/>
    <p:text>pending GSM feedback</p:text>
    <p:extLst>
      <p:ext uri="{C676402C-5697-4E1C-873F-D02D1690AC5C}">
        <p15:threadingInfo xmlns:p15="http://schemas.microsoft.com/office/powerpoint/2012/main" timeZoneBias="420"/>
      </p:ext>
    </p:extLst>
  </p:cm>
  <p:cm authorId="0" dt="2026-05-12T20:18:12.677" idx="738">
    <p:pos x="4094" y="6454"/>
    <p:text>gated by GSM Ok2Engage</p:text>
    <p:extLst>
      <p:ext uri="{C676402C-5697-4E1C-873F-D02D1690AC5C}">
        <p15:threadingInfo xmlns:p15="http://schemas.microsoft.com/office/powerpoint/2012/main" timeZoneBias="420"/>
      </p:ext>
    </p:extLst>
  </p:cm>
  <p:cm authorId="0" dt="2026-05-12T20:18:12.677" idx="739">
    <p:pos x="5554" y="6454"/>
    <p:text>gated by GSM Ok2Engage</p:text>
    <p:extLst>
      <p:ext uri="{C676402C-5697-4E1C-873F-D02D1690AC5C}">
        <p15:threadingInfo xmlns:p15="http://schemas.microsoft.com/office/powerpoint/2012/main" timeZoneBias="420"/>
      </p:ext>
    </p:extLst>
  </p:cm>
  <p:cm authorId="0" dt="2026-05-12T20:18:12.677" idx="740">
    <p:pos x="5972" y="6454"/>
    <p:text>gated by GSM Ok2Engage</p:text>
    <p:extLst>
      <p:ext uri="{C676402C-5697-4E1C-873F-D02D1690AC5C}">
        <p15:threadingInfo xmlns:p15="http://schemas.microsoft.com/office/powerpoint/2012/main" timeZoneBias="420"/>
      </p:ext>
    </p:extLst>
  </p:cm>
  <p:cm authorId="0" dt="2026-05-12T20:18:12.677" idx="741">
    <p:pos x="6506" y="6454"/>
    <p:text>gated by GSM Ok2Engage</p:text>
    <p:extLst>
      <p:ext uri="{C676402C-5697-4E1C-873F-D02D1690AC5C}">
        <p15:threadingInfo xmlns:p15="http://schemas.microsoft.com/office/powerpoint/2012/main" timeZoneBias="420"/>
      </p:ext>
    </p:extLst>
  </p:cm>
  <p:cm authorId="0" dt="2026-05-12T20:18:12.677" idx="742">
    <p:pos x="6989" y="6454"/>
    <p:text>gated by GSM Ok2Engage</p:text>
    <p:extLst>
      <p:ext uri="{C676402C-5697-4E1C-873F-D02D1690AC5C}">
        <p15:threadingInfo xmlns:p15="http://schemas.microsoft.com/office/powerpoint/2012/main" timeZoneBias="420"/>
      </p:ext>
    </p:extLst>
  </p:cm>
  <p:cm authorId="0" dt="2026-05-12T20:18:12.677" idx="743">
    <p:pos x="7530" y="6454"/>
    <p:text>gated by GSM Ok2Engage</p:text>
    <p:extLst>
      <p:ext uri="{C676402C-5697-4E1C-873F-D02D1690AC5C}">
        <p15:threadingInfo xmlns:p15="http://schemas.microsoft.com/office/powerpoint/2012/main" timeZoneBias="420"/>
      </p:ext>
    </p:extLst>
  </p:cm>
  <p:cm authorId="0" dt="2026-05-12T20:02:15.231" idx="744">
    <p:pos x="8071" y="6454"/>
    <p:text>No recent performance in TTM</p:text>
    <p:extLst>
      <p:ext uri="{C676402C-5697-4E1C-873F-D02D1690AC5C}">
        <p15:threadingInfo xmlns:p15="http://schemas.microsoft.com/office/powerpoint/2012/main" timeZoneBias="420"/>
      </p:ext>
    </p:extLst>
  </p:cm>
  <p:cm authorId="0" dt="2026-05-12T20:02:15.231" idx="745">
    <p:pos x="8612" y="6454"/>
    <p:text>No recent performance in TTM</p:text>
    <p:extLst>
      <p:ext uri="{C676402C-5697-4E1C-873F-D02D1690AC5C}">
        <p15:threadingInfo xmlns:p15="http://schemas.microsoft.com/office/powerpoint/2012/main" timeZoneBias="420"/>
      </p:ext>
    </p:extLst>
  </p:cm>
  <p:cm authorId="0" dt="2026-05-12T20:02:15.231" idx="746">
    <p:pos x="9153" y="6454"/>
    <p:text>No recent performance in TTM</p:text>
    <p:extLst>
      <p:ext uri="{C676402C-5697-4E1C-873F-D02D1690AC5C}">
        <p15:threadingInfo xmlns:p15="http://schemas.microsoft.com/office/powerpoint/2012/main" timeZoneBias="420"/>
      </p:ext>
    </p:extLst>
  </p:cm>
  <p:cm authorId="0" dt="2026-05-12T20:18:12.677" idx="747">
    <p:pos x="9557" y="6454"/>
    <p:text>gated by GSM Ok2Engage</p:text>
    <p:extLst>
      <p:ext uri="{C676402C-5697-4E1C-873F-D02D1690AC5C}">
        <p15:threadingInfo xmlns:p15="http://schemas.microsoft.com/office/powerpoint/2012/main" timeZoneBias="420"/>
      </p:ext>
    </p:extLst>
  </p:cm>
  <p:cm authorId="0" dt="2026-05-12T20:18:12.677" idx="748">
    <p:pos x="9970" y="6454"/>
    <p:text>gated by GSM Ok2Engage</p:text>
    <p:extLst>
      <p:ext uri="{C676402C-5697-4E1C-873F-D02D1690AC5C}">
        <p15:threadingInfo xmlns:p15="http://schemas.microsoft.com/office/powerpoint/2012/main" timeZoneBias="420"/>
      </p:ext>
    </p:extLst>
  </p:cm>
  <p:cm authorId="0" dt="2026-05-12T20:18:12.677" idx="749">
    <p:pos x="10405" y="6454"/>
    <p:text>gated by GSM Ok2Engage</p:text>
    <p:extLst>
      <p:ext uri="{C676402C-5697-4E1C-873F-D02D1690AC5C}">
        <p15:threadingInfo xmlns:p15="http://schemas.microsoft.com/office/powerpoint/2012/main" timeZoneBias="420"/>
      </p:ext>
    </p:extLst>
  </p:cm>
  <p:cm authorId="0" dt="2026-05-12T20:18:12.677" idx="750">
    <p:pos x="1198" y="6640"/>
    <p:text>pending GSM feedback</p:text>
    <p:extLst>
      <p:ext uri="{C676402C-5697-4E1C-873F-D02D1690AC5C}">
        <p15:threadingInfo xmlns:p15="http://schemas.microsoft.com/office/powerpoint/2012/main" timeZoneBias="420"/>
      </p:ext>
    </p:extLst>
  </p:cm>
  <p:cm authorId="1" dt="2026-05-19T11:19:07.729" idx="49">
    <p:pos x="1278" y="6560"/>
    <p:text>Refuse to sign EDPA- not likely to be engaged moving forward</p:text>
    <p:extLst>
      <p:ext uri="{C676402C-5697-4E1C-873F-D02D1690AC5C}">
        <p15:threadingInfo xmlns:p15="http://schemas.microsoft.com/office/powerpoint/2012/main" timeZoneBias="420">
          <p15:parentCm authorId="0" idx="750"/>
        </p15:threadingInfo>
      </p:ext>
    </p:extLst>
  </p:cm>
  <p:cm authorId="0" dt="2026-05-12T20:18:12.677" idx="751">
    <p:pos x="1681" y="6640"/>
    <p:text>pending GSM feedback</p:text>
    <p:extLst>
      <p:ext uri="{C676402C-5697-4E1C-873F-D02D1690AC5C}">
        <p15:threadingInfo xmlns:p15="http://schemas.microsoft.com/office/powerpoint/2012/main" timeZoneBias="420"/>
      </p:ext>
    </p:extLst>
  </p:cm>
  <p:cm authorId="0" dt="2026-05-12T20:18:12.677" idx="752">
    <p:pos x="4094" y="6640"/>
    <p:text>gated by GSM Ok2Engage</p:text>
    <p:extLst>
      <p:ext uri="{C676402C-5697-4E1C-873F-D02D1690AC5C}">
        <p15:threadingInfo xmlns:p15="http://schemas.microsoft.com/office/powerpoint/2012/main" timeZoneBias="420"/>
      </p:ext>
    </p:extLst>
  </p:cm>
  <p:cm authorId="0" dt="2026-05-12T20:18:12.677" idx="753">
    <p:pos x="5554" y="6640"/>
    <p:text>gated by GSM Ok2Engage</p:text>
    <p:extLst>
      <p:ext uri="{C676402C-5697-4E1C-873F-D02D1690AC5C}">
        <p15:threadingInfo xmlns:p15="http://schemas.microsoft.com/office/powerpoint/2012/main" timeZoneBias="420"/>
      </p:ext>
    </p:extLst>
  </p:cm>
  <p:cm authorId="0" dt="2026-05-12T20:18:12.677" idx="754">
    <p:pos x="5972" y="6640"/>
    <p:text>gated by GSM Ok2Engage</p:text>
    <p:extLst>
      <p:ext uri="{C676402C-5697-4E1C-873F-D02D1690AC5C}">
        <p15:threadingInfo xmlns:p15="http://schemas.microsoft.com/office/powerpoint/2012/main" timeZoneBias="420"/>
      </p:ext>
    </p:extLst>
  </p:cm>
  <p:cm authorId="0" dt="2026-05-12T20:18:12.677" idx="755">
    <p:pos x="6506" y="6640"/>
    <p:text>gated by GSM Ok2Engage</p:text>
    <p:extLst>
      <p:ext uri="{C676402C-5697-4E1C-873F-D02D1690AC5C}">
        <p15:threadingInfo xmlns:p15="http://schemas.microsoft.com/office/powerpoint/2012/main" timeZoneBias="420"/>
      </p:ext>
    </p:extLst>
  </p:cm>
  <p:cm authorId="0" dt="2026-05-12T20:18:12.677" idx="756">
    <p:pos x="6989" y="6640"/>
    <p:text>gated by GSM Ok2Engage</p:text>
    <p:extLst>
      <p:ext uri="{C676402C-5697-4E1C-873F-D02D1690AC5C}">
        <p15:threadingInfo xmlns:p15="http://schemas.microsoft.com/office/powerpoint/2012/main" timeZoneBias="420"/>
      </p:ext>
    </p:extLst>
  </p:cm>
  <p:cm authorId="0" dt="2026-05-12T20:18:12.677" idx="757">
    <p:pos x="7530" y="6640"/>
    <p:text>gated by GSM Ok2Engage</p:text>
    <p:extLst>
      <p:ext uri="{C676402C-5697-4E1C-873F-D02D1690AC5C}">
        <p15:threadingInfo xmlns:p15="http://schemas.microsoft.com/office/powerpoint/2012/main" timeZoneBias="420"/>
      </p:ext>
    </p:extLst>
  </p:cm>
  <p:cm authorId="0" dt="2026-05-12T20:02:15.231" idx="758">
    <p:pos x="8071" y="6640"/>
    <p:text>No recent performance in TTM</p:text>
    <p:extLst>
      <p:ext uri="{C676402C-5697-4E1C-873F-D02D1690AC5C}">
        <p15:threadingInfo xmlns:p15="http://schemas.microsoft.com/office/powerpoint/2012/main" timeZoneBias="420"/>
      </p:ext>
    </p:extLst>
  </p:cm>
  <p:cm authorId="0" dt="2026-05-12T20:02:15.231" idx="759">
    <p:pos x="8612" y="6640"/>
    <p:text>No recent performance in TTM</p:text>
    <p:extLst>
      <p:ext uri="{C676402C-5697-4E1C-873F-D02D1690AC5C}">
        <p15:threadingInfo xmlns:p15="http://schemas.microsoft.com/office/powerpoint/2012/main" timeZoneBias="420"/>
      </p:ext>
    </p:extLst>
  </p:cm>
  <p:cm authorId="0" dt="2026-05-12T20:02:15.231" idx="760">
    <p:pos x="9153" y="6640"/>
    <p:text>No recent performance in TTM</p:text>
    <p:extLst>
      <p:ext uri="{C676402C-5697-4E1C-873F-D02D1690AC5C}">
        <p15:threadingInfo xmlns:p15="http://schemas.microsoft.com/office/powerpoint/2012/main" timeZoneBias="420"/>
      </p:ext>
    </p:extLst>
  </p:cm>
  <p:cm authorId="0" dt="2026-05-12T20:18:12.677" idx="761">
    <p:pos x="9557" y="6640"/>
    <p:text>gated by GSM Ok2Engage</p:text>
    <p:extLst>
      <p:ext uri="{C676402C-5697-4E1C-873F-D02D1690AC5C}">
        <p15:threadingInfo xmlns:p15="http://schemas.microsoft.com/office/powerpoint/2012/main" timeZoneBias="420"/>
      </p:ext>
    </p:extLst>
  </p:cm>
  <p:cm authorId="0" dt="2026-05-12T20:18:12.677" idx="762">
    <p:pos x="9970" y="6640"/>
    <p:text>gated by GSM Ok2Engage</p:text>
    <p:extLst>
      <p:ext uri="{C676402C-5697-4E1C-873F-D02D1690AC5C}">
        <p15:threadingInfo xmlns:p15="http://schemas.microsoft.com/office/powerpoint/2012/main" timeZoneBias="420"/>
      </p:ext>
    </p:extLst>
  </p:cm>
  <p:cm authorId="0" dt="2026-05-12T20:18:12.677" idx="763">
    <p:pos x="10405" y="6640"/>
    <p:text>gated by GSM Ok2Engage</p:text>
    <p:extLst>
      <p:ext uri="{C676402C-5697-4E1C-873F-D02D1690AC5C}">
        <p15:threadingInfo xmlns:p15="http://schemas.microsoft.com/office/powerpoint/2012/main" timeZoneBias="420"/>
      </p:ext>
    </p:extLst>
  </p:cm>
  <p:cm authorId="1" dt="2026-05-19T11:44:09.068" idx="50">
    <p:pos x="1198" y="6835"/>
    <p:text>ARPA and EDPA still in negotiation</p:text>
    <p:extLst>
      <p:ext uri="{C676402C-5697-4E1C-873F-D02D1690AC5C}">
        <p15:threadingInfo xmlns:p15="http://schemas.microsoft.com/office/powerpoint/2012/main" timeZoneBias="420"/>
      </p:ext>
    </p:extLst>
  </p:cm>
  <p:cm authorId="0" dt="2026-05-12T20:18:12.677" idx="764">
    <p:pos x="1681" y="6835"/>
    <p:text>pending GSM feedback</p:text>
    <p:extLst>
      <p:ext uri="{C676402C-5697-4E1C-873F-D02D1690AC5C}">
        <p15:threadingInfo xmlns:p15="http://schemas.microsoft.com/office/powerpoint/2012/main" timeZoneBias="420"/>
      </p:ext>
    </p:extLst>
  </p:cm>
  <p:cm authorId="0" dt="2026-05-12T20:18:12.677" idx="765">
    <p:pos x="4094" y="6835"/>
    <p:text>gated by GSM Ok2Engage</p:text>
    <p:extLst>
      <p:ext uri="{C676402C-5697-4E1C-873F-D02D1690AC5C}">
        <p15:threadingInfo xmlns:p15="http://schemas.microsoft.com/office/powerpoint/2012/main" timeZoneBias="420"/>
      </p:ext>
    </p:extLst>
  </p:cm>
  <p:cm authorId="0" dt="2026-05-12T20:18:12.677" idx="766">
    <p:pos x="5554" y="6835"/>
    <p:text>gated by GSM Ok2Engage</p:text>
    <p:extLst>
      <p:ext uri="{C676402C-5697-4E1C-873F-D02D1690AC5C}">
        <p15:threadingInfo xmlns:p15="http://schemas.microsoft.com/office/powerpoint/2012/main" timeZoneBias="420"/>
      </p:ext>
    </p:extLst>
  </p:cm>
  <p:cm authorId="0" dt="2026-05-12T20:18:12.677" idx="767">
    <p:pos x="5972" y="6835"/>
    <p:text>gated by GSM Ok2Engage</p:text>
    <p:extLst>
      <p:ext uri="{C676402C-5697-4E1C-873F-D02D1690AC5C}">
        <p15:threadingInfo xmlns:p15="http://schemas.microsoft.com/office/powerpoint/2012/main" timeZoneBias="420"/>
      </p:ext>
    </p:extLst>
  </p:cm>
  <p:cm authorId="0" dt="2026-05-12T20:18:12.677" idx="768">
    <p:pos x="6506" y="6835"/>
    <p:text>gated by GSM Ok2Engage</p:text>
    <p:extLst>
      <p:ext uri="{C676402C-5697-4E1C-873F-D02D1690AC5C}">
        <p15:threadingInfo xmlns:p15="http://schemas.microsoft.com/office/powerpoint/2012/main" timeZoneBias="420"/>
      </p:ext>
    </p:extLst>
  </p:cm>
  <p:cm authorId="0" dt="2026-05-12T20:18:12.677" idx="769">
    <p:pos x="6989" y="6835"/>
    <p:text>gated by GSM Ok2Engage</p:text>
    <p:extLst>
      <p:ext uri="{C676402C-5697-4E1C-873F-D02D1690AC5C}">
        <p15:threadingInfo xmlns:p15="http://schemas.microsoft.com/office/powerpoint/2012/main" timeZoneBias="420"/>
      </p:ext>
    </p:extLst>
  </p:cm>
  <p:cm authorId="0" dt="2026-05-12T20:18:12.677" idx="770">
    <p:pos x="7530" y="6835"/>
    <p:text>gated by GSM Ok2Engage</p:text>
    <p:extLst>
      <p:ext uri="{C676402C-5697-4E1C-873F-D02D1690AC5C}">
        <p15:threadingInfo xmlns:p15="http://schemas.microsoft.com/office/powerpoint/2012/main" timeZoneBias="420"/>
      </p:ext>
    </p:extLst>
  </p:cm>
  <p:cm authorId="0" dt="2026-05-12T20:02:15.231" idx="771">
    <p:pos x="8071" y="6835"/>
    <p:text>No recent performance in TTM</p:text>
    <p:extLst>
      <p:ext uri="{C676402C-5697-4E1C-873F-D02D1690AC5C}">
        <p15:threadingInfo xmlns:p15="http://schemas.microsoft.com/office/powerpoint/2012/main" timeZoneBias="420"/>
      </p:ext>
    </p:extLst>
  </p:cm>
  <p:cm authorId="0" dt="2026-05-12T20:02:15.231" idx="772">
    <p:pos x="8612" y="6835"/>
    <p:text>No recent performance in TTM</p:text>
    <p:extLst>
      <p:ext uri="{C676402C-5697-4E1C-873F-D02D1690AC5C}">
        <p15:threadingInfo xmlns:p15="http://schemas.microsoft.com/office/powerpoint/2012/main" timeZoneBias="420"/>
      </p:ext>
    </p:extLst>
  </p:cm>
  <p:cm authorId="0" dt="2026-05-12T20:02:15.231" idx="773">
    <p:pos x="9153" y="6835"/>
    <p:text>No recent performance in TTM</p:text>
    <p:extLst>
      <p:ext uri="{C676402C-5697-4E1C-873F-D02D1690AC5C}">
        <p15:threadingInfo xmlns:p15="http://schemas.microsoft.com/office/powerpoint/2012/main" timeZoneBias="420"/>
      </p:ext>
    </p:extLst>
  </p:cm>
  <p:cm authorId="0" dt="2026-05-12T20:18:12.677" idx="774">
    <p:pos x="9557" y="6835"/>
    <p:text>gated by GSM Ok2Engage</p:text>
    <p:extLst>
      <p:ext uri="{C676402C-5697-4E1C-873F-D02D1690AC5C}">
        <p15:threadingInfo xmlns:p15="http://schemas.microsoft.com/office/powerpoint/2012/main" timeZoneBias="420"/>
      </p:ext>
    </p:extLst>
  </p:cm>
  <p:cm authorId="0" dt="2026-05-12T20:18:12.677" idx="775">
    <p:pos x="9970" y="6835"/>
    <p:text>gated by GSM Ok2Engage</p:text>
    <p:extLst>
      <p:ext uri="{C676402C-5697-4E1C-873F-D02D1690AC5C}">
        <p15:threadingInfo xmlns:p15="http://schemas.microsoft.com/office/powerpoint/2012/main" timeZoneBias="420"/>
      </p:ext>
    </p:extLst>
  </p:cm>
  <p:cm authorId="0" dt="2026-05-12T20:18:12.677" idx="776">
    <p:pos x="10405" y="6835"/>
    <p:text>gated by GSM Ok2Engage</p:text>
    <p:extLst>
      <p:ext uri="{C676402C-5697-4E1C-873F-D02D1690AC5C}">
        <p15:threadingInfo xmlns:p15="http://schemas.microsoft.com/office/powerpoint/2012/main" timeZoneBias="420"/>
      </p:ext>
    </p:extLst>
  </p:cm>
</p:cmLst>
</file>

<file path=ppt/comments/comment6.xml><?xml version="1.0" encoding="utf-8"?>
<p:cm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m authorId="0" dt="2026-05-20T00:01:28.656" idx="777">
    <p:pos x="2949" y="1225"/>
    <p:text>1.0 = Proven / operational today
0.75 = Operational but immature or limited scale
0.5 = Capability exists but not demonstrated for HWTE scope
0.25 = Theoretical capability only (i.e. Amp Thai)
TBD = Insufficient validation / roadmap only (I.e.maybe VVDN 🤷‍♂️ )
0 = Does not meet requirement</p:text>
    <p:extLst>
      <p:ext uri="{C676402C-5697-4E1C-873F-D02D1690AC5C}">
        <p15:threadingInfo xmlns:p15="http://schemas.microsoft.com/office/powerpoint/2012/main" timeZoneBias="420"/>
      </p:ext>
    </p:extLst>
  </p:cm>
  <p:cm authorId="0" dt="2026-05-19T19:52:35.442" idx="778">
    <p:pos x="2296" y="2335"/>
    <p:text>Have had assurances from Apple leadership that Amphenol is committed to working on TE stations. However, we’ve seen several verbal commits throughout the last twelve months that Amphenol subsequently backed out of. K12p will be last opportunity to have them bid on projects.</p:text>
    <p:extLst>
      <p:ext uri="{C676402C-5697-4E1C-873F-D02D1690AC5C}">
        <p15:threadingInfo xmlns:p15="http://schemas.microsoft.com/office/powerpoint/2012/main" timeZoneBias="420"/>
      </p:ext>
    </p:extLst>
  </p:cm>
  <p:cm authorId="0" dt="2026-05-12T15:35:54.130" idx="779">
    <p:pos x="5561" y="2335"/>
    <p:text>Strong Apple manufacturing/integration experience with expanding automation capability. Global facilities need follow up but can support from CN for this project. Need conveyor experience.</p:text>
    <p:extLst>
      <p:ext uri="{C676402C-5697-4E1C-873F-D02D1690AC5C}">
        <p15:threadingInfo xmlns:p15="http://schemas.microsoft.com/office/powerpoint/2012/main" timeZoneBias="420"/>
      </p:ext>
    </p:extLst>
  </p:cm>
  <p:cm authorId="0" dt="2026-05-12T15:35:54.130" idx="780">
    <p:pos x="6215" y="2335"/>
    <p:text>Support retrofits only for Ironman stations on V6y programs. </p:text>
    <p:extLst>
      <p:ext uri="{C676402C-5697-4E1C-873F-D02D1690AC5C}">
        <p15:threadingInfo xmlns:p15="http://schemas.microsoft.com/office/powerpoint/2012/main" timeZoneBias="420"/>
      </p:ext>
    </p:extLst>
  </p:cm>
  <p:cm authorId="0" dt="2026-05-20T00:05:26.554" idx="781">
    <p:pos x="6868" y="2335"/>
    <p:text>Thailand site unvetted, pending SQE audit</p:text>
    <p:extLst>
      <p:ext uri="{C676402C-5697-4E1C-873F-D02D1690AC5C}">
        <p15:threadingInfo xmlns:p15="http://schemas.microsoft.com/office/powerpoint/2012/main" timeZoneBias="420"/>
      </p:ext>
    </p:extLst>
  </p:cm>
  <p:cm authorId="0" dt="2026-05-12T15:36:06.879" idx="782">
    <p:pos x="7539" y="2335"/>
    <p:text>Significant apple experience but needs a conveyor/automation project to stress-test capability</p:text>
    <p:extLst>
      <p:ext uri="{C676402C-5697-4E1C-873F-D02D1690AC5C}">
        <p15:threadingInfo xmlns:p15="http://schemas.microsoft.com/office/powerpoint/2012/main" timeZoneBias="420"/>
      </p:ext>
    </p:extLst>
  </p:cm>
  <p:cm authorId="0" dt="2026-05-19T19:52:35.442" idx="783">
    <p:pos x="13514" y="2335"/>
    <p:text>Have had assurances from Apple leadership that Amphenol is committed to working on TE stations. However, we’ve seen several verbal commits throughout the last twelve months that Amphenol subsequently backed out of. K12p will be last opportunity to have them bid on projects.</p:text>
    <p:extLst>
      <p:ext uri="{C676402C-5697-4E1C-873F-D02D1690AC5C}">
        <p15:threadingInfo xmlns:p15="http://schemas.microsoft.com/office/powerpoint/2012/main" timeZoneBias="420"/>
      </p:ext>
    </p:extLst>
  </p:cm>
  <p:cm authorId="0" dt="2026-05-12T15:47:20.969" idx="784">
    <p:pos x="2296" y="2515"/>
    <p:text>Cannot meet MP pricing targets</p:text>
    <p:extLst>
      <p:ext uri="{C676402C-5697-4E1C-873F-D02D1690AC5C}">
        <p15:threadingInfo xmlns:p15="http://schemas.microsoft.com/office/powerpoint/2012/main" timeZoneBias="420"/>
      </p:ext>
    </p:extLst>
  </p:cm>
  <p:cm authorId="0" dt="2026-05-12T15:38:38.148" idx="785">
    <p:pos x="5561" y="2515"/>
    <p:text>Elite technical capability for advanced metrology/test/cal systems.</p:text>
    <p:extLst>
      <p:ext uri="{C676402C-5697-4E1C-873F-D02D1690AC5C}">
        <p15:threadingInfo xmlns:p15="http://schemas.microsoft.com/office/powerpoint/2012/main" timeZoneBias="420"/>
      </p:ext>
    </p:extLst>
  </p:cm>
  <p:cm authorId="0" dt="2026-05-12T15:38:38.148" idx="786">
    <p:pos x="6215" y="2515"/>
    <p:text>Elite technical capability for advanced metrology/test/cal systems.</p:text>
    <p:extLst>
      <p:ext uri="{C676402C-5697-4E1C-873F-D02D1690AC5C}">
        <p15:threadingInfo xmlns:p15="http://schemas.microsoft.com/office/powerpoint/2012/main" timeZoneBias="420"/>
      </p:ext>
    </p:extLst>
  </p:cm>
  <p:cm authorId="0" dt="2026-05-12T15:38:38.148" idx="787">
    <p:pos x="6868" y="2515"/>
    <p:text>Elite technical capability for advanced metrology/test/cal systems.</p:text>
    <p:extLst>
      <p:ext uri="{C676402C-5697-4E1C-873F-D02D1690AC5C}">
        <p15:threadingInfo xmlns:p15="http://schemas.microsoft.com/office/powerpoint/2012/main" timeZoneBias="420"/>
      </p:ext>
    </p:extLst>
  </p:cm>
  <p:cm authorId="0" dt="2026-05-12T19:51:01.997" idx="788">
    <p:pos x="10212" y="2515"/>
    <p:text>Missed EIH on some stations during early engagements (need list from teams).</p:text>
    <p:extLst>
      <p:ext uri="{C676402C-5697-4E1C-873F-D02D1690AC5C}">
        <p15:threadingInfo xmlns:p15="http://schemas.microsoft.com/office/powerpoint/2012/main" timeZoneBias="420"/>
      </p:ext>
    </p:extLst>
  </p:cm>
  <p:cm authorId="0" dt="2026-05-14T02:05:54.779" idx="789">
    <p:pos x="990" y="2702"/>
    <p:text>Overcharge for OSS (J312 Wavesight), Slow comms (have to go back to Italy for everything)</p:text>
    <p:extLst>
      <p:ext uri="{C676402C-5697-4E1C-873F-D02D1690AC5C}">
        <p15:threadingInfo xmlns:p15="http://schemas.microsoft.com/office/powerpoint/2012/main" timeZoneBias="420"/>
      </p:ext>
    </p:extLst>
  </p:cm>
  <p:cm authorId="0" dt="2026-05-12T20:00:58.422" idx="790">
    <p:pos x="2296" y="2702"/>
    <p:text>Need GSMs to confirm pricing targets can be met, but historically have supplied stations so in theory should be ok.</p:text>
    <p:extLst>
      <p:ext uri="{C676402C-5697-4E1C-873F-D02D1690AC5C}">
        <p15:threadingInfo xmlns:p15="http://schemas.microsoft.com/office/powerpoint/2012/main" timeZoneBias="420"/>
      </p:ext>
    </p:extLst>
  </p:cm>
  <p:cm authorId="0" dt="2026-05-12T15:42:08.349" idx="791">
    <p:pos x="5561" y="2702"/>
    <p:text>Proven Apple SI with strong electronics and test-domain expertise</p:text>
    <p:extLst>
      <p:ext uri="{C676402C-5697-4E1C-873F-D02D1690AC5C}">
        <p15:threadingInfo xmlns:p15="http://schemas.microsoft.com/office/powerpoint/2012/main" timeZoneBias="420"/>
      </p:ext>
    </p:extLst>
  </p:cm>
  <p:cm authorId="0" dt="2026-05-20T00:34:38.714" idx="792">
    <p:pos x="6215" y="2702"/>
    <p:text>Would support IN from their IT and TH facility. unclear how their OSS speed and retrofit capability would work, Bob to further vet.</p:text>
    <p:extLst>
      <p:ext uri="{C676402C-5697-4E1C-873F-D02D1690AC5C}">
        <p15:threadingInfo xmlns:p15="http://schemas.microsoft.com/office/powerpoint/2012/main" timeZoneBias="420"/>
      </p:ext>
    </p:extLst>
  </p:cm>
  <p:cm authorId="0" dt="2026-05-20T00:34:38.714" idx="793">
    <p:pos x="6868" y="2702"/>
    <p:text>Would support IN from their IT and TH facility. unclear how their OSS speed and retrofit capability would work, Bob to further vet.</p:text>
    <p:extLst>
      <p:ext uri="{C676402C-5697-4E1C-873F-D02D1690AC5C}">
        <p15:threadingInfo xmlns:p15="http://schemas.microsoft.com/office/powerpoint/2012/main" timeZoneBias="420"/>
      </p:ext>
    </p:extLst>
  </p:cm>
  <p:cm authorId="0" dt="2026-05-12T20:01:24.734" idx="794">
    <p:pos x="7539" y="2702"/>
    <p:text>Experienced with complex automation but haven’t completed a conveyor qual. would be a good candidate station for SPEA to learn and scale on.</p:text>
    <p:extLst>
      <p:ext uri="{C676402C-5697-4E1C-873F-D02D1690AC5C}">
        <p15:threadingInfo xmlns:p15="http://schemas.microsoft.com/office/powerpoint/2012/main" timeZoneBias="420"/>
      </p:ext>
    </p:extLst>
  </p:cm>
  <p:cm authorId="0" dt="2026-05-20T00:36:27.033" idx="795">
    <p:pos x="12409" y="2702"/>
    <p:text>Performance issues highlighted around speed of feedback. major concern is on scalability/ability to support large quantifies of projects in and outside of CN.</p:text>
    <p:extLst>
      <p:ext uri="{C676402C-5697-4E1C-873F-D02D1690AC5C}">
        <p15:threadingInfo xmlns:p15="http://schemas.microsoft.com/office/powerpoint/2012/main" timeZoneBias="420"/>
      </p:ext>
    </p:extLst>
  </p:cm>
  <p:cm authorId="0" dt="2026-05-29T02:22:50.166" idx="796">
    <p:pos x="12489" y="2622"/>
    <p:text>From Leon: I remember their support is very slow on portable project before and the OSS is not from their company(should from 3rd part if I remember correctly). </p:text>
    <p:extLst>
      <p:ext uri="{C676402C-5697-4E1C-873F-D02D1690AC5C}">
        <p15:threadingInfo xmlns:p15="http://schemas.microsoft.com/office/powerpoint/2012/main" timeZoneBias="420">
          <p15:parentCm authorId="0" idx="795"/>
        </p15:threadingInfo>
      </p:ext>
    </p:extLst>
  </p:cm>
  <p:cm authorId="0" dt="2026-05-20T00:53:06.290" idx="797">
    <p:pos x="14103" y="2702"/>
    <p:text>Need to confirm scalability/ability to support ramp.</p:text>
    <p:extLst>
      <p:ext uri="{C676402C-5697-4E1C-873F-D02D1690AC5C}">
        <p15:threadingInfo xmlns:p15="http://schemas.microsoft.com/office/powerpoint/2012/main" timeZoneBias="420"/>
      </p:ext>
    </p:extLst>
  </p:cm>
  <p:cm authorId="0" dt="2026-05-12T15:33:06.628" idx="798">
    <p:pos x="5561" y="2889"/>
    <p:text>From Bob: Strong India infrastructure, machining capability, and growing technical alignment to HWTE needs</p:text>
    <p:extLst>
      <p:ext uri="{C676402C-5697-4E1C-873F-D02D1690AC5C}">
        <p15:threadingInfo xmlns:p15="http://schemas.microsoft.com/office/powerpoint/2012/main" timeZoneBias="420"/>
      </p:ext>
    </p:extLst>
  </p:cm>
  <p:cm authorId="0" dt="2026-05-20T00:05:26.554" idx="799">
    <p:pos x="6215" y="2889"/>
    <p:text>IN Facility built (has it been approved yet, Bob?). ready to take on new projects/orders.</p:text>
    <p:extLst>
      <p:ext uri="{C676402C-5697-4E1C-873F-D02D1690AC5C}">
        <p15:threadingInfo xmlns:p15="http://schemas.microsoft.com/office/powerpoint/2012/main" timeZoneBias="420"/>
      </p:ext>
    </p:extLst>
  </p:cm>
  <p:cm authorId="0" dt="2026-05-12T15:33:06.628" idx="800">
    <p:pos x="6868" y="2889"/>
    <p:text>Can support from KR site and deploy OSS to VN.</p:text>
    <p:extLst>
      <p:ext uri="{C676402C-5697-4E1C-873F-D02D1690AC5C}">
        <p15:threadingInfo xmlns:p15="http://schemas.microsoft.com/office/powerpoint/2012/main" timeZoneBias="420"/>
      </p:ext>
    </p:extLst>
  </p:cm>
  <p:cm authorId="0" dt="2026-05-22T02:17:27.328" idx="801">
    <p:pos x="7539" y="2889"/>
    <p:text>Qualifying on B798 for NPI support. no bandwidth to work on these projects.</p:text>
    <p:extLst>
      <p:ext uri="{C676402C-5697-4E1C-873F-D02D1690AC5C}">
        <p15:threadingInfo xmlns:p15="http://schemas.microsoft.com/office/powerpoint/2012/main" timeZoneBias="420"/>
      </p:ext>
    </p:extLst>
  </p:cm>
  <p:cm authorId="1" dt="2026-05-19T11:21:27.636" idx="51">
    <p:pos x="8104" y="2889"/>
    <p:text>Focus needs to be on B798; capacity is available but should not be spread thin</p:text>
    <p:extLst>
      <p:ext uri="{C676402C-5697-4E1C-873F-D02D1690AC5C}">
        <p15:threadingInfo xmlns:p15="http://schemas.microsoft.com/office/powerpoint/2012/main" timeZoneBias="420"/>
      </p:ext>
    </p:extLst>
  </p:cm>
  <p:cm authorId="0" dt="2026-05-12T19:43:09.708" idx="802">
    <p:pos x="8827" y="2889"/>
    <p:text>Fully booked on B798 readiness. Need to confirm if they have additional resources to support.</p:text>
    <p:extLst>
      <p:ext uri="{C676402C-5697-4E1C-873F-D02D1690AC5C}">
        <p15:threadingInfo xmlns:p15="http://schemas.microsoft.com/office/powerpoint/2012/main" timeZoneBias="420"/>
      </p:ext>
    </p:extLst>
  </p:cm>
  <p:cm authorId="0" dt="2026-05-12T19:46:24.566" idx="803">
    <p:pos x="10212" y="2889"/>
    <p:text>Delivery of V68 stations was delayed, but partially contributed by Apple team not setting up for success given compressed schedule.</p:text>
    <p:extLst>
      <p:ext uri="{C676402C-5697-4E1C-873F-D02D1690AC5C}">
        <p15:threadingInfo xmlns:p15="http://schemas.microsoft.com/office/powerpoint/2012/main" timeZoneBias="420"/>
      </p:ext>
    </p:extLst>
  </p:cm>
  <p:cm authorId="0" dt="2026-05-15T07:07:36.404" idx="804">
    <p:pos x="11677" y="2889"/>
    <p:text>Need to confirm for V68</p:text>
    <p:extLst>
      <p:ext uri="{C676402C-5697-4E1C-873F-D02D1690AC5C}">
        <p15:threadingInfo xmlns:p15="http://schemas.microsoft.com/office/powerpoint/2012/main" timeZoneBias="420"/>
      </p:ext>
    </p:extLst>
  </p:cm>
  <p:cm authorId="0" dt="2026-05-20T19:20:30.660" idx="805">
    <p:pos x="12409" y="2889"/>
    <p:text>Bumpy experience on V68 shadow sets but many of those issues related to issues on our end.</p:text>
    <p:extLst>
      <p:ext uri="{C676402C-5697-4E1C-873F-D02D1690AC5C}">
        <p15:threadingInfo xmlns:p15="http://schemas.microsoft.com/office/powerpoint/2012/main" timeZoneBias="420"/>
      </p:ext>
    </p:extLst>
  </p:cm>
  <p:cm authorId="0" dt="2026-05-20T00:05:26.554" idx="806">
    <p:pos x="6868" y="3068"/>
    <p:text>VN site can support retrofits for MP.</p:text>
    <p:extLst>
      <p:ext uri="{C676402C-5697-4E1C-873F-D02D1690AC5C}">
        <p15:threadingInfo xmlns:p15="http://schemas.microsoft.com/office/powerpoint/2012/main" timeZoneBias="420"/>
      </p:ext>
    </p:extLst>
  </p:cm>
  <p:cm authorId="0" dt="2026-05-12T19:34:34.942" idx="807">
    <p:pos x="8104" y="3068"/>
    <p:text>Can be available if this is a priority project, but want to save for other projects if possible.</p:text>
    <p:extLst>
      <p:ext uri="{C676402C-5697-4E1C-873F-D02D1690AC5C}">
        <p15:threadingInfo xmlns:p15="http://schemas.microsoft.com/office/powerpoint/2012/main" timeZoneBias="420"/>
      </p:ext>
    </p:extLst>
  </p:cm>
  <p:cm authorId="0" dt="2026-05-12T19:36:08.136" idx="808">
    <p:pos x="8827" y="3068"/>
    <p:text>Significant performance issues in TTM (N50 Vader, Grape/Touch, delays on B798 conveyor design) point to limited availability</p:text>
    <p:extLst>
      <p:ext uri="{C676402C-5697-4E1C-873F-D02D1690AC5C}">
        <p15:threadingInfo xmlns:p15="http://schemas.microsoft.com/office/powerpoint/2012/main" timeZoneBias="420"/>
      </p:ext>
    </p:extLst>
  </p:cm>
  <p:cm authorId="0" dt="2026-05-13T22:20:01.677" idx="809">
    <p:pos x="9480" y="3068"/>
    <p:text>https://jira.apple.com/browse/HWECMP-6433 was a potential build blocker, massive efficiency hit to the team.</p:text>
    <p:extLst>
      <p:ext uri="{C676402C-5697-4E1C-873F-D02D1690AC5C}">
        <p15:threadingInfo xmlns:p15="http://schemas.microsoft.com/office/powerpoint/2012/main" timeZoneBias="420"/>
      </p:ext>
    </p:extLst>
  </p:cm>
  <p:cm authorId="0" dt="2026-05-12T19:50:23.571" idx="810">
    <p:pos x="10212" y="3068"/>
    <p:text>Significant performance issues in TTM (N50 Vader, Grape/Touch, delays on B798 conveyor design).</p:text>
    <p:extLst>
      <p:ext uri="{C676402C-5697-4E1C-873F-D02D1690AC5C}">
        <p15:threadingInfo xmlns:p15="http://schemas.microsoft.com/office/powerpoint/2012/main" timeZoneBias="420"/>
      </p:ext>
    </p:extLst>
  </p:cm>
  <p:cm authorId="0" dt="2026-05-15T07:07:07.716" idx="811">
    <p:pos x="10944" y="3068"/>
    <p:text>Missed design lock for B798 project will cause it to miss EIH target.</p:text>
    <p:extLst>
      <p:ext uri="{C676402C-5697-4E1C-873F-D02D1690AC5C}">
        <p15:threadingInfo xmlns:p15="http://schemas.microsoft.com/office/powerpoint/2012/main" timeZoneBias="420"/>
      </p:ext>
    </p:extLst>
  </p:cm>
  <p:cm authorId="0" dt="2026-05-15T07:07:07.716" idx="812">
    <p:pos x="11677" y="3068"/>
    <p:text>Missed design lock for B798 project.</p:text>
    <p:extLst>
      <p:ext uri="{C676402C-5697-4E1C-873F-D02D1690AC5C}">
        <p15:threadingInfo xmlns:p15="http://schemas.microsoft.com/office/powerpoint/2012/main" timeZoneBias="420"/>
      </p:ext>
    </p:extLst>
  </p:cm>
  <p:cm authorId="0" dt="2026-05-15T07:12:55.246" idx="813">
    <p:pos x="12409" y="3068"/>
    <p:text>JLK (HWECMP-6528) - FY26 Q3 (Apr-Jun) Infrequent communication between JLK-IN and JLK-CN led to divergent design conclusions. Deliverable requests were funneled to Apple near the design lock phase instead of early in the design phase.
Quote: "...funneling deliver requests near design lock instead of early design phase" (Summary)</p:text>
    <p:extLst>
      <p:ext uri="{C676402C-5697-4E1C-873F-D02D1690AC5C}">
        <p15:threadingInfo xmlns:p15="http://schemas.microsoft.com/office/powerpoint/2012/main" timeZoneBias="420"/>
      </p:ext>
    </p:extLst>
  </p:cm>
  <p:cm authorId="0" dt="2026-05-12T20:00:58.422" idx="814">
    <p:pos x="2296" y="3248"/>
    <p:text>PRM inflating prices in advance of their IPO and causing commercial issues. proceed with caution.</p:text>
    <p:extLst>
      <p:ext uri="{C676402C-5697-4E1C-873F-D02D1690AC5C}">
        <p15:threadingInfo xmlns:p15="http://schemas.microsoft.com/office/powerpoint/2012/main" timeZoneBias="420"/>
      </p:ext>
    </p:extLst>
  </p:cm>
  <p:cm authorId="0" dt="2026-05-12T15:35:54.130" idx="815">
    <p:pos x="6868" y="3248"/>
    <p:text>Support retrofits for MP programs</p:text>
    <p:extLst>
      <p:ext uri="{C676402C-5697-4E1C-873F-D02D1690AC5C}">
        <p15:threadingInfo xmlns:p15="http://schemas.microsoft.com/office/powerpoint/2012/main" timeZoneBias="420"/>
      </p:ext>
    </p:extLst>
  </p:cm>
  <p:cm authorId="0" dt="2026-06-04T18:16:31.651" idx="816">
    <p:pos x="9480" y="3248"/>
    <p:text>Would have blocked V68 EVT main due to performance issues on CCB block for Grape station.
Able to deliver Helios in several weeks with tons of design changes. invaluable partner to get things done quickly and a much bigger value to NPI.</p:text>
    <p:extLst>
      <p:ext uri="{C676402C-5697-4E1C-873F-D02D1690AC5C}">
        <p15:threadingInfo xmlns:p15="http://schemas.microsoft.com/office/powerpoint/2012/main" timeZoneBias="420"/>
      </p:ext>
    </p:extLst>
  </p:cm>
  <p:cm authorId="0" dt="2026-05-20T00:17:50.013" idx="817">
    <p:pos x="12409" y="3248"/>
    <p:text>From Capex SQE Alan:
- Critical specs are not required in quality check or not reasonable, eg belt roller height inspection position not defined, belt tension inspection point not defined, belt driver shaft runout speed not defined, no specific position defined for sensors position check in IPQC etc;
- GB name and version are not marked on GB, and assembly SOP/IPQC didn’t mention which GB is needed for specific steps;
- QA didn’t use latest measurement tool GO/No GO GB for conveyor width check;
- Grape grounding cable routing and screw fix method is not well defined and no IPQC re-do process after onsite retrofit during SQE onsite audit at CM.
- CM escalation on no dedicate onsite PM during LXKU LBU.
- unproven for ramp, need to monitor closely</p:text>
    <p:extLst>
      <p:ext uri="{C676402C-5697-4E1C-873F-D02D1690AC5C}">
        <p15:threadingInfo xmlns:p15="http://schemas.microsoft.com/office/powerpoint/2012/main" timeZoneBias="420"/>
      </p:ext>
    </p:extLst>
  </p:cm>
  <p:cm authorId="0" dt="2026-05-28T00:15:32.682" idx="818">
    <p:pos x="12489" y="3168"/>
    <p:text>From Rachel Shi: Aligned. In short, 1) their management level is short of ramp knowhow, cannot find the issues by themselves; 2) they have serious resource issue: many key roles like PM are new hiring or no rich Apple ramp experience; 3) technical PM is limited: the senior ones are strong, but only few are capable.</p:text>
    <p:extLst>
      <p:ext uri="{C676402C-5697-4E1C-873F-D02D1690AC5C}">
        <p15:threadingInfo xmlns:p15="http://schemas.microsoft.com/office/powerpoint/2012/main" timeZoneBias="420">
          <p15:parentCm authorId="0" idx="817"/>
        </p15:threadingInfo>
      </p:ext>
    </p:extLst>
  </p:cm>
  <p:cm authorId="0" dt="2026-06-04T18:15:21.821" idx="819">
    <p:pos x="12489" y="3168"/>
    <p:text>From Roy: https://jira.corp.apple.com/browse/HWECMP-6485
Bad support on CCD jig for Edge probe alignment. There is not SW support to this station, and the edge/feature capture is not accurate, which would have blocked EVT main build. iPD was able to implement a workaround to avoid blocking the build. Still waiting on corrective actions from PRM.</p:text>
    <p:extLst>
      <p:ext uri="{C676402C-5697-4E1C-873F-D02D1690AC5C}">
        <p15:threadingInfo xmlns:p15="http://schemas.microsoft.com/office/powerpoint/2012/main" timeZoneBias="420">
          <p15:parentCm authorId="0" idx="817"/>
        </p15:threadingInfo>
      </p:ext>
    </p:extLst>
  </p:cm>
  <p:cm authorId="0" dt="2026-05-12T15:35:54.130" idx="820">
    <p:pos x="6868" y="3425"/>
    <p:text>Support retrofits for MP programs</p:text>
    <p:extLst>
      <p:ext uri="{C676402C-5697-4E1C-873F-D02D1690AC5C}">
        <p15:threadingInfo xmlns:p15="http://schemas.microsoft.com/office/powerpoint/2012/main" timeZoneBias="420"/>
      </p:ext>
    </p:extLst>
  </p:cm>
  <p:cm authorId="0" dt="2026-05-13T22:24:26.244" idx="821">
    <p:pos x="10212" y="3425"/>
    <p:text>Cencorp failed to validate the PLC code with the Coreless script before shipping the fixture, despite repeated instructions to do so. This omission jeopardized the PLC code readiness detection. https://jira.apple.com/browse/HWECMP-6278. </p:text>
    <p:extLst>
      <p:ext uri="{C676402C-5697-4E1C-873F-D02D1690AC5C}">
        <p15:threadingInfo xmlns:p15="http://schemas.microsoft.com/office/powerpoint/2012/main" timeZoneBias="420"/>
      </p:ext>
    </p:extLst>
  </p:cm>
  <p:cm authorId="0" dt="2026-06-10T23:57:10.537" idx="822">
    <p:pos x="10292" y="3345"/>
    <p:text>Test Readiness blocker: missed critical GRR data collection on the J91a GTT station and failing GRR validation on the K11p station. RC: data falsification, intentional SOP violations, and hardware failures. see email chain “Re: 【Escalation】 Critical Violation and GRR Fail Issue on J91a GTT and K11p TP Force” for more details.</p:text>
    <p:extLst>
      <p:ext uri="{C676402C-5697-4E1C-873F-D02D1690AC5C}">
        <p15:threadingInfo xmlns:p15="http://schemas.microsoft.com/office/powerpoint/2012/main" timeZoneBias="420">
          <p15:parentCm authorId="0" idx="821"/>
        </p15:threadingInfo>
      </p:ext>
    </p:extLst>
  </p:cm>
  <p:cm authorId="0" dt="2026-05-13T22:26:56.020" idx="823">
    <p:pos x="12409" y="3425"/>
    <p:text>Cencorp (HWECMP-6277) - FY25 Q4 (Jul-Sep) Cencorp's TPM failed to provide timely feedback on Beckhoff tuning and OQC status. This lack of communication put the fixture EIH and vendor site PLC validation plans at risk.</p:text>
    <p:extLst>
      <p:ext uri="{C676402C-5697-4E1C-873F-D02D1690AC5C}">
        <p15:threadingInfo xmlns:p15="http://schemas.microsoft.com/office/powerpoint/2012/main" timeZoneBias="420"/>
      </p:ext>
    </p:extLst>
  </p:cm>
  <p:cm authorId="0" dt="2026-05-12T15:35:54.130" idx="824">
    <p:pos x="6868" y="3605"/>
    <p:text>Support retrofits for MP programs</p:text>
    <p:extLst>
      <p:ext uri="{C676402C-5697-4E1C-873F-D02D1690AC5C}">
        <p15:threadingInfo xmlns:p15="http://schemas.microsoft.com/office/powerpoint/2012/main" timeZoneBias="420"/>
      </p:ext>
    </p:extLst>
  </p:cm>
  <p:cm authorId="0" dt="2026-05-12T19:43:09.708" idx="825">
    <p:pos x="8827" y="3605"/>
    <p:text>Performance issues pointing to significant capacity issues, suggest hold any engagements until performance improvement plan approved.</p:text>
    <p:extLst>
      <p:ext uri="{C676402C-5697-4E1C-873F-D02D1690AC5C}">
        <p15:threadingInfo xmlns:p15="http://schemas.microsoft.com/office/powerpoint/2012/main" timeZoneBias="420"/>
      </p:ext>
    </p:extLst>
  </p:cm>
  <p:cm authorId="0" dt="2026-05-20T19:00:31.666" idx="826">
    <p:pos x="9480" y="3605"/>
    <p:text>Falsified data. From Capex SQE Alan on 5/20/26: During SQE audit for phone program we found skip whole quality check for one tester, and input make data into quality check sheet, etc.</p:text>
    <p:extLst>
      <p:ext uri="{C676402C-5697-4E1C-873F-D02D1690AC5C}">
        <p15:threadingInfo xmlns:p15="http://schemas.microsoft.com/office/powerpoint/2012/main" timeZoneBias="420"/>
      </p:ext>
    </p:extLst>
  </p:cm>
  <p:cm authorId="0" dt="2026-05-12T19:53:30.889" idx="827">
    <p:pos x="10212" y="3605"/>
    <p:text>Multiple EIH and MBO bringup delays on V68, N50 programs resulting in delays.</p:text>
    <p:extLst>
      <p:ext uri="{C676402C-5697-4E1C-873F-D02D1690AC5C}">
        <p15:threadingInfo xmlns:p15="http://schemas.microsoft.com/office/powerpoint/2012/main" timeZoneBias="420"/>
      </p:ext>
    </p:extLst>
  </p:cm>
  <p:cm authorId="0" dt="2026-05-13T22:26:40.333" idx="828">
    <p:pos x="10944" y="3605"/>
    <p:text>Innorev (HWECMP-6404) - FY26 Q2 (Jan-Mar) Poor quality control on the Brontes Freja station (e.g., OGB bracket issues, wrong tray loading pins) slowed down fixture bring-up. These tray quality issues continuously delayed the EIH of OVB trays.
Quote: "...recently keep delaying the EIH of OVB trays..."
Innorev (HWECMP-6383) - FY26 Q1 (Oct-Dec) Innorev experienced multiple ETA delays for LDCM and QT1 fixtures, severely impacting the build schedule and missing the required P1 EIH date.
Quote: "P1 required EIH date 11/24... Innorev PM informed LDCM ETA delay... QT1 ETD delay to 12/8..."
Innorev (HWECMP-6274) - FY25 Q4 (Jul-Sep) Failure to perform OQC inspections as required, such as failing to separate signal and grounding wires, resulted in signal interference and a 1-2 day delay in the fixture's EIH.
Quote: "...resulting in a 1-2 day delay in the fixture's EIH?"
Innorev (HWECMP-6271) - FY25 Q4 (Jul-Sep) The QT/LDCM fixture experienced ETA and EIH delays tied to late deliveries from a material supplier.
Quote: "...8/20 required EIH, 9/1 delayed ETA..."
Innorev (HWECMP-6270) - FY25 Q4 (Jul-Sep) The iSD Thermal DOE fixture missed its required EIH and suffered ETA delays due to ongoing debugging and uncertain issues described by the vendor.
Quote: "...7/30 required EIH, 8/24 delayed ETA..."
Innorev (HWECMP-6269) - FY25 Q4 (Jul-Sep) No ETA or delivery status updates were provided for the J65 camera, causing it to miss its required EIH.
Quote: "...8/18 required EIH..."</p:text>
    <p:extLst>
      <p:ext uri="{C676402C-5697-4E1C-873F-D02D1690AC5C}">
        <p15:threadingInfo xmlns:p15="http://schemas.microsoft.com/office/powerpoint/2012/main" timeZoneBias="420"/>
      </p:ext>
    </p:extLst>
  </p:cm>
  <p:cm authorId="0" dt="2026-05-15T07:12:21.986" idx="829">
    <p:pos x="12409" y="3605"/>
    <p:text>Innorev (HWECMP-6405) - FY26 Q2 (Jan-Mar) A significant 53-day delay in delivering the Acktar chart for the J917/J920 P1 build occurred due to poor ETA management. While mitigated to avoid an immediate POC blocker, it posed a massive delay risk for subsequent builds.
Quote: "To avoid blocker for POC build..." and "...it is not a blocker yet it a huge delay..."
Innorev (HWECMP-6361) - FY26 Q1 (Oct-Dec) Poor delivery quality of the B790 FATP Freja station risked blocking the build. Issues included missing important components, poorly checked parts, and a failure to implement past lessons learned.
Quote: "FATP Freja delivery quality is very concerning, risk to block the build..."</p:text>
    <p:extLst>
      <p:ext uri="{C676402C-5697-4E1C-873F-D02D1690AC5C}">
        <p15:threadingInfo xmlns:p15="http://schemas.microsoft.com/office/powerpoint/2012/main" timeZoneBias="420"/>
      </p:ext>
    </p:extLst>
  </p:cm>
  <p:cm authorId="0" dt="2026-05-20T00:20:07.337" idx="830">
    <p:pos x="5561" y="3782"/>
    <p:text>Partner with Strong for CN-based fabrication for AE teams for 6+ months. Also partnering with Strong for retrofit kit fabrication on the V68 Magnolia station, where their fab + OSS would support on the ground with Pentamaster’s engineers. Partnership needs help from GSM to reduce lead times (current project has a 6-8 week lead time but help required to pull that in).</p:text>
    <p:extLst>
      <p:ext uri="{C676402C-5697-4E1C-873F-D02D1690AC5C}">
        <p15:threadingInfo xmlns:p15="http://schemas.microsoft.com/office/powerpoint/2012/main" timeZoneBias="420"/>
      </p:ext>
    </p:extLst>
  </p:cm>
  <p:cm authorId="0" dt="2026-05-20T00:20:07.337" idx="831">
    <p:pos x="6215" y="3782"/>
    <p:text>Similar to China, they have a local partnership that will make parts which have proven lead times through AE experience. Would also send their OSS/Engineers from Malaysia to support. </p:text>
    <p:extLst>
      <p:ext uri="{C676402C-5697-4E1C-873F-D02D1690AC5C}">
        <p15:threadingInfo xmlns:p15="http://schemas.microsoft.com/office/powerpoint/2012/main" timeZoneBias="420"/>
      </p:ext>
    </p:extLst>
  </p:cm>
  <p:cm authorId="0" dt="2026-05-12T15:42:27.278" idx="832">
    <p:pos x="6868" y="3782"/>
    <p:text>Promising automation/integration capability with growing strategic relevance</p:text>
    <p:extLst>
      <p:ext uri="{C676402C-5697-4E1C-873F-D02D1690AC5C}">
        <p15:threadingInfo xmlns:p15="http://schemas.microsoft.com/office/powerpoint/2012/main" timeZoneBias="420"/>
      </p:ext>
    </p:extLst>
  </p:cm>
  <p:cm authorId="0" dt="2026-05-22T02:17:27.328" idx="833">
    <p:pos x="7539" y="3782"/>
    <p:text>Have not yet completed a build cycle on their stations, recommend waiting and give a shadow set in the meantime.
Pentamaster turned down MP 2nd source for Chocolate due to bandwidth, demonstrates constraint.</p:text>
    <p:extLst>
      <p:ext uri="{C676402C-5697-4E1C-873F-D02D1690AC5C}">
        <p15:threadingInfo xmlns:p15="http://schemas.microsoft.com/office/powerpoint/2012/main" timeZoneBias="420"/>
      </p:ext>
    </p:extLst>
  </p:cm>
  <p:cm authorId="0" dt="2026-05-12T20:02:15.231" idx="834">
    <p:pos x="9480" y="3782"/>
    <p:text>No recent performance in TTM</p:text>
    <p:extLst>
      <p:ext uri="{C676402C-5697-4E1C-873F-D02D1690AC5C}">
        <p15:threadingInfo xmlns:p15="http://schemas.microsoft.com/office/powerpoint/2012/main" timeZoneBias="420"/>
      </p:ext>
    </p:extLst>
  </p:cm>
  <p:cm authorId="0" dt="2026-05-12T20:02:15.231" idx="835">
    <p:pos x="10212" y="3782"/>
    <p:text>No recent performance in TTM</p:text>
    <p:extLst>
      <p:ext uri="{C676402C-5697-4E1C-873F-D02D1690AC5C}">
        <p15:threadingInfo xmlns:p15="http://schemas.microsoft.com/office/powerpoint/2012/main" timeZoneBias="420"/>
      </p:ext>
    </p:extLst>
  </p:cm>
  <p:cm authorId="0" dt="2026-05-12T20:02:15.231" idx="836">
    <p:pos x="11677" y="3782"/>
    <p:text>No recent performance in TTM</p:text>
    <p:extLst>
      <p:ext uri="{C676402C-5697-4E1C-873F-D02D1690AC5C}">
        <p15:threadingInfo xmlns:p15="http://schemas.microsoft.com/office/powerpoint/2012/main" timeZoneBias="420"/>
      </p:ext>
    </p:extLst>
  </p:cm>
  <p:cm authorId="0" dt="2026-05-20T00:53:06.290" idx="837">
    <p:pos x="14103" y="3782"/>
    <p:text>Slow turnaround times but do have apple module experience. need to evaluate.</p:text>
    <p:extLst>
      <p:ext uri="{C676402C-5697-4E1C-873F-D02D1690AC5C}">
        <p15:threadingInfo xmlns:p15="http://schemas.microsoft.com/office/powerpoint/2012/main" timeZoneBias="420"/>
      </p:ext>
    </p:extLst>
  </p:cm>
  <p:cm authorId="1" dt="2026-05-19T11:17:57.452" idx="52">
    <p:pos x="2296" y="3969"/>
    <p:text>IVD is untested in quoting as of now; will need to gauge once RFPs shared</p:text>
    <p:extLst>
      <p:ext uri="{C676402C-5697-4E1C-873F-D02D1690AC5C}">
        <p15:threadingInfo xmlns:p15="http://schemas.microsoft.com/office/powerpoint/2012/main" timeZoneBias="420"/>
      </p:ext>
    </p:extLst>
  </p:cm>
  <p:cm authorId="0" dt="2026-05-22T18:43:00.572" idx="838">
    <p:pos x="2376" y="3889"/>
    <p:text>Future business success appears overly reliant on Apple Capex business, need to vet if they will be willing to work with us given size of opportunity.</p:text>
    <p:extLst>
      <p:ext uri="{C676402C-5697-4E1C-873F-D02D1690AC5C}">
        <p15:threadingInfo xmlns:p15="http://schemas.microsoft.com/office/powerpoint/2012/main" timeZoneBias="420">
          <p15:parentCm authorId="1" idx="52"/>
        </p15:threadingInfo>
      </p:ext>
    </p:extLst>
  </p:cm>
  <p:cm authorId="0" dt="2026-05-20T00:34:03.592" idx="839">
    <p:pos x="5561" y="3969"/>
    <p:text>Has a CN facility but is only bidding for non-CN work. Pending visit to this facility to understand what they do.</p:text>
    <p:extLst>
      <p:ext uri="{C676402C-5697-4E1C-873F-D02D1690AC5C}">
        <p15:threadingInfo xmlns:p15="http://schemas.microsoft.com/office/powerpoint/2012/main" timeZoneBias="420"/>
      </p:ext>
    </p:extLst>
  </p:cm>
  <p:cm authorId="0" dt="2026-05-20T00:34:38.714" idx="840">
    <p:pos x="6215" y="3969"/>
    <p:text>Would support IN from their VN facility.</p:text>
    <p:extLst>
      <p:ext uri="{C676402C-5697-4E1C-873F-D02D1690AC5C}">
        <p15:threadingInfo xmlns:p15="http://schemas.microsoft.com/office/powerpoint/2012/main" timeZoneBias="420"/>
      </p:ext>
    </p:extLst>
  </p:cm>
  <p:cm authorId="0" dt="2026-05-20T00:35:19.146" idx="841">
    <p:pos x="6868" y="3969"/>
    <p:text>Working on test stations for other customers. </p:text>
    <p:extLst>
      <p:ext uri="{C676402C-5697-4E1C-873F-D02D1690AC5C}">
        <p15:threadingInfo xmlns:p15="http://schemas.microsoft.com/office/powerpoint/2012/main" timeZoneBias="420"/>
      </p:ext>
    </p:extLst>
  </p:cm>
  <p:cm authorId="0" dt="2026-05-12T20:02:15.231" idx="842">
    <p:pos x="9480" y="3969"/>
    <p:text>No recent performance in TTM</p:text>
    <p:extLst>
      <p:ext uri="{C676402C-5697-4E1C-873F-D02D1690AC5C}">
        <p15:threadingInfo xmlns:p15="http://schemas.microsoft.com/office/powerpoint/2012/main" timeZoneBias="420"/>
      </p:ext>
    </p:extLst>
  </p:cm>
  <p:cm authorId="0" dt="2026-05-12T20:02:15.231" idx="843">
    <p:pos x="10212" y="3969"/>
    <p:text>No recent performance in TTM</p:text>
    <p:extLst>
      <p:ext uri="{C676402C-5697-4E1C-873F-D02D1690AC5C}">
        <p15:threadingInfo xmlns:p15="http://schemas.microsoft.com/office/powerpoint/2012/main" timeZoneBias="420"/>
      </p:ext>
    </p:extLst>
  </p:cm>
  <p:cm authorId="0" dt="2026-05-12T20:02:15.231" idx="844">
    <p:pos x="11677" y="3969"/>
    <p:text>No recent performance in TTM</p:text>
    <p:extLst>
      <p:ext uri="{C676402C-5697-4E1C-873F-D02D1690AC5C}">
        <p15:threadingInfo xmlns:p15="http://schemas.microsoft.com/office/powerpoint/2012/main" timeZoneBias="420"/>
      </p:ext>
    </p:extLst>
  </p:cm>
  <p:cm authorId="0" dt="2026-05-20T00:53:38.672" idx="845">
    <p:pos x="13514" y="3969"/>
    <p:text>Need to prove out technical capability. newly assembled team who has not worked together on complex projects.	</p:text>
    <p:extLst>
      <p:ext uri="{C676402C-5697-4E1C-873F-D02D1690AC5C}">
        <p15:threadingInfo xmlns:p15="http://schemas.microsoft.com/office/powerpoint/2012/main" timeZoneBias="420"/>
      </p:ext>
    </p:extLst>
  </p:cm>
  <p:cm authorId="0" dt="2026-05-20T00:53:38.672" idx="846">
    <p:pos x="14103" y="3969"/>
    <p:text>Need to prove out technical capability. newly assembled team who has not worked together on complex projects.	</p:text>
    <p:extLst>
      <p:ext uri="{C676402C-5697-4E1C-873F-D02D1690AC5C}">
        <p15:threadingInfo xmlns:p15="http://schemas.microsoft.com/office/powerpoint/2012/main" timeZoneBias="420"/>
      </p:ext>
    </p:extLst>
  </p:cm>
  <p:cm authorId="0" dt="2026-05-12T15:43:49.417" idx="847">
    <p:pos x="4255" y="4163"/>
    <p:text>CN/VN support strategy not vetted, not likely to clear by deadline</p:text>
    <p:extLst>
      <p:ext uri="{C676402C-5697-4E1C-873F-D02D1690AC5C}">
        <p15:threadingInfo xmlns:p15="http://schemas.microsoft.com/office/powerpoint/2012/main" timeZoneBias="420"/>
      </p:ext>
    </p:extLst>
  </p:cm>
  <p:cm authorId="1" dt="2026-05-19T11:20:19.982" idx="53">
    <p:pos x="4908" y="4163"/>
    <p:text>Partnership manufacturing sites; unlikely to be used by Apple</p:text>
    <p:extLst>
      <p:ext uri="{C676402C-5697-4E1C-873F-D02D1690AC5C}">
        <p15:threadingInfo xmlns:p15="http://schemas.microsoft.com/office/powerpoint/2012/main" timeZoneBias="420"/>
      </p:ext>
    </p:extLst>
  </p:cm>
  <p:cm authorId="0" dt="2026-05-13T21:16:51.780" idx="848">
    <p:pos x="5561" y="4163"/>
    <p:text>No existing infrastructure in VN/CN for HWTE to validate.</p:text>
    <p:extLst>
      <p:ext uri="{C676402C-5697-4E1C-873F-D02D1690AC5C}">
        <p15:threadingInfo xmlns:p15="http://schemas.microsoft.com/office/powerpoint/2012/main" timeZoneBias="420"/>
      </p:ext>
    </p:extLst>
  </p:cm>
  <p:cm authorId="0" dt="2026-05-13T21:16:51.780" idx="849">
    <p:pos x="6868" y="4163"/>
    <p:text>No existing infrastructure in VN/CN for HWTE to validate.</p:text>
    <p:extLst>
      <p:ext uri="{C676402C-5697-4E1C-873F-D02D1690AC5C}">
        <p15:threadingInfo xmlns:p15="http://schemas.microsoft.com/office/powerpoint/2012/main" timeZoneBias="420"/>
      </p:ext>
    </p:extLst>
  </p:cm>
  <p:cm authorId="0" dt="2026-05-12T20:11:44.560" idx="850">
    <p:pos x="7539" y="4163"/>
    <p:text>Doing conveyors as part of ramp, need YK to confirm performance</p:text>
    <p:extLst>
      <p:ext uri="{C676402C-5697-4E1C-873F-D02D1690AC5C}">
        <p15:threadingInfo xmlns:p15="http://schemas.microsoft.com/office/powerpoint/2012/main" timeZoneBias="420"/>
      </p:ext>
    </p:extLst>
  </p:cm>
  <p:cm authorId="0" dt="2026-05-12T20:02:15.231" idx="851">
    <p:pos x="10212" y="4163"/>
    <p:text>NPI: No recent performance in TTM
MP: VVDN do has issue. Magnolia cannot even setup running at India. India fall back to standalone. We have concern for VVDN for conveyor. They block station bringup Station even cannot start run. Cannot functional. With pull all our engineering resource, still cannot function </p:text>
    <p:extLst>
      <p:ext uri="{C676402C-5697-4E1C-873F-D02D1690AC5C}">
        <p15:threadingInfo xmlns:p15="http://schemas.microsoft.com/office/powerpoint/2012/main" timeZoneBias="420"/>
      </p:ext>
    </p:extLst>
  </p:cm>
  <p:cm authorId="0" dt="2026-05-15T07:08:37.727" idx="852">
    <p:pos x="11677" y="4163"/>
    <p:text>Need to confirm</p:text>
    <p:extLst>
      <p:ext uri="{C676402C-5697-4E1C-873F-D02D1690AC5C}">
        <p15:threadingInfo xmlns:p15="http://schemas.microsoft.com/office/powerpoint/2012/main" timeZoneBias="420"/>
      </p:ext>
    </p:extLst>
  </p:cm>
  <p:cm authorId="0" dt="2026-05-12T15:43:54.140" idx="853">
    <p:pos x="4255" y="4357"/>
    <p:text>CN/VN support strategy not vetted, not likely to clear by deadline</p:text>
    <p:extLst>
      <p:ext uri="{C676402C-5697-4E1C-873F-D02D1690AC5C}">
        <p15:threadingInfo xmlns:p15="http://schemas.microsoft.com/office/powerpoint/2012/main" timeZoneBias="420"/>
      </p:ext>
    </p:extLst>
  </p:cm>
  <p:cm authorId="0" dt="2026-05-12T15:44:09.216" idx="854">
    <p:pos x="4908" y="4357"/>
    <p:text>CN/VN support strategy not vetted, not likely to clear by deadline</p:text>
    <p:extLst>
      <p:ext uri="{C676402C-5697-4E1C-873F-D02D1690AC5C}">
        <p15:threadingInfo xmlns:p15="http://schemas.microsoft.com/office/powerpoint/2012/main" timeZoneBias="420"/>
      </p:ext>
    </p:extLst>
  </p:cm>
  <p:cm authorId="0" dt="2026-05-13T21:16:51.780" idx="855">
    <p:pos x="5561" y="4357"/>
    <p:text>No existing infrastructure in VN/CN for HWTE to validate.</p:text>
    <p:extLst>
      <p:ext uri="{C676402C-5697-4E1C-873F-D02D1690AC5C}">
        <p15:threadingInfo xmlns:p15="http://schemas.microsoft.com/office/powerpoint/2012/main" timeZoneBias="420"/>
      </p:ext>
    </p:extLst>
  </p:cm>
  <p:cm authorId="0" dt="2026-05-13T21:16:51.780" idx="856">
    <p:pos x="6868" y="4357"/>
    <p:text>No existing infrastructure in VN/CN for HWTE to validate.</p:text>
    <p:extLst>
      <p:ext uri="{C676402C-5697-4E1C-873F-D02D1690AC5C}">
        <p15:threadingInfo xmlns:p15="http://schemas.microsoft.com/office/powerpoint/2012/main" timeZoneBias="420"/>
      </p:ext>
    </p:extLst>
  </p:cm>
  <p:cm authorId="0" dt="2026-05-12T20:13:41.808" idx="857">
    <p:pos x="7539" y="4357"/>
    <p:text>No plan to qualify for conveyor projects due to capability limitations</p:text>
    <p:extLst>
      <p:ext uri="{C676402C-5697-4E1C-873F-D02D1690AC5C}">
        <p15:threadingInfo xmlns:p15="http://schemas.microsoft.com/office/powerpoint/2012/main" timeZoneBias="420"/>
      </p:ext>
    </p:extLst>
  </p:cm>
  <p:cm authorId="0" dt="2026-05-15T07:08:37.727" idx="858">
    <p:pos x="11677" y="4357"/>
    <p:text>Need to confirm</p:text>
    <p:extLst>
      <p:ext uri="{C676402C-5697-4E1C-873F-D02D1690AC5C}">
        <p15:threadingInfo xmlns:p15="http://schemas.microsoft.com/office/powerpoint/2012/main" timeZoneBias="420"/>
      </p:ext>
    </p:extLst>
  </p:cm>
  <p:cm authorId="0" dt="2026-05-12T15:43:49.417" idx="859">
    <p:pos x="4255" y="4534"/>
    <p:text>CN/VN support strategy not vetted, not likely to clear by deadline</p:text>
    <p:extLst>
      <p:ext uri="{C676402C-5697-4E1C-873F-D02D1690AC5C}">
        <p15:threadingInfo xmlns:p15="http://schemas.microsoft.com/office/powerpoint/2012/main" timeZoneBias="420"/>
      </p:ext>
    </p:extLst>
  </p:cm>
  <p:cm authorId="0" dt="2026-05-12T15:43:49.417" idx="860">
    <p:pos x="4908" y="4534"/>
    <p:text>CN/VN support strategy not vetted, not likely to clear by deadline</p:text>
    <p:extLst>
      <p:ext uri="{C676402C-5697-4E1C-873F-D02D1690AC5C}">
        <p15:threadingInfo xmlns:p15="http://schemas.microsoft.com/office/powerpoint/2012/main" timeZoneBias="420"/>
      </p:ext>
    </p:extLst>
  </p:cm>
  <p:cm authorId="0" dt="2026-05-13T21:16:51.780" idx="861">
    <p:pos x="5561" y="4534"/>
    <p:text>No existing infrastructure in VN/CN for HWTE to validate.</p:text>
    <p:extLst>
      <p:ext uri="{C676402C-5697-4E1C-873F-D02D1690AC5C}">
        <p15:threadingInfo xmlns:p15="http://schemas.microsoft.com/office/powerpoint/2012/main" timeZoneBias="420"/>
      </p:ext>
    </p:extLst>
  </p:cm>
  <p:cm authorId="0" dt="2026-05-13T21:16:51.780" idx="862">
    <p:pos x="6868" y="4534"/>
    <p:text>No existing infrastructure in VN/CN for HWTE to validate.</p:text>
    <p:extLst>
      <p:ext uri="{C676402C-5697-4E1C-873F-D02D1690AC5C}">
        <p15:threadingInfo xmlns:p15="http://schemas.microsoft.com/office/powerpoint/2012/main" timeZoneBias="420"/>
      </p:ext>
    </p:extLst>
  </p:cm>
  <p:cm authorId="0" dt="2026-05-12T20:20:14.345" idx="863">
    <p:pos x="8827" y="4534"/>
    <p:text>Performance issues in NPI point to limited bandwidth for team to focus on project.</p:text>
    <p:extLst>
      <p:ext uri="{C676402C-5697-4E1C-873F-D02D1690AC5C}">
        <p15:threadingInfo xmlns:p15="http://schemas.microsoft.com/office/powerpoint/2012/main" timeZoneBias="420"/>
      </p:ext>
    </p:extLst>
  </p:cm>
  <p:cm authorId="0" dt="2026-05-12T20:20:35.597" idx="864">
    <p:pos x="9480" y="4534"/>
    <p:text>Multiple line-down issues in MP and NPI</p:text>
    <p:extLst>
      <p:ext uri="{C676402C-5697-4E1C-873F-D02D1690AC5C}">
        <p15:threadingInfo xmlns:p15="http://schemas.microsoft.com/office/powerpoint/2012/main" timeZoneBias="420"/>
      </p:ext>
    </p:extLst>
  </p:cm>
  <p:cm authorId="0" dt="2026-05-12T20:20:35.597" idx="865">
    <p:pos x="10212" y="4534"/>
    <p:text>Multiple line-down issues in MP and NPI</p:text>
    <p:extLst>
      <p:ext uri="{C676402C-5697-4E1C-873F-D02D1690AC5C}">
        <p15:threadingInfo xmlns:p15="http://schemas.microsoft.com/office/powerpoint/2012/main" timeZoneBias="420"/>
      </p:ext>
    </p:extLst>
  </p:cm>
  <p:cm authorId="0" dt="2026-05-15T07:08:37.727" idx="866">
    <p:pos x="11677" y="4534"/>
    <p:text>Need to confirm</p:text>
    <p:extLst>
      <p:ext uri="{C676402C-5697-4E1C-873F-D02D1690AC5C}">
        <p15:threadingInfo xmlns:p15="http://schemas.microsoft.com/office/powerpoint/2012/main" timeZoneBias="420"/>
      </p:ext>
    </p:extLst>
  </p:cm>
  <p:cm authorId="0" dt="2026-05-12T20:16:03.969" idx="867">
    <p:pos x="5561" y="4728"/>
    <p:text>Not KO’ed since Anora was not identified as a high-priority SI.</p:text>
    <p:extLst>
      <p:ext uri="{C676402C-5697-4E1C-873F-D02D1690AC5C}">
        <p15:threadingInfo xmlns:p15="http://schemas.microsoft.com/office/powerpoint/2012/main" timeZoneBias="420"/>
      </p:ext>
    </p:extLst>
  </p:cm>
  <p:cm authorId="0" dt="2026-05-12T20:16:03.969" idx="868">
    <p:pos x="7539" y="4728"/>
    <p:text>Not KO’ed since Anora was not identified as a high-priority SI.</p:text>
    <p:extLst>
      <p:ext uri="{C676402C-5697-4E1C-873F-D02D1690AC5C}">
        <p15:threadingInfo xmlns:p15="http://schemas.microsoft.com/office/powerpoint/2012/main" timeZoneBias="420"/>
      </p:ext>
    </p:extLst>
  </p:cm>
  <p:cm authorId="0" dt="2026-05-12T20:17:13.365" idx="869">
    <p:pos x="8104" y="4728"/>
    <p:text>GSM to confirm</p:text>
    <p:extLst>
      <p:ext uri="{C676402C-5697-4E1C-873F-D02D1690AC5C}">
        <p15:threadingInfo xmlns:p15="http://schemas.microsoft.com/office/powerpoint/2012/main" timeZoneBias="420"/>
      </p:ext>
    </p:extLst>
  </p:cm>
  <p:cm authorId="0" dt="2026-05-12T20:17:13.365" idx="870">
    <p:pos x="8827" y="4728"/>
    <p:text>GSM to confirm</p:text>
    <p:extLst>
      <p:ext uri="{C676402C-5697-4E1C-873F-D02D1690AC5C}">
        <p15:threadingInfo xmlns:p15="http://schemas.microsoft.com/office/powerpoint/2012/main" timeZoneBias="420"/>
      </p:ext>
    </p:extLst>
  </p:cm>
  <p:cm authorId="0" dt="2026-05-12T20:02:15.231" idx="871">
    <p:pos x="9480" y="4728"/>
    <p:text>No recent performance in TTM</p:text>
    <p:extLst>
      <p:ext uri="{C676402C-5697-4E1C-873F-D02D1690AC5C}">
        <p15:threadingInfo xmlns:p15="http://schemas.microsoft.com/office/powerpoint/2012/main" timeZoneBias="420"/>
      </p:ext>
    </p:extLst>
  </p:cm>
  <p:cm authorId="0" dt="2026-05-12T20:02:15.231" idx="872">
    <p:pos x="10212" y="4728"/>
    <p:text>No recent performance in TTM</p:text>
    <p:extLst>
      <p:ext uri="{C676402C-5697-4E1C-873F-D02D1690AC5C}">
        <p15:threadingInfo xmlns:p15="http://schemas.microsoft.com/office/powerpoint/2012/main" timeZoneBias="420"/>
      </p:ext>
    </p:extLst>
  </p:cm>
  <p:cm authorId="0" dt="2026-05-12T20:02:15.231" idx="873">
    <p:pos x="10944" y="4728"/>
    <p:text>No recent performance in TTM</p:text>
    <p:extLst>
      <p:ext uri="{C676402C-5697-4E1C-873F-D02D1690AC5C}">
        <p15:threadingInfo xmlns:p15="http://schemas.microsoft.com/office/powerpoint/2012/main" timeZoneBias="420"/>
      </p:ext>
    </p:extLst>
  </p:cm>
  <p:cm authorId="0" dt="2026-05-12T20:02:15.231" idx="874">
    <p:pos x="11677" y="4728"/>
    <p:text>No recent performance in TTM</p:text>
    <p:extLst>
      <p:ext uri="{C676402C-5697-4E1C-873F-D02D1690AC5C}">
        <p15:threadingInfo xmlns:p15="http://schemas.microsoft.com/office/powerpoint/2012/main" timeZoneBias="420"/>
      </p:ext>
    </p:extLst>
  </p:cm>
  <p:cm authorId="0" dt="2026-05-12T20:02:15.231" idx="875">
    <p:pos x="12409" y="4728"/>
    <p:text>No recent performance in TTM</p:text>
    <p:extLst>
      <p:ext uri="{C676402C-5697-4E1C-873F-D02D1690AC5C}">
        <p15:threadingInfo xmlns:p15="http://schemas.microsoft.com/office/powerpoint/2012/main" timeZoneBias="420"/>
      </p:ext>
    </p:extLst>
  </p:cm>
  <p:cm authorId="1" dt="2026-05-19T11:22:38.531" idx="54">
    <p:pos x="2296" y="4915"/>
    <p:text>Redacting on prior commitments and declining RFPs</p:text>
    <p:extLst>
      <p:ext uri="{C676402C-5697-4E1C-873F-D02D1690AC5C}">
        <p15:threadingInfo xmlns:p15="http://schemas.microsoft.com/office/powerpoint/2012/main" timeZoneBias="420"/>
      </p:ext>
    </p:extLst>
  </p:cm>
  <p:cm authorId="0" dt="2026-05-12T20:05:16.904" idx="876">
    <p:pos x="5561" y="4915"/>
    <p:text>Pass but audit seems to indicate they would fail commercials.</p:text>
    <p:extLst>
      <p:ext uri="{C676402C-5697-4E1C-873F-D02D1690AC5C}">
        <p15:threadingInfo xmlns:p15="http://schemas.microsoft.com/office/powerpoint/2012/main" timeZoneBias="420"/>
      </p:ext>
    </p:extLst>
  </p:cm>
  <p:cm authorId="1" dt="2026-05-19T11:23:37.583" idx="55">
    <p:pos x="8104" y="4915"/>
    <p:text>Redacting on prior commitments and declining RFPs</p:text>
    <p:extLst>
      <p:ext uri="{C676402C-5697-4E1C-873F-D02D1690AC5C}">
        <p15:threadingInfo xmlns:p15="http://schemas.microsoft.com/office/powerpoint/2012/main" timeZoneBias="420"/>
      </p:ext>
    </p:extLst>
  </p:cm>
  <p:cm authorId="0" dt="2026-05-12T20:02:15.231" idx="877">
    <p:pos x="9480" y="4915"/>
    <p:text>No recent performance in TTM</p:text>
    <p:extLst>
      <p:ext uri="{C676402C-5697-4E1C-873F-D02D1690AC5C}">
        <p15:threadingInfo xmlns:p15="http://schemas.microsoft.com/office/powerpoint/2012/main" timeZoneBias="420"/>
      </p:ext>
    </p:extLst>
  </p:cm>
  <p:cm authorId="0" dt="2026-05-12T20:02:15.231" idx="878">
    <p:pos x="10212" y="4915"/>
    <p:text>No recent performance in TTM</p:text>
    <p:extLst>
      <p:ext uri="{C676402C-5697-4E1C-873F-D02D1690AC5C}">
        <p15:threadingInfo xmlns:p15="http://schemas.microsoft.com/office/powerpoint/2012/main" timeZoneBias="420"/>
      </p:ext>
    </p:extLst>
  </p:cm>
  <p:cm authorId="0" dt="2026-05-12T20:02:15.231" idx="879">
    <p:pos x="10944" y="4915"/>
    <p:text>No recent performance in TTM</p:text>
    <p:extLst>
      <p:ext uri="{C676402C-5697-4E1C-873F-D02D1690AC5C}">
        <p15:threadingInfo xmlns:p15="http://schemas.microsoft.com/office/powerpoint/2012/main" timeZoneBias="420"/>
      </p:ext>
    </p:extLst>
  </p:cm>
  <p:cm authorId="0" dt="2026-05-12T20:02:15.231" idx="880">
    <p:pos x="11677" y="4915"/>
    <p:text>No recent performance in TTM</p:text>
    <p:extLst>
      <p:ext uri="{C676402C-5697-4E1C-873F-D02D1690AC5C}">
        <p15:threadingInfo xmlns:p15="http://schemas.microsoft.com/office/powerpoint/2012/main" timeZoneBias="420"/>
      </p:ext>
    </p:extLst>
  </p:cm>
  <p:cm authorId="0" dt="2026-05-12T20:02:15.231" idx="881">
    <p:pos x="12409" y="4915"/>
    <p:text>No recent performance in TTM</p:text>
    <p:extLst>
      <p:ext uri="{C676402C-5697-4E1C-873F-D02D1690AC5C}">
        <p15:threadingInfo xmlns:p15="http://schemas.microsoft.com/office/powerpoint/2012/main" timeZoneBias="420"/>
      </p:ext>
    </p:extLst>
  </p:cm>
  <p:cm authorId="1" dt="2026-05-19T11:54:33.441" idx="56">
    <p:pos x="2296" y="5092"/>
    <p:text>Not historically competitive in VPG</p:text>
    <p:extLst>
      <p:ext uri="{C676402C-5697-4E1C-873F-D02D1690AC5C}">
        <p15:threadingInfo xmlns:p15="http://schemas.microsoft.com/office/powerpoint/2012/main" timeZoneBias="420"/>
      </p:ext>
    </p:extLst>
  </p:cm>
  <p:cm authorId="0" dt="2026-05-12T20:18:12.677" idx="882">
    <p:pos x="5561" y="5092"/>
    <p:text>gated by GSM Ok2Engage</p:text>
    <p:extLst>
      <p:ext uri="{C676402C-5697-4E1C-873F-D02D1690AC5C}">
        <p15:threadingInfo xmlns:p15="http://schemas.microsoft.com/office/powerpoint/2012/main" timeZoneBias="420"/>
      </p:ext>
    </p:extLst>
  </p:cm>
  <p:cm authorId="0" dt="2026-05-12T20:18:12.677" idx="883">
    <p:pos x="7539" y="5092"/>
    <p:text>gated by GSM Ok2Engage</p:text>
    <p:extLst>
      <p:ext uri="{C676402C-5697-4E1C-873F-D02D1690AC5C}">
        <p15:threadingInfo xmlns:p15="http://schemas.microsoft.com/office/powerpoint/2012/main" timeZoneBias="420"/>
      </p:ext>
    </p:extLst>
  </p:cm>
  <p:cm authorId="0" dt="2026-05-12T20:18:12.677" idx="884">
    <p:pos x="8827" y="5092"/>
    <p:text>gated by GSM Ok2Engage</p:text>
    <p:extLst>
      <p:ext uri="{C676402C-5697-4E1C-873F-D02D1690AC5C}">
        <p15:threadingInfo xmlns:p15="http://schemas.microsoft.com/office/powerpoint/2012/main" timeZoneBias="420"/>
      </p:ext>
    </p:extLst>
  </p:cm>
  <p:cm authorId="0" dt="2026-05-12T20:18:12.677" idx="885">
    <p:pos x="9480" y="5092"/>
    <p:text>gated by GSM Ok2Engage</p:text>
    <p:extLst>
      <p:ext uri="{C676402C-5697-4E1C-873F-D02D1690AC5C}">
        <p15:threadingInfo xmlns:p15="http://schemas.microsoft.com/office/powerpoint/2012/main" timeZoneBias="420"/>
      </p:ext>
    </p:extLst>
  </p:cm>
  <p:cm authorId="0" dt="2026-05-12T20:18:12.677" idx="886">
    <p:pos x="10212" y="5092"/>
    <p:text>gated by GSM Ok2Engage</p:text>
    <p:extLst>
      <p:ext uri="{C676402C-5697-4E1C-873F-D02D1690AC5C}">
        <p15:threadingInfo xmlns:p15="http://schemas.microsoft.com/office/powerpoint/2012/main" timeZoneBias="420"/>
      </p:ext>
    </p:extLst>
  </p:cm>
  <p:cm authorId="0" dt="2026-05-12T20:02:15.231" idx="887">
    <p:pos x="10944" y="5092"/>
    <p:text>No recent performance in TTM</p:text>
    <p:extLst>
      <p:ext uri="{C676402C-5697-4E1C-873F-D02D1690AC5C}">
        <p15:threadingInfo xmlns:p15="http://schemas.microsoft.com/office/powerpoint/2012/main" timeZoneBias="420"/>
      </p:ext>
    </p:extLst>
  </p:cm>
  <p:cm authorId="0" dt="2026-05-12T20:02:15.231" idx="888">
    <p:pos x="11677" y="5092"/>
    <p:text>No recent performance in TTM</p:text>
    <p:extLst>
      <p:ext uri="{C676402C-5697-4E1C-873F-D02D1690AC5C}">
        <p15:threadingInfo xmlns:p15="http://schemas.microsoft.com/office/powerpoint/2012/main" timeZoneBias="420"/>
      </p:ext>
    </p:extLst>
  </p:cm>
  <p:cm authorId="0" dt="2026-05-12T20:02:15.231" idx="889">
    <p:pos x="12409" y="5092"/>
    <p:text>No recent performance in TTM</p:text>
    <p:extLst>
      <p:ext uri="{C676402C-5697-4E1C-873F-D02D1690AC5C}">
        <p15:threadingInfo xmlns:p15="http://schemas.microsoft.com/office/powerpoint/2012/main" timeZoneBias="420"/>
      </p:ext>
    </p:extLst>
  </p:cm>
  <p:cm authorId="0" dt="2026-05-12T20:18:12.677" idx="890">
    <p:pos x="12955" y="5092"/>
    <p:text>gated by GSM Ok2Engage</p:text>
    <p:extLst>
      <p:ext uri="{C676402C-5697-4E1C-873F-D02D1690AC5C}">
        <p15:threadingInfo xmlns:p15="http://schemas.microsoft.com/office/powerpoint/2012/main" timeZoneBias="420"/>
      </p:ext>
    </p:extLst>
  </p:cm>
  <p:cm authorId="0" dt="2026-05-12T20:18:12.677" idx="891">
    <p:pos x="13514" y="5092"/>
    <p:text>gated by GSM Ok2Engage</p:text>
    <p:extLst>
      <p:ext uri="{C676402C-5697-4E1C-873F-D02D1690AC5C}">
        <p15:threadingInfo xmlns:p15="http://schemas.microsoft.com/office/powerpoint/2012/main" timeZoneBias="420"/>
      </p:ext>
    </p:extLst>
  </p:cm>
  <p:cm authorId="0" dt="2026-05-12T20:18:12.677" idx="892">
    <p:pos x="14103" y="5092"/>
    <p:text>gated by GSM Ok2Engage</p:text>
    <p:extLst>
      <p:ext uri="{C676402C-5697-4E1C-873F-D02D1690AC5C}">
        <p15:threadingInfo xmlns:p15="http://schemas.microsoft.com/office/powerpoint/2012/main" timeZoneBias="420"/>
      </p:ext>
    </p:extLst>
  </p:cm>
  <p:cm authorId="1" dt="2026-05-19T11:44:09.068" idx="57">
    <p:pos x="1643" y="5279"/>
    <p:text>ARPA and EDPA still in negotiation</p:text>
    <p:extLst>
      <p:ext uri="{C676402C-5697-4E1C-873F-D02D1690AC5C}">
        <p15:threadingInfo xmlns:p15="http://schemas.microsoft.com/office/powerpoint/2012/main" timeZoneBias="420"/>
      </p:ext>
    </p:extLst>
  </p:cm>
  <p:cm authorId="0" dt="2026-05-12T20:18:12.677" idx="893">
    <p:pos x="2296" y="5279"/>
    <p:text>pending GSM feedback</p:text>
    <p:extLst>
      <p:ext uri="{C676402C-5697-4E1C-873F-D02D1690AC5C}">
        <p15:threadingInfo xmlns:p15="http://schemas.microsoft.com/office/powerpoint/2012/main" timeZoneBias="420"/>
      </p:ext>
    </p:extLst>
  </p:cm>
  <p:cm authorId="0" dt="2026-05-12T20:18:12.677" idx="894">
    <p:pos x="5561" y="5279"/>
    <p:text>gated by GSM Ok2Engage</p:text>
    <p:extLst>
      <p:ext uri="{C676402C-5697-4E1C-873F-D02D1690AC5C}">
        <p15:threadingInfo xmlns:p15="http://schemas.microsoft.com/office/powerpoint/2012/main" timeZoneBias="420"/>
      </p:ext>
    </p:extLst>
  </p:cm>
  <p:cm authorId="0" dt="2026-05-12T20:18:12.677" idx="895">
    <p:pos x="7539" y="5279"/>
    <p:text>gated by GSM Ok2Engage</p:text>
    <p:extLst>
      <p:ext uri="{C676402C-5697-4E1C-873F-D02D1690AC5C}">
        <p15:threadingInfo xmlns:p15="http://schemas.microsoft.com/office/powerpoint/2012/main" timeZoneBias="420"/>
      </p:ext>
    </p:extLst>
  </p:cm>
  <p:cm authorId="0" dt="2026-05-12T20:18:12.677" idx="896">
    <p:pos x="8104" y="5279"/>
    <p:text>gated by GSM Ok2Engage</p:text>
    <p:extLst>
      <p:ext uri="{C676402C-5697-4E1C-873F-D02D1690AC5C}">
        <p15:threadingInfo xmlns:p15="http://schemas.microsoft.com/office/powerpoint/2012/main" timeZoneBias="420"/>
      </p:ext>
    </p:extLst>
  </p:cm>
  <p:cm authorId="0" dt="2026-05-12T20:18:12.677" idx="897">
    <p:pos x="8827" y="5279"/>
    <p:text>gated by GSM Ok2Engage</p:text>
    <p:extLst>
      <p:ext uri="{C676402C-5697-4E1C-873F-D02D1690AC5C}">
        <p15:threadingInfo xmlns:p15="http://schemas.microsoft.com/office/powerpoint/2012/main" timeZoneBias="420"/>
      </p:ext>
    </p:extLst>
  </p:cm>
  <p:cm authorId="0" dt="2026-05-12T20:18:12.677" idx="898">
    <p:pos x="9480" y="5279"/>
    <p:text>gated by GSM Ok2Engage</p:text>
    <p:extLst>
      <p:ext uri="{C676402C-5697-4E1C-873F-D02D1690AC5C}">
        <p15:threadingInfo xmlns:p15="http://schemas.microsoft.com/office/powerpoint/2012/main" timeZoneBias="420"/>
      </p:ext>
    </p:extLst>
  </p:cm>
  <p:cm authorId="0" dt="2026-05-12T20:18:12.677" idx="899">
    <p:pos x="10212" y="5279"/>
    <p:text>gated by GSM Ok2Engage</p:text>
    <p:extLst>
      <p:ext uri="{C676402C-5697-4E1C-873F-D02D1690AC5C}">
        <p15:threadingInfo xmlns:p15="http://schemas.microsoft.com/office/powerpoint/2012/main" timeZoneBias="420"/>
      </p:ext>
    </p:extLst>
  </p:cm>
  <p:cm authorId="0" dt="2026-05-12T20:02:15.231" idx="900">
    <p:pos x="10944" y="5279"/>
    <p:text>No recent performance in TTM</p:text>
    <p:extLst>
      <p:ext uri="{C676402C-5697-4E1C-873F-D02D1690AC5C}">
        <p15:threadingInfo xmlns:p15="http://schemas.microsoft.com/office/powerpoint/2012/main" timeZoneBias="420"/>
      </p:ext>
    </p:extLst>
  </p:cm>
  <p:cm authorId="0" dt="2026-05-12T20:02:15.231" idx="901">
    <p:pos x="11677" y="5279"/>
    <p:text>No recent performance in TTM</p:text>
    <p:extLst>
      <p:ext uri="{C676402C-5697-4E1C-873F-D02D1690AC5C}">
        <p15:threadingInfo xmlns:p15="http://schemas.microsoft.com/office/powerpoint/2012/main" timeZoneBias="420"/>
      </p:ext>
    </p:extLst>
  </p:cm>
  <p:cm authorId="0" dt="2026-05-12T20:02:15.231" idx="902">
    <p:pos x="12409" y="5279"/>
    <p:text>No recent performance in TTM</p:text>
    <p:extLst>
      <p:ext uri="{C676402C-5697-4E1C-873F-D02D1690AC5C}">
        <p15:threadingInfo xmlns:p15="http://schemas.microsoft.com/office/powerpoint/2012/main" timeZoneBias="420"/>
      </p:ext>
    </p:extLst>
  </p:cm>
  <p:cm authorId="0" dt="2026-05-12T20:18:12.677" idx="903">
    <p:pos x="12955" y="5279"/>
    <p:text>gated by GSM Ok2Engage</p:text>
    <p:extLst>
      <p:ext uri="{C676402C-5697-4E1C-873F-D02D1690AC5C}">
        <p15:threadingInfo xmlns:p15="http://schemas.microsoft.com/office/powerpoint/2012/main" timeZoneBias="420"/>
      </p:ext>
    </p:extLst>
  </p:cm>
  <p:cm authorId="0" dt="2026-05-12T20:18:12.677" idx="904">
    <p:pos x="13514" y="5279"/>
    <p:text>gated by GSM Ok2Engage</p:text>
    <p:extLst>
      <p:ext uri="{C676402C-5697-4E1C-873F-D02D1690AC5C}">
        <p15:threadingInfo xmlns:p15="http://schemas.microsoft.com/office/powerpoint/2012/main" timeZoneBias="420"/>
      </p:ext>
    </p:extLst>
  </p:cm>
  <p:cm authorId="0" dt="2026-05-12T20:18:12.677" idx="905">
    <p:pos x="14103" y="5279"/>
    <p:text>gated by GSM Ok2Engage</p:text>
    <p:extLst>
      <p:ext uri="{C676402C-5697-4E1C-873F-D02D1690AC5C}">
        <p15:threadingInfo xmlns:p15="http://schemas.microsoft.com/office/powerpoint/2012/main" timeZoneBias="420"/>
      </p:ext>
    </p:extLst>
  </p:cm>
  <p:cm authorId="0" dt="2026-05-12T20:18:12.677" idx="906">
    <p:pos x="1643" y="5457"/>
    <p:text>pending GSM feedback</p:text>
    <p:extLst>
      <p:ext uri="{C676402C-5697-4E1C-873F-D02D1690AC5C}">
        <p15:threadingInfo xmlns:p15="http://schemas.microsoft.com/office/powerpoint/2012/main" timeZoneBias="420"/>
      </p:ext>
    </p:extLst>
  </p:cm>
  <p:cm authorId="1" dt="2026-05-19T11:19:07.729" idx="58">
    <p:pos x="1723" y="5377"/>
    <p:text>Refuse to sign EDPA- not likely to be engaged moving forward</p:text>
    <p:extLst>
      <p:ext uri="{C676402C-5697-4E1C-873F-D02D1690AC5C}">
        <p15:threadingInfo xmlns:p15="http://schemas.microsoft.com/office/powerpoint/2012/main" timeZoneBias="420">
          <p15:parentCm authorId="0" idx="906"/>
        </p15:threadingInfo>
      </p:ext>
    </p:extLst>
  </p:cm>
  <p:cm authorId="0" dt="2026-05-12T20:18:12.677" idx="907">
    <p:pos x="2296" y="5457"/>
    <p:text>pending GSM feedback</p:text>
    <p:extLst>
      <p:ext uri="{C676402C-5697-4E1C-873F-D02D1690AC5C}">
        <p15:threadingInfo xmlns:p15="http://schemas.microsoft.com/office/powerpoint/2012/main" timeZoneBias="420"/>
      </p:ext>
    </p:extLst>
  </p:cm>
  <p:cm authorId="0" dt="2026-05-12T20:18:12.677" idx="908">
    <p:pos x="5561" y="5457"/>
    <p:text>gated by GSM Ok2Engage</p:text>
    <p:extLst>
      <p:ext uri="{C676402C-5697-4E1C-873F-D02D1690AC5C}">
        <p15:threadingInfo xmlns:p15="http://schemas.microsoft.com/office/powerpoint/2012/main" timeZoneBias="420"/>
      </p:ext>
    </p:extLst>
  </p:cm>
  <p:cm authorId="0" dt="2026-05-12T20:18:12.677" idx="909">
    <p:pos x="7539" y="5457"/>
    <p:text>gated by GSM Ok2Engage</p:text>
    <p:extLst>
      <p:ext uri="{C676402C-5697-4E1C-873F-D02D1690AC5C}">
        <p15:threadingInfo xmlns:p15="http://schemas.microsoft.com/office/powerpoint/2012/main" timeZoneBias="420"/>
      </p:ext>
    </p:extLst>
  </p:cm>
  <p:cm authorId="0" dt="2026-05-12T20:18:12.677" idx="910">
    <p:pos x="8104" y="5457"/>
    <p:text>gated by GSM Ok2Engage</p:text>
    <p:extLst>
      <p:ext uri="{C676402C-5697-4E1C-873F-D02D1690AC5C}">
        <p15:threadingInfo xmlns:p15="http://schemas.microsoft.com/office/powerpoint/2012/main" timeZoneBias="420"/>
      </p:ext>
    </p:extLst>
  </p:cm>
  <p:cm authorId="0" dt="2026-05-12T20:18:12.677" idx="911">
    <p:pos x="8827" y="5457"/>
    <p:text>gated by GSM Ok2Engage</p:text>
    <p:extLst>
      <p:ext uri="{C676402C-5697-4E1C-873F-D02D1690AC5C}">
        <p15:threadingInfo xmlns:p15="http://schemas.microsoft.com/office/powerpoint/2012/main" timeZoneBias="420"/>
      </p:ext>
    </p:extLst>
  </p:cm>
  <p:cm authorId="0" dt="2026-05-12T20:18:12.677" idx="912">
    <p:pos x="9480" y="5457"/>
    <p:text>gated by GSM Ok2Engage</p:text>
    <p:extLst>
      <p:ext uri="{C676402C-5697-4E1C-873F-D02D1690AC5C}">
        <p15:threadingInfo xmlns:p15="http://schemas.microsoft.com/office/powerpoint/2012/main" timeZoneBias="420"/>
      </p:ext>
    </p:extLst>
  </p:cm>
  <p:cm authorId="0" dt="2026-05-12T20:18:12.677" idx="913">
    <p:pos x="10212" y="5457"/>
    <p:text>gated by GSM Ok2Engage</p:text>
    <p:extLst>
      <p:ext uri="{C676402C-5697-4E1C-873F-D02D1690AC5C}">
        <p15:threadingInfo xmlns:p15="http://schemas.microsoft.com/office/powerpoint/2012/main" timeZoneBias="420"/>
      </p:ext>
    </p:extLst>
  </p:cm>
  <p:cm authorId="0" dt="2026-05-12T20:02:15.231" idx="914">
    <p:pos x="10944" y="5457"/>
    <p:text>No recent performance in TTM</p:text>
    <p:extLst>
      <p:ext uri="{C676402C-5697-4E1C-873F-D02D1690AC5C}">
        <p15:threadingInfo xmlns:p15="http://schemas.microsoft.com/office/powerpoint/2012/main" timeZoneBias="420"/>
      </p:ext>
    </p:extLst>
  </p:cm>
  <p:cm authorId="0" dt="2026-05-12T20:02:15.231" idx="915">
    <p:pos x="11677" y="5457"/>
    <p:text>No recent performance in TTM</p:text>
    <p:extLst>
      <p:ext uri="{C676402C-5697-4E1C-873F-D02D1690AC5C}">
        <p15:threadingInfo xmlns:p15="http://schemas.microsoft.com/office/powerpoint/2012/main" timeZoneBias="420"/>
      </p:ext>
    </p:extLst>
  </p:cm>
  <p:cm authorId="0" dt="2026-05-12T20:02:15.231" idx="916">
    <p:pos x="12409" y="5457"/>
    <p:text>No recent performance in TTM</p:text>
    <p:extLst>
      <p:ext uri="{C676402C-5697-4E1C-873F-D02D1690AC5C}">
        <p15:threadingInfo xmlns:p15="http://schemas.microsoft.com/office/powerpoint/2012/main" timeZoneBias="420"/>
      </p:ext>
    </p:extLst>
  </p:cm>
  <p:cm authorId="0" dt="2026-05-12T20:18:12.677" idx="917">
    <p:pos x="12955" y="5457"/>
    <p:text>gated by GSM Ok2Engage</p:text>
    <p:extLst>
      <p:ext uri="{C676402C-5697-4E1C-873F-D02D1690AC5C}">
        <p15:threadingInfo xmlns:p15="http://schemas.microsoft.com/office/powerpoint/2012/main" timeZoneBias="420"/>
      </p:ext>
    </p:extLst>
  </p:cm>
  <p:cm authorId="0" dt="2026-05-12T20:18:12.677" idx="918">
    <p:pos x="13514" y="5457"/>
    <p:text>gated by GSM Ok2Engage</p:text>
    <p:extLst>
      <p:ext uri="{C676402C-5697-4E1C-873F-D02D1690AC5C}">
        <p15:threadingInfo xmlns:p15="http://schemas.microsoft.com/office/powerpoint/2012/main" timeZoneBias="420"/>
      </p:ext>
    </p:extLst>
  </p:cm>
  <p:cm authorId="0" dt="2026-05-12T20:18:12.677" idx="919">
    <p:pos x="14103" y="5457"/>
    <p:text>gated by GSM Ok2Engage</p:text>
    <p:extLst>
      <p:ext uri="{C676402C-5697-4E1C-873F-D02D1690AC5C}">
        <p15:threadingInfo xmlns:p15="http://schemas.microsoft.com/office/powerpoint/2012/main" timeZoneBias="420"/>
      </p:ext>
    </p:extLst>
  </p:cm>
  <p:cm authorId="1" dt="2026-05-19T11:44:09.068" idx="59">
    <p:pos x="1643" y="5644"/>
    <p:text>ARPA and EDPA still in negotiation</p:text>
    <p:extLst>
      <p:ext uri="{C676402C-5697-4E1C-873F-D02D1690AC5C}">
        <p15:threadingInfo xmlns:p15="http://schemas.microsoft.com/office/powerpoint/2012/main" timeZoneBias="420"/>
      </p:ext>
    </p:extLst>
  </p:cm>
  <p:cm authorId="0" dt="2026-05-12T20:18:12.677" idx="920">
    <p:pos x="2296" y="5644"/>
    <p:text>pending GSM feedback</p:text>
    <p:extLst>
      <p:ext uri="{C676402C-5697-4E1C-873F-D02D1690AC5C}">
        <p15:threadingInfo xmlns:p15="http://schemas.microsoft.com/office/powerpoint/2012/main" timeZoneBias="420"/>
      </p:ext>
    </p:extLst>
  </p:cm>
  <p:cm authorId="0" dt="2026-05-12T20:18:12.677" idx="921">
    <p:pos x="5561" y="5644"/>
    <p:text>gated by GSM Ok2Engage</p:text>
    <p:extLst>
      <p:ext uri="{C676402C-5697-4E1C-873F-D02D1690AC5C}">
        <p15:threadingInfo xmlns:p15="http://schemas.microsoft.com/office/powerpoint/2012/main" timeZoneBias="420"/>
      </p:ext>
    </p:extLst>
  </p:cm>
  <p:cm authorId="0" dt="2026-05-12T20:18:12.677" idx="922">
    <p:pos x="7539" y="5644"/>
    <p:text>gated by GSM Ok2Engage</p:text>
    <p:extLst>
      <p:ext uri="{C676402C-5697-4E1C-873F-D02D1690AC5C}">
        <p15:threadingInfo xmlns:p15="http://schemas.microsoft.com/office/powerpoint/2012/main" timeZoneBias="420"/>
      </p:ext>
    </p:extLst>
  </p:cm>
  <p:cm authorId="0" dt="2026-05-12T20:18:12.677" idx="923">
    <p:pos x="8104" y="5644"/>
    <p:text>gated by GSM Ok2Engage</p:text>
    <p:extLst>
      <p:ext uri="{C676402C-5697-4E1C-873F-D02D1690AC5C}">
        <p15:threadingInfo xmlns:p15="http://schemas.microsoft.com/office/powerpoint/2012/main" timeZoneBias="420"/>
      </p:ext>
    </p:extLst>
  </p:cm>
  <p:cm authorId="0" dt="2026-05-12T20:18:12.677" idx="924">
    <p:pos x="8827" y="5644"/>
    <p:text>gated by GSM Ok2Engage</p:text>
    <p:extLst>
      <p:ext uri="{C676402C-5697-4E1C-873F-D02D1690AC5C}">
        <p15:threadingInfo xmlns:p15="http://schemas.microsoft.com/office/powerpoint/2012/main" timeZoneBias="420"/>
      </p:ext>
    </p:extLst>
  </p:cm>
  <p:cm authorId="0" dt="2026-05-12T20:18:12.677" idx="925">
    <p:pos x="9480" y="5644"/>
    <p:text>gated by GSM Ok2Engage</p:text>
    <p:extLst>
      <p:ext uri="{C676402C-5697-4E1C-873F-D02D1690AC5C}">
        <p15:threadingInfo xmlns:p15="http://schemas.microsoft.com/office/powerpoint/2012/main" timeZoneBias="420"/>
      </p:ext>
    </p:extLst>
  </p:cm>
  <p:cm authorId="0" dt="2026-05-12T20:18:12.677" idx="926">
    <p:pos x="10212" y="5644"/>
    <p:text>gated by GSM Ok2Engage</p:text>
    <p:extLst>
      <p:ext uri="{C676402C-5697-4E1C-873F-D02D1690AC5C}">
        <p15:threadingInfo xmlns:p15="http://schemas.microsoft.com/office/powerpoint/2012/main" timeZoneBias="420"/>
      </p:ext>
    </p:extLst>
  </p:cm>
  <p:cm authorId="0" dt="2026-05-12T20:02:15.231" idx="927">
    <p:pos x="10944" y="5644"/>
    <p:text>No recent performance in TTM</p:text>
    <p:extLst>
      <p:ext uri="{C676402C-5697-4E1C-873F-D02D1690AC5C}">
        <p15:threadingInfo xmlns:p15="http://schemas.microsoft.com/office/powerpoint/2012/main" timeZoneBias="420"/>
      </p:ext>
    </p:extLst>
  </p:cm>
  <p:cm authorId="0" dt="2026-05-12T20:02:15.231" idx="928">
    <p:pos x="11677" y="5644"/>
    <p:text>No recent performance in TTM</p:text>
    <p:extLst>
      <p:ext uri="{C676402C-5697-4E1C-873F-D02D1690AC5C}">
        <p15:threadingInfo xmlns:p15="http://schemas.microsoft.com/office/powerpoint/2012/main" timeZoneBias="420"/>
      </p:ext>
    </p:extLst>
  </p:cm>
  <p:cm authorId="0" dt="2026-05-12T20:02:15.231" idx="929">
    <p:pos x="12409" y="5644"/>
    <p:text>No recent performance in TTM</p:text>
    <p:extLst>
      <p:ext uri="{C676402C-5697-4E1C-873F-D02D1690AC5C}">
        <p15:threadingInfo xmlns:p15="http://schemas.microsoft.com/office/powerpoint/2012/main" timeZoneBias="420"/>
      </p:ext>
    </p:extLst>
  </p:cm>
  <p:cm authorId="0" dt="2026-05-12T20:18:12.677" idx="930">
    <p:pos x="12955" y="5644"/>
    <p:text>gated by GSM Ok2Engage</p:text>
    <p:extLst>
      <p:ext uri="{C676402C-5697-4E1C-873F-D02D1690AC5C}">
        <p15:threadingInfo xmlns:p15="http://schemas.microsoft.com/office/powerpoint/2012/main" timeZoneBias="420"/>
      </p:ext>
    </p:extLst>
  </p:cm>
  <p:cm authorId="0" dt="2026-05-12T20:18:12.677" idx="931">
    <p:pos x="13514" y="5644"/>
    <p:text>gated by GSM Ok2Engage</p:text>
    <p:extLst>
      <p:ext uri="{C676402C-5697-4E1C-873F-D02D1690AC5C}">
        <p15:threadingInfo xmlns:p15="http://schemas.microsoft.com/office/powerpoint/2012/main" timeZoneBias="420"/>
      </p:ext>
    </p:extLst>
  </p:cm>
  <p:cm authorId="0" dt="2026-05-12T20:18:12.677" idx="932">
    <p:pos x="14103" y="5644"/>
    <p:text>gated by GSM Ok2Engage</p:text>
    <p:extLst>
      <p:ext uri="{C676402C-5697-4E1C-873F-D02D1690AC5C}">
        <p15:threadingInfo xmlns:p15="http://schemas.microsoft.com/office/powerpoint/2012/main" timeZoneBias="420"/>
      </p:ext>
    </p:extLst>
  </p:cm>
</p:cmLst>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9" name="Shape 179"/>
          <p:cNvSpPr/>
          <p:nvPr>
            <p:ph type="sldImg"/>
          </p:nvPr>
        </p:nvSpPr>
        <p:spPr>
          <a:xfrm>
            <a:off x="1143000" y="685800"/>
            <a:ext cx="4572000" cy="3429000"/>
          </a:xfrm>
          <a:prstGeom prst="rect">
            <a:avLst/>
          </a:prstGeom>
        </p:spPr>
        <p:txBody>
          <a:bodyPr/>
          <a:lstStyle/>
          <a:p>
            <a:pPr/>
          </a:p>
        </p:txBody>
      </p:sp>
      <p:sp>
        <p:nvSpPr>
          <p:cNvPr id="180" name="Shape 18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Shape 190"/>
          <p:cNvSpPr/>
          <p:nvPr>
            <p:ph type="sldImg"/>
          </p:nvPr>
        </p:nvSpPr>
        <p:spPr>
          <a:prstGeom prst="rect">
            <a:avLst/>
          </a:prstGeom>
        </p:spPr>
        <p:txBody>
          <a:bodyPr/>
          <a:lstStyle/>
          <a:p>
            <a:pPr/>
          </a:p>
        </p:txBody>
      </p:sp>
      <p:sp>
        <p:nvSpPr>
          <p:cNvPr id="191" name="Shape 191"/>
          <p:cNvSpPr/>
          <p:nvPr>
            <p:ph type="body" sz="quarter" idx="1"/>
          </p:nvPr>
        </p:nvSpPr>
        <p:spPr>
          <a:prstGeom prst="rect">
            <a:avLst/>
          </a:prstGeom>
        </p:spPr>
        <p:txBody>
          <a:bodyPr/>
          <a:lstStyle/>
          <a:p>
            <a:pPr/>
            <a:r>
              <a:t>Global SI Growth &amp; Capacity — Key Takeaways</a:t>
            </a:r>
          </a:p>
          <a:p>
            <a:pPr/>
            <a:r>
              <a:t>Global SI workload is increasing year over year, driven by three compounding factors:</a:t>
            </a:r>
          </a:p>
          <a:p>
            <a:pPr/>
            <a:r>
              <a:t>More complex stations</a:t>
            </a:r>
          </a:p>
          <a:p>
            <a:pPr/>
            <a:r>
              <a:t>More new SIs required to support those stations</a:t>
            </a:r>
          </a:p>
          <a:p>
            <a:pPr/>
            <a:r>
              <a:t>More work per station, as global SIs expand beyond procurement, assembly, and OSS into design responsibility</a:t>
            </a:r>
          </a:p>
          <a:p>
            <a:pPr/>
            <a:r>
              <a:t>SI experience levels are currently low, but expected to grow significantly over time as scope and capability mature.</a:t>
            </a:r>
          </a:p>
          <a:p>
            <a:pPr/>
            <a:r>
              <a:t>Design scope is the primary driver of incremental workload, adding entirely new skill sets and complexity for vendors. While not yet fully quantified, it is clearly increasing demand.</a:t>
            </a:r>
          </a:p>
          <a:p>
            <a:pPr/>
            <a:r>
              <a:t>Key gap identified: stakeholders struggle to assess whether projected capacity is “good enough” due to:</a:t>
            </a:r>
          </a:p>
          <a:p>
            <a:pPr/>
            <a:r>
              <a:t>Lack of a clear benchmark or reference point</a:t>
            </a:r>
          </a:p>
          <a:p>
            <a:pPr/>
            <a:r>
              <a:t>Overly abstract or stacked visuals that require too many logic leaps</a:t>
            </a:r>
          </a:p>
          <a:p>
            <a:pPr/>
            <a:r>
              <a:t>Recommended framing:</a:t>
            </a:r>
          </a:p>
          <a:p>
            <a:pPr/>
            <a:r>
              <a:t>Use 2025 as the baseline reference year</a:t>
            </a:r>
          </a:p>
          <a:p>
            <a:pPr/>
            <a:r>
              <a:t>Show projected demand vs. benchmark capacity for 2026–2027</a:t>
            </a:r>
          </a:p>
          <a:p>
            <a:pPr/>
            <a:r>
              <a:t>Simplify visuals to emphasize the supply–demand imbalance, even at the cost of granular detail</a:t>
            </a:r>
          </a:p>
          <a:p>
            <a:pPr/>
            <a:r>
              <a:t>Near-term approach:</a:t>
            </a:r>
          </a:p>
          <a:p>
            <a:pPr/>
            <a:r>
              <a:t>Treat design scope as a high-level demand driver in the narrative</a:t>
            </a:r>
          </a:p>
          <a:p>
            <a:pPr/>
            <a:r>
              <a:t>Commit to objective quantification via an upcoming station complexity rating methodology</a:t>
            </a:r>
          </a:p>
          <a:p>
            <a:pPr/>
            <a:r>
              <a:t>End goal:</a:t>
            </a:r>
          </a:p>
          <a:p>
            <a:pPr/>
            <a:r>
              <a:t>Thi data forms the baseline for a supply–demand model that:</a:t>
            </a:r>
          </a:p>
          <a:p>
            <a:pPr/>
            <a:r>
              <a:t>Matches station demand with vendor capability, capacity, and support constraints</a:t>
            </a:r>
          </a:p>
          <a:p>
            <a:pPr/>
            <a:r>
              <a:t>Identifies which stations are feasible</a:t>
            </a:r>
          </a:p>
          <a:p>
            <a:pPr/>
            <a:r>
              <a:t>Informs global SI growth strategy and internal headcount limits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hape 201"/>
          <p:cNvSpPr/>
          <p:nvPr>
            <p:ph type="sldImg"/>
          </p:nvPr>
        </p:nvSpPr>
        <p:spPr>
          <a:prstGeom prst="rect">
            <a:avLst/>
          </a:prstGeom>
        </p:spPr>
        <p:txBody>
          <a:bodyPr/>
          <a:lstStyle/>
          <a:p>
            <a:pPr/>
          </a:p>
        </p:txBody>
      </p:sp>
      <p:sp>
        <p:nvSpPr>
          <p:cNvPr id="202" name="Shape 202"/>
          <p:cNvSpPr/>
          <p:nvPr>
            <p:ph type="body" sz="quarter" idx="1"/>
          </p:nvPr>
        </p:nvSpPr>
        <p:spPr>
          <a:prstGeom prst="rect">
            <a:avLst/>
          </a:prstGeom>
        </p:spPr>
        <p:txBody>
          <a:bodyPr/>
          <a:lstStyle/>
          <a:p>
            <a:pPr/>
            <a:r>
              <a:t>Global SI Growth &amp; Capacity — Key Takeaways</a:t>
            </a:r>
          </a:p>
          <a:p>
            <a:pPr/>
            <a:r>
              <a:t>Global SI workload is increasing year over year, driven by three compounding factors:</a:t>
            </a:r>
          </a:p>
          <a:p>
            <a:pPr/>
            <a:r>
              <a:t>More complex stations</a:t>
            </a:r>
          </a:p>
          <a:p>
            <a:pPr/>
            <a:r>
              <a:t>More new SIs required to support those stations</a:t>
            </a:r>
          </a:p>
          <a:p>
            <a:pPr/>
            <a:r>
              <a:t>More work per station, as global SIs expand beyond procurement, assembly, and OSS into design responsibility</a:t>
            </a:r>
          </a:p>
          <a:p>
            <a:pPr/>
            <a:r>
              <a:t>SI experience levels are currently low, but expected to grow significantly over time as scope and capability mature.</a:t>
            </a:r>
          </a:p>
          <a:p>
            <a:pPr/>
            <a:r>
              <a:t>Design scope is the primary driver of incremental workload, adding entirely new skill sets and complexity for vendors. While not yet fully quantified, it is clearly increasing demand.</a:t>
            </a:r>
          </a:p>
          <a:p>
            <a:pPr/>
            <a:r>
              <a:t>Key gap identified: stakeholders struggle to assess whether projected capacity is “good enough” due to:</a:t>
            </a:r>
          </a:p>
          <a:p>
            <a:pPr/>
            <a:r>
              <a:t>Lack of a clear benchmark or reference point</a:t>
            </a:r>
          </a:p>
          <a:p>
            <a:pPr/>
            <a:r>
              <a:t>Overly abstract or stacked visuals that require too many logic leaps</a:t>
            </a:r>
          </a:p>
          <a:p>
            <a:pPr/>
            <a:r>
              <a:t>Recommended framing:</a:t>
            </a:r>
          </a:p>
          <a:p>
            <a:pPr/>
            <a:r>
              <a:t>Use 2025 as the baseline reference year</a:t>
            </a:r>
          </a:p>
          <a:p>
            <a:pPr/>
            <a:r>
              <a:t>Show projected demand vs. benchmark capacity for 2026–2027</a:t>
            </a:r>
          </a:p>
          <a:p>
            <a:pPr/>
            <a:r>
              <a:t>Simplify visuals to emphasize the supply–demand imbalance, even at the cost of granular detail</a:t>
            </a:r>
          </a:p>
          <a:p>
            <a:pPr/>
            <a:r>
              <a:t>Near-term approach:</a:t>
            </a:r>
          </a:p>
          <a:p>
            <a:pPr/>
            <a:r>
              <a:t>Treat design scope as a high-level demand driver in the narrative</a:t>
            </a:r>
          </a:p>
          <a:p>
            <a:pPr/>
            <a:r>
              <a:t>Commit to objective quantification via an upcoming station complexity rating methodology</a:t>
            </a:r>
          </a:p>
          <a:p>
            <a:pPr/>
            <a:r>
              <a:t>End goal:</a:t>
            </a:r>
          </a:p>
          <a:p>
            <a:pPr/>
            <a:r>
              <a:t>Thi data forms the baseline for a supply–demand model that:</a:t>
            </a:r>
          </a:p>
          <a:p>
            <a:pPr/>
            <a:r>
              <a:t>Matches station demand with vendor capability, capacity, and support constraints</a:t>
            </a:r>
          </a:p>
          <a:p>
            <a:pPr/>
            <a:r>
              <a:t>Identifies which stations are feasible</a:t>
            </a:r>
          </a:p>
          <a:p>
            <a:pPr/>
            <a:r>
              <a:t>Informs global SI growth strategy and internal headcount limits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Shape 212"/>
          <p:cNvSpPr/>
          <p:nvPr>
            <p:ph type="sldImg"/>
          </p:nvPr>
        </p:nvSpPr>
        <p:spPr>
          <a:prstGeom prst="rect">
            <a:avLst/>
          </a:prstGeom>
        </p:spPr>
        <p:txBody>
          <a:bodyPr/>
          <a:lstStyle/>
          <a:p>
            <a:pPr/>
          </a:p>
        </p:txBody>
      </p:sp>
      <p:sp>
        <p:nvSpPr>
          <p:cNvPr id="213" name="Shape 213"/>
          <p:cNvSpPr/>
          <p:nvPr>
            <p:ph type="body" sz="quarter" idx="1"/>
          </p:nvPr>
        </p:nvSpPr>
        <p:spPr>
          <a:prstGeom prst="rect">
            <a:avLst/>
          </a:prstGeom>
        </p:spPr>
        <p:txBody>
          <a:bodyPr/>
          <a:lstStyle/>
          <a:p>
            <a:pPr/>
            <a:r>
              <a:t>Global SI Growth &amp; Capacity — Key Takeaways</a:t>
            </a:r>
          </a:p>
          <a:p>
            <a:pPr/>
            <a:r>
              <a:t>Global SI workload is increasing year over year, driven by three compounding factors:</a:t>
            </a:r>
          </a:p>
          <a:p>
            <a:pPr/>
            <a:r>
              <a:t>More complex stations</a:t>
            </a:r>
          </a:p>
          <a:p>
            <a:pPr/>
            <a:r>
              <a:t>More new SIs required to support those stations</a:t>
            </a:r>
          </a:p>
          <a:p>
            <a:pPr/>
            <a:r>
              <a:t>More work per station, as global SIs expand beyond procurement, assembly, and OSS into design responsibility</a:t>
            </a:r>
          </a:p>
          <a:p>
            <a:pPr/>
            <a:r>
              <a:t>SI experience levels are currently low, but expected to grow significantly over time as scope and capability mature.</a:t>
            </a:r>
          </a:p>
          <a:p>
            <a:pPr/>
            <a:r>
              <a:t>Design scope is the primary driver of incremental workload, adding entirely new skill sets and complexity for vendors. While not yet fully quantified, it is clearly increasing demand.</a:t>
            </a:r>
          </a:p>
          <a:p>
            <a:pPr/>
            <a:r>
              <a:t>Key gap identified: stakeholders struggle to assess whether projected capacity is “good enough” due to:</a:t>
            </a:r>
          </a:p>
          <a:p>
            <a:pPr/>
            <a:r>
              <a:t>Lack of a clear benchmark or reference point</a:t>
            </a:r>
          </a:p>
          <a:p>
            <a:pPr/>
            <a:r>
              <a:t>Overly abstract or stacked visuals that require too many logic leaps</a:t>
            </a:r>
          </a:p>
          <a:p>
            <a:pPr/>
            <a:r>
              <a:t>Recommended framing:</a:t>
            </a:r>
          </a:p>
          <a:p>
            <a:pPr/>
            <a:r>
              <a:t>Use 2025 as the baseline reference year</a:t>
            </a:r>
          </a:p>
          <a:p>
            <a:pPr/>
            <a:r>
              <a:t>Show projected demand vs. benchmark capacity for 2026–2027</a:t>
            </a:r>
          </a:p>
          <a:p>
            <a:pPr/>
            <a:r>
              <a:t>Simplify visuals to emphasize the supply–demand imbalance, even at the cost of granular detail</a:t>
            </a:r>
          </a:p>
          <a:p>
            <a:pPr/>
            <a:r>
              <a:t>Near-term approach:</a:t>
            </a:r>
          </a:p>
          <a:p>
            <a:pPr/>
            <a:r>
              <a:t>Treat design scope as a high-level demand driver in the narrative</a:t>
            </a:r>
          </a:p>
          <a:p>
            <a:pPr/>
            <a:r>
              <a:t>Commit to objective quantification via an upcoming station complexity rating methodology</a:t>
            </a:r>
          </a:p>
          <a:p>
            <a:pPr/>
            <a:r>
              <a:t>End goal:</a:t>
            </a:r>
          </a:p>
          <a:p>
            <a:pPr/>
            <a:r>
              <a:t>Thi data forms the baseline for a supply–demand model that:</a:t>
            </a:r>
          </a:p>
          <a:p>
            <a:pPr/>
            <a:r>
              <a:t>Matches station demand with vendor capability, capacity, and support constraints</a:t>
            </a:r>
          </a:p>
          <a:p>
            <a:pPr/>
            <a:r>
              <a:t>Identifies which stations are feasible</a:t>
            </a:r>
          </a:p>
          <a:p>
            <a:pPr/>
            <a:r>
              <a:t>Informs global SI growth strategy and internal headcount limits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Shape 223"/>
          <p:cNvSpPr/>
          <p:nvPr>
            <p:ph type="sldImg"/>
          </p:nvPr>
        </p:nvSpPr>
        <p:spPr>
          <a:prstGeom prst="rect">
            <a:avLst/>
          </a:prstGeom>
        </p:spPr>
        <p:txBody>
          <a:bodyPr/>
          <a:lstStyle/>
          <a:p>
            <a:pPr/>
          </a:p>
        </p:txBody>
      </p:sp>
      <p:sp>
        <p:nvSpPr>
          <p:cNvPr id="224" name="Shape 224"/>
          <p:cNvSpPr/>
          <p:nvPr>
            <p:ph type="body" sz="quarter" idx="1"/>
          </p:nvPr>
        </p:nvSpPr>
        <p:spPr>
          <a:prstGeom prst="rect">
            <a:avLst/>
          </a:prstGeom>
        </p:spPr>
        <p:txBody>
          <a:bodyPr/>
          <a:lstStyle/>
          <a:p>
            <a:pPr/>
            <a:r>
              <a:t>Global SI Growth &amp; Capacity — Key Takeaways</a:t>
            </a:r>
          </a:p>
          <a:p>
            <a:pPr/>
            <a:r>
              <a:t>Global SI workload is increasing year over year, driven by three compounding factors:</a:t>
            </a:r>
          </a:p>
          <a:p>
            <a:pPr/>
            <a:r>
              <a:t>More complex stations</a:t>
            </a:r>
          </a:p>
          <a:p>
            <a:pPr/>
            <a:r>
              <a:t>More new SIs required to support those stations</a:t>
            </a:r>
          </a:p>
          <a:p>
            <a:pPr/>
            <a:r>
              <a:t>More work per station, as global SIs expand beyond procurement, assembly, and OSS into design responsibility</a:t>
            </a:r>
          </a:p>
          <a:p>
            <a:pPr/>
            <a:r>
              <a:t>SI experience levels are currently low, but expected to grow significantly over time as scope and capability mature.</a:t>
            </a:r>
          </a:p>
          <a:p>
            <a:pPr/>
            <a:r>
              <a:t>Design scope is the primary driver of incremental workload, adding entirely new skill sets and complexity for vendors. While not yet fully quantified, it is clearly increasing demand.</a:t>
            </a:r>
          </a:p>
          <a:p>
            <a:pPr/>
            <a:r>
              <a:t>Key gap identified: stakeholders struggle to assess whether projected capacity is “good enough” due to:</a:t>
            </a:r>
          </a:p>
          <a:p>
            <a:pPr/>
            <a:r>
              <a:t>Lack of a clear benchmark or reference point</a:t>
            </a:r>
          </a:p>
          <a:p>
            <a:pPr/>
            <a:r>
              <a:t>Overly abstract or stacked visuals that require too many logic leaps</a:t>
            </a:r>
          </a:p>
          <a:p>
            <a:pPr/>
            <a:r>
              <a:t>Recommended framing:</a:t>
            </a:r>
          </a:p>
          <a:p>
            <a:pPr/>
            <a:r>
              <a:t>Use 2025 as the baseline reference year</a:t>
            </a:r>
          </a:p>
          <a:p>
            <a:pPr/>
            <a:r>
              <a:t>Show projected demand vs. benchmark capacity for 2026–2027</a:t>
            </a:r>
          </a:p>
          <a:p>
            <a:pPr/>
            <a:r>
              <a:t>Simplify visuals to emphasize the supply–demand imbalance, even at the cost of granular detail</a:t>
            </a:r>
          </a:p>
          <a:p>
            <a:pPr/>
            <a:r>
              <a:t>Near-term approach:</a:t>
            </a:r>
          </a:p>
          <a:p>
            <a:pPr/>
            <a:r>
              <a:t>Treat design scope as a high-level demand driver in the narrative</a:t>
            </a:r>
          </a:p>
          <a:p>
            <a:pPr/>
            <a:r>
              <a:t>Commit to objective quantification via an upcoming station complexity rating methodology</a:t>
            </a:r>
          </a:p>
          <a:p>
            <a:pPr/>
            <a:r>
              <a:t>End goal:</a:t>
            </a:r>
          </a:p>
          <a:p>
            <a:pPr/>
            <a:r>
              <a:t>Thi data forms the baseline for a supply–demand model that:</a:t>
            </a:r>
          </a:p>
          <a:p>
            <a:pPr/>
            <a:r>
              <a:t>Matches station demand with vendor capability, capacity, and support constraints</a:t>
            </a:r>
          </a:p>
          <a:p>
            <a:pPr/>
            <a:r>
              <a:t>Identifies which stations are feasible</a:t>
            </a:r>
          </a:p>
          <a:p>
            <a:pPr/>
            <a:r>
              <a:t>Informs global SI growth strategy and internal headcount limits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Shape 234"/>
          <p:cNvSpPr/>
          <p:nvPr>
            <p:ph type="sldImg"/>
          </p:nvPr>
        </p:nvSpPr>
        <p:spPr>
          <a:prstGeom prst="rect">
            <a:avLst/>
          </a:prstGeom>
        </p:spPr>
        <p:txBody>
          <a:bodyPr/>
          <a:lstStyle/>
          <a:p>
            <a:pPr/>
          </a:p>
        </p:txBody>
      </p:sp>
      <p:sp>
        <p:nvSpPr>
          <p:cNvPr id="235" name="Shape 235"/>
          <p:cNvSpPr/>
          <p:nvPr>
            <p:ph type="body" sz="quarter" idx="1"/>
          </p:nvPr>
        </p:nvSpPr>
        <p:spPr>
          <a:prstGeom prst="rect">
            <a:avLst/>
          </a:prstGeom>
        </p:spPr>
        <p:txBody>
          <a:bodyPr/>
          <a:lstStyle/>
          <a:p>
            <a:pPr/>
            <a:r>
              <a:t>Global SI Growth &amp; Capacity — Key Takeaways</a:t>
            </a:r>
          </a:p>
          <a:p>
            <a:pPr/>
            <a:r>
              <a:t>Global SI workload is increasing year over year, driven by three compounding factors:</a:t>
            </a:r>
          </a:p>
          <a:p>
            <a:pPr/>
            <a:r>
              <a:t>More complex stations</a:t>
            </a:r>
          </a:p>
          <a:p>
            <a:pPr/>
            <a:r>
              <a:t>More new SIs required to support those stations</a:t>
            </a:r>
          </a:p>
          <a:p>
            <a:pPr/>
            <a:r>
              <a:t>More work per station, as global SIs expand beyond procurement, assembly, and OSS into design responsibility</a:t>
            </a:r>
          </a:p>
          <a:p>
            <a:pPr/>
            <a:r>
              <a:t>SI experience levels are currently low, but expected to grow significantly over time as scope and capability mature.</a:t>
            </a:r>
          </a:p>
          <a:p>
            <a:pPr/>
            <a:r>
              <a:t>Design scope is the primary driver of incremental workload, adding entirely new skill sets and complexity for vendors. While not yet fully quantified, it is clearly increasing demand.</a:t>
            </a:r>
          </a:p>
          <a:p>
            <a:pPr/>
            <a:r>
              <a:t>Key gap identified: stakeholders struggle to assess whether projected capacity is “good enough” due to:</a:t>
            </a:r>
          </a:p>
          <a:p>
            <a:pPr/>
            <a:r>
              <a:t>Lack of a clear benchmark or reference point</a:t>
            </a:r>
          </a:p>
          <a:p>
            <a:pPr/>
            <a:r>
              <a:t>Overly abstract or stacked visuals that require too many logic leaps</a:t>
            </a:r>
          </a:p>
          <a:p>
            <a:pPr/>
            <a:r>
              <a:t>Recommended framing:</a:t>
            </a:r>
          </a:p>
          <a:p>
            <a:pPr/>
            <a:r>
              <a:t>Use 2025 as the baseline reference year</a:t>
            </a:r>
          </a:p>
          <a:p>
            <a:pPr/>
            <a:r>
              <a:t>Show projected demand vs. benchmark capacity for 2026–2027</a:t>
            </a:r>
          </a:p>
          <a:p>
            <a:pPr/>
            <a:r>
              <a:t>Simplify visuals to emphasize the supply–demand imbalance, even at the cost of granular detail</a:t>
            </a:r>
          </a:p>
          <a:p>
            <a:pPr/>
            <a:r>
              <a:t>Near-term approach:</a:t>
            </a:r>
          </a:p>
          <a:p>
            <a:pPr/>
            <a:r>
              <a:t>Treat design scope as a high-level demand driver in the narrative</a:t>
            </a:r>
          </a:p>
          <a:p>
            <a:pPr/>
            <a:r>
              <a:t>Commit to objective quantification via an upcoming station complexity rating methodology</a:t>
            </a:r>
          </a:p>
          <a:p>
            <a:pPr/>
            <a:r>
              <a:t>End goal:</a:t>
            </a:r>
          </a:p>
          <a:p>
            <a:pPr/>
            <a:r>
              <a:t>Thi data forms the baseline for a supply–demand model that:</a:t>
            </a:r>
          </a:p>
          <a:p>
            <a:pPr/>
            <a:r>
              <a:t>Matches station demand with vendor capability, capacity, and support constraints</a:t>
            </a:r>
          </a:p>
          <a:p>
            <a:pPr/>
            <a:r>
              <a:t>Identifies which stations are feasible</a:t>
            </a:r>
          </a:p>
          <a:p>
            <a:pPr/>
            <a:r>
              <a:t>Informs global SI growth strategy and internal headcount limits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Shape 241"/>
          <p:cNvSpPr/>
          <p:nvPr>
            <p:ph type="sldImg"/>
          </p:nvPr>
        </p:nvSpPr>
        <p:spPr>
          <a:prstGeom prst="rect">
            <a:avLst/>
          </a:prstGeom>
        </p:spPr>
        <p:txBody>
          <a:bodyPr/>
          <a:lstStyle/>
          <a:p>
            <a:pPr/>
          </a:p>
        </p:txBody>
      </p:sp>
      <p:sp>
        <p:nvSpPr>
          <p:cNvPr id="242" name="Shape 242"/>
          <p:cNvSpPr/>
          <p:nvPr>
            <p:ph type="body" sz="quarter" idx="1"/>
          </p:nvPr>
        </p:nvSpPr>
        <p:spPr>
          <a:prstGeom prst="rect">
            <a:avLst/>
          </a:prstGeom>
        </p:spPr>
        <p:txBody>
          <a:bodyPr/>
          <a:lstStyle/>
          <a:p>
            <a:pPr/>
            <a:r>
              <a:t>Global SI Growth &amp; Capacity — Key Takeaways</a:t>
            </a:r>
          </a:p>
          <a:p>
            <a:pPr/>
            <a:r>
              <a:t>Global SI workload is increasing year over year, driven by three compounding factors:</a:t>
            </a:r>
          </a:p>
          <a:p>
            <a:pPr/>
            <a:r>
              <a:t>More complex stations</a:t>
            </a:r>
          </a:p>
          <a:p>
            <a:pPr/>
            <a:r>
              <a:t>More new SIs required to support those stations</a:t>
            </a:r>
          </a:p>
          <a:p>
            <a:pPr/>
            <a:r>
              <a:t>More work per station, as global SIs expand beyond procurement, assembly, and OSS into design responsibility</a:t>
            </a:r>
          </a:p>
          <a:p>
            <a:pPr/>
            <a:r>
              <a:t>SI experience levels are currently low, but expected to grow significantly over time as scope and capability mature.</a:t>
            </a:r>
          </a:p>
          <a:p>
            <a:pPr/>
            <a:r>
              <a:t>Design scope is the primary driver of incremental workload, adding entirely new skill sets and complexity for vendors. While not yet fully quantified, it is clearly increasing demand.</a:t>
            </a:r>
          </a:p>
          <a:p>
            <a:pPr/>
            <a:r>
              <a:t>Key gap identified: stakeholders struggle to assess whether projected capacity is “good enough” due to:</a:t>
            </a:r>
          </a:p>
          <a:p>
            <a:pPr/>
            <a:r>
              <a:t>Lack of a clear benchmark or reference point</a:t>
            </a:r>
          </a:p>
          <a:p>
            <a:pPr/>
            <a:r>
              <a:t>Overly abstract or stacked visuals that require too many logic leaps</a:t>
            </a:r>
          </a:p>
          <a:p>
            <a:pPr/>
            <a:r>
              <a:t>Recommended framing:</a:t>
            </a:r>
          </a:p>
          <a:p>
            <a:pPr/>
            <a:r>
              <a:t>Use 2025 as the baseline reference year</a:t>
            </a:r>
          </a:p>
          <a:p>
            <a:pPr/>
            <a:r>
              <a:t>Show projected demand vs. benchmark capacity for 2026–2027</a:t>
            </a:r>
          </a:p>
          <a:p>
            <a:pPr/>
            <a:r>
              <a:t>Simplify visuals to emphasize the supply–demand imbalance, even at the cost of granular detail</a:t>
            </a:r>
          </a:p>
          <a:p>
            <a:pPr/>
            <a:r>
              <a:t>Near-term approach:</a:t>
            </a:r>
          </a:p>
          <a:p>
            <a:pPr/>
            <a:r>
              <a:t>Treat design scope as a high-level demand driver in the narrative</a:t>
            </a:r>
          </a:p>
          <a:p>
            <a:pPr/>
            <a:r>
              <a:t>Commit to objective quantification via an upcoming station complexity rating methodology</a:t>
            </a:r>
          </a:p>
          <a:p>
            <a:pPr/>
            <a:r>
              <a:t>End goal:</a:t>
            </a:r>
          </a:p>
          <a:p>
            <a:pPr/>
            <a:r>
              <a:t>Thi data forms the baseline for a supply–demand model that:</a:t>
            </a:r>
          </a:p>
          <a:p>
            <a:pPr/>
            <a:r>
              <a:t>Matches station demand with vendor capability, capacity, and support constraints</a:t>
            </a:r>
          </a:p>
          <a:p>
            <a:pPr/>
            <a:r>
              <a:t>Identifies which stations are feasible</a:t>
            </a:r>
          </a:p>
          <a:p>
            <a:pPr/>
            <a:r>
              <a:t>Informs global SI growth strategy and internal headcount limits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umm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9" name="Line"/>
          <p:cNvSpPr/>
          <p:nvPr/>
        </p:nvSpPr>
        <p:spPr>
          <a:xfrm>
            <a:off x="517060" y="1244600"/>
            <a:ext cx="23315953" cy="0"/>
          </a:xfrm>
          <a:prstGeom prst="line">
            <a:avLst/>
          </a:prstGeom>
          <a:ln w="12700">
            <a:solidFill>
              <a:srgbClr val="929292"/>
            </a:solidFill>
            <a:miter lim="400000"/>
          </a:ln>
        </p:spPr>
        <p:txBody>
          <a:bodyPr lIns="0" tIns="0" rIns="0" bIns="0"/>
          <a:lstStyle/>
          <a:p>
            <a:pPr defTabSz="457200">
              <a:lnSpc>
                <a:spcPct val="100000"/>
              </a:lnSpc>
              <a:spcBef>
                <a:spcPts val="0"/>
              </a:spcBef>
              <a:defRPr sz="1200">
                <a:latin typeface="Helvetica"/>
                <a:ea typeface="Helvetica"/>
                <a:cs typeface="Helvetica"/>
                <a:sym typeface="Helvetica"/>
              </a:defRPr>
            </a:pPr>
          </a:p>
        </p:txBody>
      </p:sp>
      <p:sp>
        <p:nvSpPr>
          <p:cNvPr id="170" name="Apple Confidential"/>
          <p:cNvSpPr txBox="1"/>
          <p:nvPr/>
        </p:nvSpPr>
        <p:spPr>
          <a:xfrm>
            <a:off x="22318166" y="13411200"/>
            <a:ext cx="1875334" cy="304801"/>
          </a:xfrm>
          <a:prstGeom prst="rect">
            <a:avLst/>
          </a:prstGeom>
          <a:ln w="12700">
            <a:miter lim="400000"/>
          </a:ln>
          <a:extLst>
            <a:ext uri="{C572A759-6A51-4108-AA02-DFA0A04FC94B}">
              <ma14:wrappingTextBoxFlag xmlns:ma14="http://schemas.microsoft.com/office/mac/drawingml/2011/main" val="1"/>
            </a:ext>
          </a:extLst>
        </p:spPr>
        <p:txBody>
          <a:bodyPr lIns="38100" tIns="38100" rIns="38100" bIns="38100" anchor="ctr">
            <a:spAutoFit/>
          </a:bodyPr>
          <a:lstStyle>
            <a:lvl1pPr algn="r" defTabSz="825500">
              <a:lnSpc>
                <a:spcPct val="100000"/>
              </a:lnSpc>
              <a:spcBef>
                <a:spcPts val="0"/>
              </a:spcBef>
              <a:defRPr sz="1600">
                <a:solidFill>
                  <a:srgbClr val="606060"/>
                </a:solidFill>
              </a:defRPr>
            </a:lvl1pPr>
          </a:lstStyle>
          <a:p>
            <a:pPr/>
            <a:r>
              <a:t>Apple Confidential</a:t>
            </a:r>
          </a:p>
        </p:txBody>
      </p:sp>
      <p:sp>
        <p:nvSpPr>
          <p:cNvPr id="171" name="Title Text"/>
          <p:cNvSpPr txBox="1"/>
          <p:nvPr>
            <p:ph type="title"/>
          </p:nvPr>
        </p:nvSpPr>
        <p:spPr>
          <a:xfrm>
            <a:off x="1066800" y="190500"/>
            <a:ext cx="22237700" cy="838200"/>
          </a:xfrm>
          <a:prstGeom prst="rect">
            <a:avLst/>
          </a:prstGeom>
        </p:spPr>
        <p:txBody>
          <a:bodyPr anchor="ctr"/>
          <a:lstStyle>
            <a:lvl1pPr defTabSz="825500">
              <a:lnSpc>
                <a:spcPct val="100000"/>
              </a:lnSpc>
              <a:defRPr b="0" spc="0" sz="5000">
                <a:solidFill>
                  <a:srgbClr val="0096FF"/>
                </a:solidFill>
                <a:latin typeface="Helvetica Neue Light"/>
                <a:ea typeface="Helvetica Neue Light"/>
                <a:cs typeface="Helvetica Neue Light"/>
                <a:sym typeface="Helvetica Neue Light"/>
              </a:defRPr>
            </a:lvl1pPr>
          </a:lstStyle>
          <a:p>
            <a:pPr/>
            <a:r>
              <a:t>Title Text</a:t>
            </a:r>
          </a:p>
        </p:txBody>
      </p:sp>
      <p:sp>
        <p:nvSpPr>
          <p:cNvPr id="172" name="Body Level One…"/>
          <p:cNvSpPr txBox="1"/>
          <p:nvPr>
            <p:ph type="body" idx="1"/>
          </p:nvPr>
        </p:nvSpPr>
        <p:spPr>
          <a:xfrm>
            <a:off x="1066800" y="1536700"/>
            <a:ext cx="22237700" cy="11239500"/>
          </a:xfrm>
          <a:prstGeom prst="rect">
            <a:avLst/>
          </a:prstGeom>
        </p:spPr>
        <p:txBody>
          <a:bodyPr lIns="0" tIns="0" rIns="0" bIns="0"/>
          <a:lstStyle>
            <a:lvl1pPr marL="254000" indent="-254000" defTabSz="825500">
              <a:lnSpc>
                <a:spcPct val="80000"/>
              </a:lnSpc>
              <a:spcBef>
                <a:spcPts val="1400"/>
              </a:spcBef>
              <a:buClr>
                <a:srgbClr val="929292"/>
              </a:buClr>
              <a:buSzPct val="75000"/>
              <a:buChar char="-"/>
              <a:defRPr sz="3200">
                <a:latin typeface="Helvetica Neue Light"/>
                <a:ea typeface="Helvetica Neue Light"/>
                <a:cs typeface="Helvetica Neue Light"/>
                <a:sym typeface="Helvetica Neue Light"/>
              </a:defRPr>
            </a:lvl1pPr>
            <a:lvl2pPr marL="635000" indent="-254000" defTabSz="825500">
              <a:lnSpc>
                <a:spcPct val="80000"/>
              </a:lnSpc>
              <a:spcBef>
                <a:spcPts val="1400"/>
              </a:spcBef>
              <a:buClr>
                <a:srgbClr val="929292"/>
              </a:buClr>
              <a:buSzPct val="75000"/>
              <a:buChar char="-"/>
              <a:defRPr sz="3200">
                <a:latin typeface="Helvetica Neue Light"/>
                <a:ea typeface="Helvetica Neue Light"/>
                <a:cs typeface="Helvetica Neue Light"/>
                <a:sym typeface="Helvetica Neue Light"/>
              </a:defRPr>
            </a:lvl2pPr>
            <a:lvl3pPr marL="1016000" indent="-254000" defTabSz="825500">
              <a:lnSpc>
                <a:spcPct val="80000"/>
              </a:lnSpc>
              <a:spcBef>
                <a:spcPts val="1400"/>
              </a:spcBef>
              <a:buClr>
                <a:srgbClr val="929292"/>
              </a:buClr>
              <a:buSzPct val="75000"/>
              <a:buChar char="-"/>
              <a:defRPr sz="3200">
                <a:latin typeface="Helvetica Neue Light"/>
                <a:ea typeface="Helvetica Neue Light"/>
                <a:cs typeface="Helvetica Neue Light"/>
                <a:sym typeface="Helvetica Neue Light"/>
              </a:defRPr>
            </a:lvl3pPr>
            <a:lvl4pPr marL="1397000" indent="-254000" defTabSz="825500">
              <a:lnSpc>
                <a:spcPct val="80000"/>
              </a:lnSpc>
              <a:spcBef>
                <a:spcPts val="1400"/>
              </a:spcBef>
              <a:buClr>
                <a:srgbClr val="929292"/>
              </a:buClr>
              <a:buSzPct val="75000"/>
              <a:buChar char="-"/>
              <a:defRPr sz="3200">
                <a:latin typeface="Helvetica Neue Light"/>
                <a:ea typeface="Helvetica Neue Light"/>
                <a:cs typeface="Helvetica Neue Light"/>
                <a:sym typeface="Helvetica Neue Light"/>
              </a:defRPr>
            </a:lvl4pPr>
            <a:lvl5pPr marL="1778000" indent="-254000" defTabSz="825500">
              <a:lnSpc>
                <a:spcPct val="80000"/>
              </a:lnSpc>
              <a:spcBef>
                <a:spcPts val="1400"/>
              </a:spcBef>
              <a:buClr>
                <a:srgbClr val="929292"/>
              </a:buClr>
              <a:buSzPct val="75000"/>
              <a:buChar char="-"/>
              <a:defRPr sz="3200">
                <a:latin typeface="Helvetica Neue Light"/>
                <a:ea typeface="Helvetica Neue Light"/>
                <a:cs typeface="Helvetica Neue Light"/>
                <a:sym typeface="Helvetica Neue Light"/>
              </a:defRPr>
            </a:lvl5pPr>
          </a:lstStyle>
          <a:p>
            <a:pPr/>
            <a:r>
              <a:t>Body Level One</a:t>
            </a:r>
          </a:p>
          <a:p>
            <a:pPr lvl="1"/>
            <a:r>
              <a:t>Body Level Two</a:t>
            </a:r>
          </a:p>
          <a:p>
            <a:pPr lvl="2"/>
            <a:r>
              <a:t>Body Level Three</a:t>
            </a:r>
          </a:p>
          <a:p>
            <a:pPr lvl="3"/>
            <a:r>
              <a:t>Body Level Four</a:t>
            </a:r>
          </a:p>
          <a:p>
            <a:pPr lvl="4"/>
            <a:r>
              <a:t>Body Level Five</a:t>
            </a:r>
          </a:p>
        </p:txBody>
      </p:sp>
      <p:sp>
        <p:nvSpPr>
          <p:cNvPr id="173" name="Slide Number"/>
          <p:cNvSpPr txBox="1"/>
          <p:nvPr>
            <p:ph type="sldNum" sz="quarter" idx="2"/>
          </p:nvPr>
        </p:nvSpPr>
        <p:spPr>
          <a:xfrm>
            <a:off x="11982450" y="13322300"/>
            <a:ext cx="419100" cy="457200"/>
          </a:xfrm>
          <a:prstGeom prst="rect">
            <a:avLst/>
          </a:prstGeom>
        </p:spPr>
        <p:txBody>
          <a:bodyPr anchor="t"/>
          <a:lstStyle>
            <a:lvl1pPr defTabSz="825500">
              <a:defRPr sz="2400">
                <a:latin typeface="Gill Sans"/>
                <a:ea typeface="Gill Sans"/>
                <a:cs typeface="Gill Sans"/>
                <a:sym typeface="Gill Sans"/>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comments" Target="../comments/commen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comments" Target="../comments/comment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comments" Target="../comments/commen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comments" Target="../comments/comment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comments" Target="../comments/comment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SI Capacity Management | Scorecard - K12p SeaSalt Conveyor"/>
          <p:cNvSpPr txBox="1"/>
          <p:nvPr/>
        </p:nvSpPr>
        <p:spPr>
          <a:xfrm>
            <a:off x="130137" y="330277"/>
            <a:ext cx="15907173" cy="736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indent="317500" defTabSz="825500">
              <a:lnSpc>
                <a:spcPct val="100000"/>
              </a:lnSpc>
              <a:spcBef>
                <a:spcPts val="0"/>
              </a:spcBef>
              <a:defRPr sz="4200">
                <a:solidFill>
                  <a:srgbClr val="0096FF"/>
                </a:solidFill>
                <a:latin typeface="SF Hello Regular"/>
                <a:ea typeface="SF Hello Regular"/>
                <a:cs typeface="SF Hello Regular"/>
                <a:sym typeface="SF Hello Regular"/>
              </a:defRPr>
            </a:pPr>
            <a:r>
              <a:t>SI Capacity Management </a:t>
            </a:r>
            <a:r>
              <a:rPr>
                <a:solidFill>
                  <a:srgbClr val="444444"/>
                </a:solidFill>
                <a:latin typeface="Helvetica Neue UltraLight"/>
                <a:ea typeface="Helvetica Neue UltraLight"/>
                <a:cs typeface="Helvetica Neue UltraLight"/>
                <a:sym typeface="Helvetica Neue UltraLight"/>
              </a:rPr>
              <a:t>| </a:t>
            </a:r>
            <a:r>
              <a:rPr b="1">
                <a:solidFill>
                  <a:srgbClr val="000000"/>
                </a:solidFill>
                <a:latin typeface="Helvetica"/>
                <a:ea typeface="Helvetica"/>
                <a:cs typeface="Helvetica"/>
                <a:sym typeface="Helvetica"/>
              </a:rPr>
              <a:t>Scorecard - K12p SeaSalt Conveyor</a:t>
            </a:r>
          </a:p>
        </p:txBody>
      </p:sp>
      <p:graphicFrame>
        <p:nvGraphicFramePr>
          <p:cNvPr id="183" name="Table 1-1-1-1-1-1"/>
          <p:cNvGraphicFramePr/>
          <p:nvPr/>
        </p:nvGraphicFramePr>
        <p:xfrm>
          <a:off x="19700065" y="3246374"/>
          <a:ext cx="4430459" cy="63347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208879"/>
                <a:gridCol w="2208879"/>
              </a:tblGrid>
              <a:tr h="310388">
                <a:tc>
                  <a:txBody>
                    <a:bodyPr/>
                    <a:lstStyle/>
                    <a:p>
                      <a:pPr defTabSz="457200"/>
                      <a:r>
                        <a:rPr sz="2000"/>
                        <a:t>Pass</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53AC79"/>
                    </a:solidFill>
                  </a:tcPr>
                </a:tc>
                <a:tc>
                  <a:txBody>
                    <a:bodyPr/>
                    <a:lstStyle/>
                    <a:p>
                      <a:pPr defTabSz="457200"/>
                      <a:r>
                        <a:rPr sz="2000">
                          <a:solidFill>
                            <a:srgbClr val="929292"/>
                          </a:solidFill>
                        </a:rPr>
                        <a:t>Conditional Pass</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FEF0D6"/>
                    </a:solidFill>
                  </a:tcPr>
                </a:tc>
              </a:tr>
              <a:tr h="310388">
                <a:tc>
                  <a:txBody>
                    <a:bodyPr/>
                    <a:lstStyle/>
                    <a:p>
                      <a:pPr defTabSz="457200"/>
                      <a:r>
                        <a:rPr sz="2000">
                          <a:solidFill>
                            <a:srgbClr val="929292"/>
                          </a:solidFill>
                        </a:rPr>
                        <a:t>Does not Meet</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D5D5D5"/>
                    </a:solidFill>
                  </a:tcPr>
                </a:tc>
                <a:tc>
                  <a:txBody>
                    <a:bodyPr/>
                    <a:lstStyle/>
                    <a:p>
                      <a:pPr defTabSz="457200"/>
                      <a:r>
                        <a:rPr sz="2000">
                          <a:solidFill>
                            <a:srgbClr val="929292"/>
                          </a:solidFill>
                        </a:rPr>
                        <a:t>TBC/NA</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tcPr>
                </a:tc>
              </a:tr>
            </a:tbl>
          </a:graphicData>
        </a:graphic>
      </p:graphicFrame>
      <p:graphicFrame>
        <p:nvGraphicFramePr>
          <p:cNvPr id="184" name="Table 1"/>
          <p:cNvGraphicFramePr/>
          <p:nvPr/>
        </p:nvGraphicFramePr>
        <p:xfrm>
          <a:off x="261539" y="4079162"/>
          <a:ext cx="23803973" cy="10107492"/>
        </p:xfrm>
        <a:graphic xmlns:a="http://schemas.openxmlformats.org/drawingml/2006/main">
          <a:graphicData uri="http://schemas.openxmlformats.org/drawingml/2006/table">
            <a:tbl>
              <a:tblPr firstCol="1" firstRow="0" lastCol="0" lastRow="0" bandCol="0" bandRow="0" rtl="0">
                <a:tableStyleId>{4C3C2611-4C71-4FC5-86AE-919BDF0F9419}</a:tableStyleId>
              </a:tblPr>
              <a:tblGrid>
                <a:gridCol w="1230947"/>
                <a:gridCol w="766078"/>
                <a:gridCol w="766078"/>
                <a:gridCol w="766078"/>
                <a:gridCol w="766078"/>
                <a:gridCol w="766078"/>
                <a:gridCol w="766078"/>
                <a:gridCol w="766078"/>
                <a:gridCol w="766078"/>
                <a:gridCol w="766078"/>
                <a:gridCol w="786933"/>
                <a:gridCol w="663146"/>
                <a:gridCol w="848155"/>
                <a:gridCol w="766078"/>
                <a:gridCol w="858823"/>
                <a:gridCol w="858823"/>
                <a:gridCol w="858823"/>
                <a:gridCol w="858823"/>
                <a:gridCol w="640868"/>
                <a:gridCol w="656081"/>
                <a:gridCol w="690258"/>
                <a:gridCol w="1017979"/>
                <a:gridCol w="631900"/>
                <a:gridCol w="586722"/>
                <a:gridCol w="620823"/>
                <a:gridCol w="4391026"/>
              </a:tblGrid>
              <a:tr h="348978">
                <a:tc rowSpan="2">
                  <a:txBody>
                    <a:bodyPr/>
                    <a:lstStyle/>
                    <a:p>
                      <a:pPr defTabSz="914400">
                        <a:tabLst>
                          <a:tab pos="1663700" algn="l"/>
                        </a:tabLst>
                        <a:defRPr b="0"/>
                      </a:pPr>
                      <a:r>
                        <a:rPr b="1" sz="1600"/>
                        <a:t>Criteria</a:t>
                      </a:r>
                    </a:p>
                  </a:txBody>
                  <a:tcPr marL="50800" marR="50800" marT="50800" marB="50800" anchor="ctr" anchorCtr="0" horzOverflow="overflow">
                    <a:lnR w="12700">
                      <a:solidFill>
                        <a:srgbClr val="000000"/>
                      </a:solidFill>
                      <a:miter lim="400000"/>
                    </a:lnR>
                  </a:tcPr>
                </a:tc>
                <a:tc gridSpan="2">
                  <a:txBody>
                    <a:bodyPr/>
                    <a:lstStyle/>
                    <a:p>
                      <a:pPr defTabSz="914400">
                        <a:tabLst>
                          <a:tab pos="1663700" algn="l"/>
                        </a:tabLst>
                      </a:pPr>
                      <a:r>
                        <a:rPr b="1" sz="1600"/>
                        <a:t>OK2 Engage?</a:t>
                      </a:r>
                    </a:p>
                  </a:txBody>
                  <a:tcPr marL="50800" marR="50800" marT="50800" marB="50800" anchor="ctr" anchorCtr="0" horzOverflow="overflow">
                    <a:lnL w="12700">
                      <a:solidFill>
                        <a:srgbClr val="000000"/>
                      </a:solidFill>
                      <a:miter lim="400000"/>
                    </a:lnL>
                  </a:tcPr>
                </a:tc>
                <a:tc hMerge="1">
                  <a:tcPr/>
                </a:tc>
                <a:tc gridSpan="4">
                  <a:txBody>
                    <a:bodyPr/>
                    <a:lstStyle/>
                    <a:p>
                      <a:pPr defTabSz="914400">
                        <a:tabLst>
                          <a:tab pos="1663700" algn="l"/>
                        </a:tabLst>
                      </a:pPr>
                      <a:r>
                        <a:rPr b="1" sz="1300"/>
                        <a:t>Legal/Commercial Operations OK</a:t>
                      </a:r>
                    </a:p>
                  </a:txBody>
                  <a:tcPr marL="50800" marR="50800" marT="50800" marB="50800" anchor="ctr" anchorCtr="0" horzOverflow="overflow"/>
                </a:tc>
                <a:tc hMerge="1">
                  <a:tcPr/>
                </a:tc>
                <a:tc hMerge="1">
                  <a:tcPr/>
                </a:tc>
                <a:tc hMerge="1">
                  <a:tcPr/>
                </a:tc>
                <a:tc gridSpan="3">
                  <a:txBody>
                    <a:bodyPr/>
                    <a:lstStyle/>
                    <a:p>
                      <a:pPr defTabSz="914400">
                        <a:tabLst>
                          <a:tab pos="1663700" algn="l"/>
                        </a:tabLst>
                      </a:pPr>
                      <a:r>
                        <a:rPr b="1" sz="1600"/>
                        <a:t>Infrastructure Audit</a:t>
                      </a:r>
                    </a:p>
                  </a:txBody>
                  <a:tcPr marL="50800" marR="50800" marT="50800" marB="50800" anchor="ctr" anchorCtr="0" horzOverflow="overflow"/>
                </a:tc>
                <a:tc hMerge="1">
                  <a:tcPr/>
                </a:tc>
                <a:tc hMerge="1">
                  <a:tcPr/>
                </a:tc>
                <a:tc>
                  <a:txBody>
                    <a:bodyPr/>
                    <a:lstStyle/>
                    <a:p>
                      <a:pPr defTabSz="914400">
                        <a:tabLst>
                          <a:tab pos="1663700" algn="l"/>
                        </a:tabLst>
                      </a:pPr>
                      <a:r>
                        <a:rPr b="1" sz="900"/>
                        <a:t>Experience</a:t>
                      </a:r>
                    </a:p>
                  </a:txBody>
                  <a:tcPr marL="50800" marR="50800" marT="50800" marB="50800" anchor="ctr" anchorCtr="0" horzOverflow="overflow"/>
                </a:tc>
                <a:tc gridSpan="2">
                  <a:txBody>
                    <a:bodyPr/>
                    <a:lstStyle/>
                    <a:p>
                      <a:pPr defTabSz="914400">
                        <a:tabLst>
                          <a:tab pos="1663700" algn="l"/>
                        </a:tabLst>
                      </a:pPr>
                      <a:r>
                        <a:rPr b="1" sz="1600"/>
                        <a:t>SI Capacity</a:t>
                      </a:r>
                    </a:p>
                  </a:txBody>
                  <a:tcPr marL="50800" marR="50800" marT="50800" marB="50800" anchor="ctr" anchorCtr="0" horzOverflow="overflow"/>
                </a:tc>
                <a:tc hMerge="1">
                  <a:tcPr/>
                </a:tc>
                <a:tc gridSpan="5">
                  <a:txBody>
                    <a:bodyPr/>
                    <a:lstStyle/>
                    <a:p>
                      <a:pPr defTabSz="914400">
                        <a:tabLst>
                          <a:tab pos="1663700" algn="l"/>
                        </a:tabLst>
                      </a:pPr>
                      <a:r>
                        <a:rPr b="1" sz="1600"/>
                        <a:t>Blockers, TTM</a:t>
                      </a:r>
                    </a:p>
                  </a:txBody>
                  <a:tcPr marL="50800" marR="50800" marT="50800" marB="50800" anchor="ctr" anchorCtr="0" horzOverflow="overflow"/>
                </a:tc>
                <a:tc hMerge="1">
                  <a:tcPr/>
                </a:tc>
                <a:tc hMerge="1">
                  <a:tcPr/>
                </a:tc>
                <a:tc hMerge="1">
                  <a:tcPr/>
                </a:tc>
                <a:tc hMerge="1">
                  <a:tcPr/>
                </a:tc>
                <a:tc gridSpan="3">
                  <a:txBody>
                    <a:bodyPr/>
                    <a:lstStyle/>
                    <a:p>
                      <a:pPr defTabSz="914400">
                        <a:tabLst>
                          <a:tab pos="1663700" algn="l"/>
                        </a:tabLst>
                      </a:pPr>
                      <a:r>
                        <a:rPr b="1" sz="1600"/>
                        <a:t>Top SI Potential</a:t>
                      </a:r>
                    </a:p>
                  </a:txBody>
                  <a:tcPr marL="50800" marR="50800" marT="50800" marB="50800" anchor="ctr" anchorCtr="0" horzOverflow="overflow"/>
                </a:tc>
                <a:tc hMerge="1">
                  <a:tcPr/>
                </a:tc>
                <a:tc hMerge="1">
                  <a:tcPr/>
                </a:tc>
                <a:tc rowSpan="4">
                  <a:txBody>
                    <a:bodyPr/>
                    <a:lstStyle/>
                    <a:p>
                      <a:pPr defTabSz="914400">
                        <a:tabLst>
                          <a:tab pos="1663700" algn="l"/>
                        </a:tabLst>
                        <a:defRPr b="1" sz="1400"/>
                      </a:pPr>
                      <a:r>
                        <a:t>Forced Rank </a:t>
                      </a:r>
                    </a:p>
                    <a:p>
                      <a:pPr defTabSz="914400">
                        <a:tabLst>
                          <a:tab pos="1663700" algn="l"/>
                        </a:tabLst>
                        <a:defRPr b="1" sz="1400"/>
                      </a:pPr>
                      <a:r>
                        <a:rPr i="1" sz="1200"/>
                        <a:t>(Un-weighted)</a:t>
                      </a:r>
                    </a:p>
                  </a:txBody>
                  <a:tcPr marL="50800" marR="50800" marT="50800" marB="50800" anchor="ctr" anchorCtr="0" horzOverflow="overflow"/>
                </a:tc>
                <a:tc gridSpan="4">
                  <a:txBody>
                    <a:bodyPr/>
                    <a:lstStyle/>
                    <a:p>
                      <a:pPr defTabSz="914400">
                        <a:tabLst>
                          <a:tab pos="1663700" algn="l"/>
                        </a:tabLst>
                      </a:pPr>
                      <a:r>
                        <a:rPr b="1" sz="1600"/>
                        <a:t>Go-No Go Rating + Rationale</a:t>
                      </a:r>
                    </a:p>
                  </a:txBody>
                  <a:tcPr marL="50800" marR="50800" marT="50800" marB="50800" anchor="ctr" anchorCtr="0" horzOverflow="overflow"/>
                </a:tc>
                <a:tc hMerge="1">
                  <a:tcPr/>
                </a:tc>
                <a:tc hMerge="1">
                  <a:tcPr/>
                </a:tc>
                <a:tc hMerge="1">
                  <a:tcPr/>
                </a:tc>
              </a:tr>
              <a:tr h="492180">
                <a:tc vMerge="1">
                  <a:tcPr/>
                </a:tc>
                <a:tc>
                  <a:txBody>
                    <a:bodyPr/>
                    <a:lstStyle/>
                    <a:p>
                      <a:pPr defTabSz="914400">
                        <a:tabLst>
                          <a:tab pos="1663700" algn="l"/>
                        </a:tabLst>
                      </a:pPr>
                      <a:r>
                        <a:rPr sz="1400"/>
                        <a:t>Legal</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pPr>
                      <a:r>
                        <a:rPr sz="1200"/>
                        <a:t>Commercial</a:t>
                      </a:r>
                    </a:p>
                  </a:txBody>
                  <a:tcPr marL="50800" marR="50800" marT="50800" marB="50800" anchor="ctr" anchorCtr="0" horzOverflow="overflow"/>
                </a:tc>
                <a:tc>
                  <a:txBody>
                    <a:bodyPr/>
                    <a:lstStyle/>
                    <a:p>
                      <a:pPr defTabSz="914400">
                        <a:tabLst>
                          <a:tab pos="1663700" algn="l"/>
                        </a:tabLst>
                      </a:pPr>
                      <a:r>
                        <a:rPr sz="1200"/>
                        <a:t>Non PRC HQ</a:t>
                      </a:r>
                    </a:p>
                  </a:txBody>
                  <a:tcPr marL="50800" marR="50800" marT="50800" marB="50800" anchor="ctr" anchorCtr="0" horzOverflow="overflow"/>
                </a:tc>
                <a:tc>
                  <a:txBody>
                    <a:bodyPr/>
                    <a:lstStyle/>
                    <a:p>
                      <a:pPr defTabSz="914400">
                        <a:tabLst>
                          <a:tab pos="1663700" algn="l"/>
                        </a:tabLst>
                      </a:pPr>
                      <a:r>
                        <a:rPr sz="1400"/>
                        <a:t>IN</a:t>
                      </a:r>
                    </a:p>
                  </a:txBody>
                  <a:tcPr marL="50800" marR="50800" marT="50800" marB="50800" anchor="ctr" anchorCtr="0" horzOverflow="overflow"/>
                </a:tc>
                <a:tc>
                  <a:txBody>
                    <a:bodyPr/>
                    <a:lstStyle/>
                    <a:p>
                      <a:pPr defTabSz="914400">
                        <a:tabLst>
                          <a:tab pos="1663700" algn="l"/>
                        </a:tabLst>
                      </a:pPr>
                      <a:r>
                        <a:rPr sz="1400"/>
                        <a:t>CN</a:t>
                      </a:r>
                    </a:p>
                  </a:txBody>
                  <a:tcPr marL="50800" marR="50800" marT="50800" marB="50800" anchor="ctr" anchorCtr="0" horzOverflow="overflow"/>
                </a:tc>
                <a:tc>
                  <a:txBody>
                    <a:bodyPr/>
                    <a:lstStyle/>
                    <a:p>
                      <a:pPr defTabSz="914400">
                        <a:tabLst>
                          <a:tab pos="1663700" algn="l"/>
                        </a:tabLst>
                      </a:pPr>
                      <a:r>
                        <a:rPr sz="1400"/>
                        <a:t>Other Geo</a:t>
                      </a:r>
                    </a:p>
                  </a:txBody>
                  <a:tcPr marL="50800" marR="50800" marT="50800" marB="50800" anchor="ctr" anchorCtr="0" horzOverflow="overflow"/>
                </a:tc>
                <a:tc>
                  <a:txBody>
                    <a:bodyPr/>
                    <a:lstStyle/>
                    <a:p>
                      <a:pPr defTabSz="914400">
                        <a:tabLst>
                          <a:tab pos="1663700" algn="l"/>
                        </a:tabLst>
                      </a:pPr>
                      <a:r>
                        <a:rPr sz="1400"/>
                        <a:t>CN</a:t>
                      </a:r>
                    </a:p>
                  </a:txBody>
                  <a:tcPr marL="50800" marR="50800" marT="50800" marB="50800" anchor="ctr" anchorCtr="0" horzOverflow="overflow"/>
                </a:tc>
                <a:tc>
                  <a:txBody>
                    <a:bodyPr/>
                    <a:lstStyle/>
                    <a:p>
                      <a:pPr defTabSz="914400">
                        <a:tabLst>
                          <a:tab pos="1663700" algn="l"/>
                        </a:tabLst>
                      </a:pPr>
                      <a:r>
                        <a:rPr sz="1400"/>
                        <a:t>IN</a:t>
                      </a:r>
                    </a:p>
                  </a:txBody>
                  <a:tcPr marL="50800" marR="50800" marT="50800" marB="50800" anchor="ctr" anchorCtr="0" horzOverflow="overflow"/>
                </a:tc>
                <a:tc>
                  <a:txBody>
                    <a:bodyPr/>
                    <a:lstStyle/>
                    <a:p>
                      <a:pPr defTabSz="914400">
                        <a:tabLst>
                          <a:tab pos="1663700" algn="l"/>
                        </a:tabLst>
                      </a:pPr>
                      <a:r>
                        <a:rPr sz="1400"/>
                        <a:t>Other</a:t>
                      </a:r>
                    </a:p>
                  </a:txBody>
                  <a:tcPr marL="50800" marR="50800" marT="50800" marB="50800" anchor="ctr" anchorCtr="0" horzOverflow="overflow"/>
                </a:tc>
                <a:tc>
                  <a:txBody>
                    <a:bodyPr/>
                    <a:lstStyle/>
                    <a:p>
                      <a:pPr defTabSz="914400">
                        <a:tabLst>
                          <a:tab pos="1663700" algn="l"/>
                        </a:tabLst>
                      </a:pPr>
                      <a:r>
                        <a:rPr sz="1400"/>
                        <a:t>Qual done?</a:t>
                      </a:r>
                    </a:p>
                  </a:txBody>
                  <a:tcPr marL="50800" marR="50800" marT="50800" marB="50800" anchor="ctr" anchorCtr="0" horzOverflow="overflow"/>
                </a:tc>
                <a:tc>
                  <a:txBody>
                    <a:bodyPr/>
                    <a:lstStyle/>
                    <a:p>
                      <a:pPr defTabSz="914400">
                        <a:tabLst>
                          <a:tab pos="1663700" algn="l"/>
                        </a:tabLst>
                      </a:pPr>
                      <a:r>
                        <a:rPr sz="1400"/>
                        <a:t>MP</a:t>
                      </a:r>
                    </a:p>
                  </a:txBody>
                  <a:tcPr marL="50800" marR="50800" marT="50800" marB="50800" anchor="ctr" anchorCtr="0" horzOverflow="overflow"/>
                </a:tc>
                <a:tc>
                  <a:txBody>
                    <a:bodyPr/>
                    <a:lstStyle/>
                    <a:p>
                      <a:pPr defTabSz="914400">
                        <a:tabLst>
                          <a:tab pos="1663700" algn="l"/>
                        </a:tabLst>
                      </a:pPr>
                      <a:r>
                        <a:rPr sz="1200"/>
                        <a:t>Eng Team available?</a:t>
                      </a:r>
                    </a:p>
                  </a:txBody>
                  <a:tcPr marL="50800" marR="50800" marT="50800" marB="50800" anchor="ctr" anchorCtr="0" horzOverflow="overflow"/>
                </a:tc>
                <a:tc>
                  <a:txBody>
                    <a:bodyPr/>
                    <a:lstStyle/>
                    <a:p>
                      <a:pPr defTabSz="914400">
                        <a:tabLst>
                          <a:tab pos="1663700" algn="l"/>
                        </a:tabLst>
                      </a:pPr>
                      <a:r>
                        <a:rPr sz="1400"/>
                        <a:t>Build</a:t>
                      </a:r>
                    </a:p>
                  </a:txBody>
                  <a:tcPr marL="50800" marR="50800" marT="50800" marB="50800" anchor="ctr" anchorCtr="0" horzOverflow="overflow"/>
                </a:tc>
                <a:tc>
                  <a:txBody>
                    <a:bodyPr/>
                    <a:lstStyle/>
                    <a:p>
                      <a:pPr defTabSz="914400">
                        <a:tabLst>
                          <a:tab pos="1663700" algn="l"/>
                        </a:tabLst>
                      </a:pPr>
                      <a:r>
                        <a:rPr sz="1200"/>
                        <a:t>Test Readiness</a:t>
                      </a:r>
                    </a:p>
                  </a:txBody>
                  <a:tcPr marL="50800" marR="50800" marT="50800" marB="50800" anchor="ctr" anchorCtr="0" horzOverflow="overflow"/>
                </a:tc>
                <a:tc>
                  <a:txBody>
                    <a:bodyPr/>
                    <a:lstStyle/>
                    <a:p>
                      <a:pPr defTabSz="914400">
                        <a:tabLst>
                          <a:tab pos="1663700" algn="l"/>
                        </a:tabLst>
                      </a:pPr>
                      <a:r>
                        <a:rPr sz="1400"/>
                        <a:t>EIH</a:t>
                      </a:r>
                    </a:p>
                  </a:txBody>
                  <a:tcPr marL="50800" marR="50800" marT="50800" marB="50800" anchor="ctr" anchorCtr="0" horzOverflow="overflow"/>
                </a:tc>
                <a:tc>
                  <a:txBody>
                    <a:bodyPr/>
                    <a:lstStyle/>
                    <a:p>
                      <a:pPr defTabSz="914400">
                        <a:tabLst>
                          <a:tab pos="1663700" algn="l"/>
                        </a:tabLst>
                      </a:pPr>
                      <a:r>
                        <a:rPr sz="1400"/>
                        <a:t>Design Lock</a:t>
                      </a:r>
                    </a:p>
                  </a:txBody>
                  <a:tcPr marL="50800" marR="50800" marT="50800" marB="50800" anchor="ctr" anchorCtr="0" horzOverflow="overflow"/>
                </a:tc>
                <a:tc>
                  <a:txBody>
                    <a:bodyPr/>
                    <a:lstStyle/>
                    <a:p>
                      <a:pPr defTabSz="914400">
                        <a:tabLst>
                          <a:tab pos="1663700" algn="l"/>
                        </a:tabLst>
                      </a:pPr>
                      <a:r>
                        <a:rPr sz="1400"/>
                        <a:t>Near Misses</a:t>
                      </a:r>
                    </a:p>
                  </a:txBody>
                  <a:tcPr marL="50800" marR="50800" marT="50800" marB="50800" anchor="ctr" anchorCtr="0" horzOverflow="overflow"/>
                </a:tc>
                <a:tc rowSpan="2">
                  <a:txBody>
                    <a:bodyPr/>
                    <a:lstStyle/>
                    <a:p>
                      <a:pPr defTabSz="914400">
                        <a:tabLst>
                          <a:tab pos="1663700" algn="l"/>
                        </a:tabLst>
                      </a:pPr>
                      <a:r>
                        <a:rPr sz="1400"/>
                        <a:t>GSSM</a:t>
                      </a:r>
                    </a:p>
                  </a:txBody>
                  <a:tcPr marL="50800" marR="50800" marT="50800" marB="50800" anchor="ctr" anchorCtr="0" horzOverflow="overflow"/>
                </a:tc>
                <a:tc rowSpan="2">
                  <a:txBody>
                    <a:bodyPr/>
                    <a:lstStyle/>
                    <a:p>
                      <a:pPr defTabSz="914400">
                        <a:tabLst>
                          <a:tab pos="1663700" algn="l"/>
                        </a:tabLst>
                      </a:pPr>
                      <a:r>
                        <a:rPr sz="1400"/>
                        <a:t>HWTE</a:t>
                      </a:r>
                    </a:p>
                  </a:txBody>
                  <a:tcPr marL="50800" marR="50800" marT="50800" marB="50800" anchor="ctr" anchorCtr="0" horzOverflow="overflow"/>
                </a:tc>
                <a:tc rowSpan="2">
                  <a:txBody>
                    <a:bodyPr/>
                    <a:lstStyle/>
                    <a:p>
                      <a:pPr defTabSz="914400">
                        <a:tabLst>
                          <a:tab pos="1663700" algn="l"/>
                        </a:tabLst>
                      </a:pPr>
                      <a:r>
                        <a:rPr sz="1400"/>
                        <a:t>OpsTE</a:t>
                      </a:r>
                    </a:p>
                  </a:txBody>
                  <a:tcPr marL="50800" marR="50800" marT="50800" marB="50800" anchor="ctr" anchorCtr="0" horzOverflow="overflow"/>
                </a:tc>
                <a:tc vMerge="1">
                  <a:tcPr/>
                </a:tc>
                <a:tc rowSpan="3">
                  <a:txBody>
                    <a:bodyPr/>
                    <a:lstStyle/>
                    <a:p>
                      <a:pPr defTabSz="914400">
                        <a:tabLst>
                          <a:tab pos="1663700" algn="l"/>
                        </a:tabLst>
                      </a:pPr>
                      <a:r>
                        <a:rPr sz="1300"/>
                        <a:t>GSM</a:t>
                      </a:r>
                    </a:p>
                  </a:txBody>
                  <a:tcPr marL="50800" marR="50800" marT="50800" marB="50800" anchor="ctr" anchorCtr="0" horzOverflow="overflow"/>
                </a:tc>
                <a:tc rowSpan="3">
                  <a:txBody>
                    <a:bodyPr/>
                    <a:lstStyle/>
                    <a:p>
                      <a:pPr defTabSz="914400">
                        <a:tabLst>
                          <a:tab pos="1663700" algn="l"/>
                        </a:tabLst>
                      </a:pPr>
                      <a:r>
                        <a:rPr sz="1300"/>
                        <a:t>HWTE</a:t>
                      </a:r>
                    </a:p>
                  </a:txBody>
                  <a:tcPr marL="50800" marR="50800" marT="50800" marB="50800" anchor="ctr" anchorCtr="0" horzOverflow="overflow"/>
                </a:tc>
                <a:tc rowSpan="3">
                  <a:txBody>
                    <a:bodyPr/>
                    <a:lstStyle/>
                    <a:p>
                      <a:pPr defTabSz="914400">
                        <a:tabLst>
                          <a:tab pos="1663700" algn="l"/>
                        </a:tabLst>
                      </a:pPr>
                      <a:r>
                        <a:rPr sz="1300"/>
                        <a:t>OpsTE</a:t>
                      </a:r>
                    </a:p>
                  </a:txBody>
                  <a:tcPr marL="50800" marR="50800" marT="50800" marB="50800" anchor="ctr" anchorCtr="0" horzOverflow="overflow"/>
                </a:tc>
                <a:tc rowSpan="3">
                  <a:txBody>
                    <a:bodyPr/>
                    <a:lstStyle/>
                    <a:p>
                      <a:pPr defTabSz="914400">
                        <a:tabLst>
                          <a:tab pos="1663700" algn="l"/>
                        </a:tabLst>
                      </a:pPr>
                      <a:r>
                        <a:rPr sz="1600"/>
                        <a:t>Summary</a:t>
                      </a:r>
                    </a:p>
                  </a:txBody>
                  <a:tcPr marL="50800" marR="50800" marT="50800" marB="50800" anchor="ctr" anchorCtr="0" horzOverflow="overflow"/>
                </a:tc>
              </a:tr>
              <a:tr h="333742">
                <a:tc>
                  <a:txBody>
                    <a:bodyPr/>
                    <a:lstStyle/>
                    <a:p>
                      <a:pPr defTabSz="914400">
                        <a:tabLst>
                          <a:tab pos="1663700" algn="l"/>
                        </a:tabLst>
                        <a:defRPr b="0"/>
                      </a:pPr>
                      <a:r>
                        <a:rPr b="1" sz="1600"/>
                        <a:t>DRI</a:t>
                      </a:r>
                    </a:p>
                  </a:txBody>
                  <a:tcPr marL="50800" marR="50800" marT="50800" marB="50800" anchor="ctr" anchorCtr="0" horzOverflow="overflow">
                    <a:lnR w="12700">
                      <a:solidFill>
                        <a:srgbClr val="000000"/>
                      </a:solidFill>
                      <a:miter lim="400000"/>
                    </a:lnR>
                  </a:tcPr>
                </a:tc>
                <a:tc>
                  <a:txBody>
                    <a:bodyPr/>
                    <a:lstStyle/>
                    <a:p>
                      <a:pPr defTabSz="914400">
                        <a:tabLst>
                          <a:tab pos="1663700" algn="l"/>
                        </a:tabLst>
                      </a:pPr>
                      <a:r>
                        <a:rPr sz="1400"/>
                        <a:t>GSM</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gridSpan="5">
                  <a:txBody>
                    <a:bodyPr/>
                    <a:lstStyle/>
                    <a:p>
                      <a:pPr defTabSz="914400">
                        <a:tabLst>
                          <a:tab pos="1663700" algn="l"/>
                        </a:tabLst>
                      </a:pPr>
                      <a:r>
                        <a:rPr sz="1400"/>
                        <a:t>All (GSM, HWTE, OpsTE, Capex)</a:t>
                      </a:r>
                    </a:p>
                  </a:txBody>
                  <a:tcPr marL="50800" marR="50800" marT="50800" marB="50800" anchor="ctr" anchorCtr="0" horzOverflow="overflow"/>
                </a:tc>
                <a:tc hMerge="1">
                  <a:tcPr/>
                </a:tc>
                <a:tc hMerge="1">
                  <a:tcPr/>
                </a:tc>
                <a:tc hMerge="1">
                  <a:tcPr/>
                </a:tc>
                <a:tc hMerge="1">
                  <a:tcPr/>
                </a:tc>
                <a:tc vMerge="1">
                  <a:tcPr/>
                </a:tc>
                <a:tc vMerge="1">
                  <a:tcPr/>
                </a:tc>
                <a:tc vMerge="1">
                  <a:tcPr/>
                </a:tc>
                <a:tc vMerge="1">
                  <a:tcPr/>
                </a:tc>
                <a:tc vMerge="1">
                  <a:tcPr/>
                </a:tc>
                <a:tc vMerge="1">
                  <a:tcPr/>
                </a:tc>
                <a:tc vMerge="1">
                  <a:tcPr/>
                </a:tc>
                <a:tc vMerge="1">
                  <a:tcPr/>
                </a:tc>
              </a:tr>
              <a:tr h="333742">
                <a:tc>
                  <a:txBody>
                    <a:bodyPr/>
                    <a:lstStyle/>
                    <a:p>
                      <a:pPr defTabSz="914400">
                        <a:tabLst>
                          <a:tab pos="1663700" algn="l"/>
                        </a:tabLst>
                        <a:defRPr b="0"/>
                      </a:pPr>
                      <a:r>
                        <a:rPr b="1" sz="1600"/>
                        <a:t>MH/NTH</a:t>
                      </a:r>
                    </a:p>
                  </a:txBody>
                  <a:tcPr marL="50800" marR="50800" marT="50800" marB="50800" anchor="ctr" anchorCtr="0" horzOverflow="overflow">
                    <a:lnR w="12700">
                      <a:solidFill>
                        <a:srgbClr val="000000"/>
                      </a:solidFill>
                      <a:miter lim="400000"/>
                    </a:lnR>
                  </a:tcPr>
                </a:tc>
                <a:tc gridSpan="11">
                  <a:txBody>
                    <a:bodyPr/>
                    <a:lstStyle/>
                    <a:p>
                      <a:pPr defTabSz="914400">
                        <a:tabLst>
                          <a:tab pos="1663700" algn="l"/>
                        </a:tabLst>
                      </a:pPr>
                      <a:r>
                        <a:rPr sz="1400"/>
                        <a:t>Must Have</a:t>
                      </a:r>
                    </a:p>
                  </a:txBody>
                  <a:tcPr marL="50800" marR="50800" marT="50800" marB="50800" anchor="ctr" anchorCtr="0" horzOverflow="overflow">
                    <a:lnL w="12700">
                      <a:solidFill>
                        <a:srgbClr val="000000"/>
                      </a:solidFill>
                      <a:miter lim="400000"/>
                    </a:lnL>
                  </a:tcPr>
                </a:tc>
                <a:tc hMerge="1">
                  <a:tcPr/>
                </a:tc>
                <a:tc hMerge="1">
                  <a:tcPr/>
                </a:tc>
                <a:tc hMerge="1">
                  <a:tcPr/>
                </a:tc>
                <a:tc hMerge="1">
                  <a:tcPr/>
                </a:tc>
                <a:tc hMerge="1">
                  <a:tcPr/>
                </a:tc>
                <a:tc hMerge="1">
                  <a:tcPr/>
                </a:tc>
                <a:tc hMerge="1">
                  <a:tcPr/>
                </a:tc>
                <a:tc hMerge="1">
                  <a:tcPr/>
                </a:tc>
                <a:tc hMerge="1">
                  <a:tcPr/>
                </a:tc>
                <a:tc hMerge="1">
                  <a:tcPr/>
                </a:tc>
                <a:tc gridSpan="9">
                  <a:txBody>
                    <a:bodyPr/>
                    <a:lstStyle/>
                    <a:p>
                      <a:pPr defTabSz="914400">
                        <a:tabLst>
                          <a:tab pos="1663700" algn="l"/>
                        </a:tabLst>
                      </a:pPr>
                      <a:r>
                        <a:rPr sz="1400"/>
                        <a:t>Nice to Have</a:t>
                      </a:r>
                    </a:p>
                  </a:txBody>
                  <a:tcPr marL="50800" marR="50800" marT="50800" marB="50800" anchor="ctr" anchorCtr="0" horzOverflow="overflow"/>
                </a:tc>
                <a:tc hMerge="1">
                  <a:tcPr/>
                </a:tc>
                <a:tc hMerge="1">
                  <a:tcPr/>
                </a:tc>
                <a:tc hMerge="1">
                  <a:tcPr/>
                </a:tc>
                <a:tc hMerge="1">
                  <a:tcPr/>
                </a:tc>
                <a:tc hMerge="1">
                  <a:tcPr/>
                </a:tc>
                <a:tc hMerge="1">
                  <a:tcPr/>
                </a:tc>
                <a:tc hMerge="1">
                  <a:tcPr/>
                </a:tc>
                <a:tc hMerge="1">
                  <a:tcPr/>
                </a:tc>
                <a:tc vMerge="1">
                  <a:tcPr/>
                </a:tc>
                <a:tc vMerge="1">
                  <a:tcPr/>
                </a:tc>
                <a:tc vMerge="1">
                  <a:tcPr/>
                </a:tc>
                <a:tc vMerge="1">
                  <a:tcPr/>
                </a:tc>
                <a:tc vMerge="1">
                  <a:tcPr/>
                </a:tc>
              </a:tr>
              <a:tr h="298255">
                <a:tc>
                  <a:txBody>
                    <a:bodyPr/>
                    <a:lstStyle/>
                    <a:p>
                      <a:pPr algn="l" defTabSz="457200">
                        <a:defRPr b="0"/>
                      </a:pPr>
                      <a:r>
                        <a:rPr sz="1400"/>
                        <a:t>Amphenol</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17.25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Capable vendor that needs conveyor experience.</a:t>
                      </a:r>
                    </a:p>
                  </a:txBody>
                  <a:tcPr marL="50800" marR="50800" marT="50800" marB="50800" anchor="ctr" anchorCtr="0" horzOverflow="overflow"/>
                </a:tc>
              </a:tr>
              <a:tr h="310420">
                <a:tc>
                  <a:txBody>
                    <a:bodyPr/>
                    <a:lstStyle/>
                    <a:p>
                      <a:pPr algn="l" defTabSz="457200">
                        <a:defRPr b="0"/>
                      </a:pPr>
                      <a:r>
                        <a:rPr sz="1400"/>
                        <a:t>Averna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17</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Can’t meet MP price targets</a:t>
                      </a:r>
                    </a:p>
                  </a:txBody>
                  <a:tcPr marL="50800" marR="50800" marT="50800" marB="50800" anchor="ctr" anchorCtr="0" horzOverflow="overflow"/>
                </a:tc>
              </a:tr>
              <a:tr h="298255">
                <a:tc>
                  <a:txBody>
                    <a:bodyPr/>
                    <a:lstStyle/>
                    <a:p>
                      <a:pPr algn="l" defTabSz="457200">
                        <a:defRPr b="0"/>
                      </a:pPr>
                      <a:r>
                        <a:rPr sz="1400"/>
                        <a:t>SPEA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15.75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Promising technicals but there are capacity concerns.</a:t>
                      </a:r>
                    </a:p>
                  </a:txBody>
                  <a:tcPr marL="50800" marR="50800" marT="50800" marB="50800" anchor="ctr" anchorCtr="0" horzOverflow="overflow"/>
                </a:tc>
              </a:tr>
              <a:tr h="294367">
                <a:tc>
                  <a:txBody>
                    <a:bodyPr/>
                    <a:lstStyle/>
                    <a:p>
                      <a:pPr algn="l" defTabSz="457200">
                        <a:defRPr b="0"/>
                      </a:pPr>
                      <a:r>
                        <a:rPr sz="1400"/>
                        <a:t>HVS</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Out. portables single source, need to expand SI base</a:t>
                      </a:r>
                    </a:p>
                  </a:txBody>
                  <a:tcPr marL="50800" marR="50800" marT="50800" marB="50800" anchor="ctr" anchorCtr="0" horzOverflow="overflow"/>
                </a:tc>
              </a:tr>
              <a:tr h="298255">
                <a:tc>
                  <a:txBody>
                    <a:bodyPr/>
                    <a:lstStyle/>
                    <a:p>
                      <a:pPr algn="l" defTabSz="457200">
                        <a:defRPr b="0"/>
                      </a:pPr>
                      <a:r>
                        <a:rPr sz="1400"/>
                        <a:t>JLK</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Pending review of recent performance/loading issues</a:t>
                      </a:r>
                    </a:p>
                  </a:txBody>
                  <a:tcPr marL="50800" marR="50800" marT="50800" marB="50800" anchor="ctr" anchorCtr="0" horzOverflow="overflow"/>
                </a:tc>
              </a:tr>
              <a:tr h="298255">
                <a:tc>
                  <a:txBody>
                    <a:bodyPr/>
                    <a:lstStyle/>
                    <a:p>
                      <a:pPr algn="l" defTabSz="457200">
                        <a:defRPr b="0"/>
                      </a:pPr>
                      <a:r>
                        <a:rPr sz="1400"/>
                        <a:t>PRM</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Commercial probation (out for V7x bids).</a:t>
                      </a:r>
                    </a:p>
                  </a:txBody>
                  <a:tcPr marL="50800" marR="50800" marT="50800" marB="50800" anchor="ctr" anchorCtr="0" horzOverflow="overflow"/>
                </a:tc>
              </a:tr>
              <a:tr h="310420">
                <a:tc>
                  <a:txBody>
                    <a:bodyPr/>
                    <a:lstStyle/>
                    <a:p>
                      <a:pPr algn="l" defTabSz="457200">
                        <a:defRPr b="0"/>
                      </a:pPr>
                      <a:r>
                        <a:rPr sz="1400"/>
                        <a:t>Cencorp</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13.75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HW capability strong, needs a shadow set opp’y.</a:t>
                      </a:r>
                    </a:p>
                  </a:txBody>
                  <a:tcPr marL="50800" marR="50800" marT="50800" marB="50800" anchor="ctr" anchorCtr="0" horzOverflow="overflow"/>
                </a:tc>
              </a:tr>
              <a:tr h="294367">
                <a:tc>
                  <a:txBody>
                    <a:bodyPr/>
                    <a:lstStyle/>
                    <a:p>
                      <a:pPr algn="l" defTabSz="457200">
                        <a:defRPr b="0"/>
                      </a:pPr>
                      <a:r>
                        <a:rPr sz="1400"/>
                        <a:t>Innorev</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11.75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Technical probation (Poor performance, overloaded)</a:t>
                      </a:r>
                    </a:p>
                  </a:txBody>
                  <a:tcPr marL="50800" marR="50800" marT="50800" marB="50800" anchor="ctr" anchorCtr="0" horzOverflow="overflow"/>
                </a:tc>
              </a:tr>
              <a:tr h="310420">
                <a:tc>
                  <a:txBody>
                    <a:bodyPr/>
                    <a:lstStyle/>
                    <a:p>
                      <a:pPr algn="l" defTabSz="457200">
                        <a:defRPr b="0"/>
                      </a:pPr>
                      <a:r>
                        <a:rPr sz="1400"/>
                        <a:t>Pentamaster</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11.5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Previous SI, available. IR support to be vetted</a:t>
                      </a:r>
                    </a:p>
                  </a:txBody>
                  <a:tcPr marL="50800" marR="50800" marT="50800" marB="50800" anchor="ctr" anchorCtr="0" horzOverflow="overflow"/>
                </a:tc>
              </a:tr>
              <a:tr h="321622">
                <a:tc>
                  <a:txBody>
                    <a:bodyPr/>
                    <a:lstStyle/>
                    <a:p>
                      <a:pPr algn="l" defTabSz="457200">
                        <a:defRPr b="0"/>
                      </a:pPr>
                      <a:r>
                        <a:rPr sz="1400"/>
                        <a:t>IVD</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10.25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Shadow set req’d to validate tech/commercials</a:t>
                      </a:r>
                    </a:p>
                  </a:txBody>
                  <a:tcPr marL="50800" marR="50800" marT="50800" marB="50800" anchor="ctr" anchorCtr="0" horzOverflow="overflow"/>
                </a:tc>
              </a:tr>
              <a:tr h="321622">
                <a:tc>
                  <a:txBody>
                    <a:bodyPr/>
                    <a:lstStyle/>
                    <a:p>
                      <a:pPr algn="l" defTabSz="457200">
                        <a:defRPr b="0"/>
                      </a:pPr>
                      <a:r>
                        <a:rPr sz="1400"/>
                        <a:t>VVDN</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9.5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CN/VN support model validation won’t finish in time</a:t>
                      </a:r>
                    </a:p>
                  </a:txBody>
                  <a:tcPr marL="50800" marR="50800" marT="50800" marB="50800" anchor="ctr" anchorCtr="0" horzOverflow="overflow"/>
                </a:tc>
              </a:tr>
              <a:tr h="321622">
                <a:tc>
                  <a:txBody>
                    <a:bodyPr/>
                    <a:lstStyle/>
                    <a:p>
                      <a:pPr algn="l" defTabSz="457200">
                        <a:defRPr b="0"/>
                      </a:pPr>
                      <a:r>
                        <a:rPr sz="1400"/>
                        <a:t>Accurate</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8</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TTM NPI performance —&gt; limited eng learnings BW</a:t>
                      </a:r>
                    </a:p>
                  </a:txBody>
                  <a:tcPr marL="50800" marR="50800" marT="50800" marB="50800" anchor="ctr" anchorCtr="0" horzOverflow="overflow"/>
                </a:tc>
              </a:tr>
              <a:tr h="294367">
                <a:tc>
                  <a:txBody>
                    <a:bodyPr/>
                    <a:lstStyle/>
                    <a:p>
                      <a:pPr algn="l" defTabSz="457200">
                        <a:defRPr b="0"/>
                      </a:pPr>
                      <a:r>
                        <a:rPr sz="1400"/>
                        <a:t>SFO</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7</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No conveyor projects (capability limitations)</a:t>
                      </a:r>
                    </a:p>
                  </a:txBody>
                  <a:tcPr marL="50800" marR="50800" marT="50800" marB="50800" anchor="ctr" anchorCtr="0" horzOverflow="overflow"/>
                </a:tc>
              </a:tr>
              <a:tr h="310420">
                <a:tc>
                  <a:txBody>
                    <a:bodyPr/>
                    <a:lstStyle/>
                    <a:p>
                      <a:pPr algn="l" defTabSz="457200">
                        <a:defRPr b="0"/>
                      </a:pPr>
                      <a:r>
                        <a:rPr sz="1400"/>
                        <a:t>Anora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6</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Low priority, can revisit if other choices drop</a:t>
                      </a:r>
                    </a:p>
                  </a:txBody>
                  <a:tcPr marL="50800" marR="50800" marT="50800" marB="50800" anchor="ctr" anchorCtr="0" horzOverflow="overflow"/>
                </a:tc>
              </a:tr>
              <a:tr h="294367">
                <a:tc>
                  <a:txBody>
                    <a:bodyPr/>
                    <a:lstStyle/>
                    <a:p>
                      <a:pPr algn="l" defTabSz="457200">
                        <a:defRPr b="0"/>
                      </a:pPr>
                      <a:r>
                        <a:rPr sz="1400"/>
                        <a:t>Stiwa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5.5</a:t>
                      </a:r>
                    </a:p>
                  </a:txBody>
                  <a:tcPr marL="63500" marR="63500" marT="0" marB="0" anchor="ctr" anchorCtr="0" horzOverflow="overflow"/>
                </a:tc>
                <a:tc>
                  <a:txBody>
                    <a:bodyPr/>
                    <a:lstStyle/>
                    <a:p>
                      <a:pPr defTabSz="457200">
                        <a:defRPr sz="1600">
                          <a:latin typeface="Helvetica"/>
                          <a:ea typeface="Helvetica"/>
                          <a:cs typeface="Helvetica"/>
                          <a:sym typeface="Helvetica"/>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Occupied on AE projects; declining RFPs</a:t>
                      </a:r>
                    </a:p>
                  </a:txBody>
                  <a:tcPr marL="50800" marR="50800" marT="50800" marB="50800" anchor="ctr" anchorCtr="0" horzOverflow="overflow"/>
                </a:tc>
              </a:tr>
              <a:tr h="310420">
                <a:tc>
                  <a:txBody>
                    <a:bodyPr/>
                    <a:lstStyle/>
                    <a:p>
                      <a:pPr algn="l" defTabSz="457200">
                        <a:defRPr b="0"/>
                      </a:pPr>
                      <a:r>
                        <a:rPr sz="1400"/>
                        <a:t>Zeiss</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5</a:t>
                      </a:r>
                    </a:p>
                  </a:txBody>
                  <a:tcPr marL="63500" marR="63500" marT="0" marB="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Engaged on VG; Commercially not competitive</a:t>
                      </a:r>
                    </a:p>
                  </a:txBody>
                  <a:tcPr marL="50800" marR="50800" marT="50800" marB="50800" anchor="ctr" anchorCtr="0" horzOverflow="overflow"/>
                </a:tc>
              </a:tr>
              <a:tr h="294367">
                <a:tc>
                  <a:txBody>
                    <a:bodyPr/>
                    <a:lstStyle/>
                    <a:p>
                      <a:pPr algn="l" defTabSz="457200">
                        <a:defRPr b="0"/>
                      </a:pPr>
                      <a:r>
                        <a:rPr sz="1400"/>
                        <a:t>ATS</a:t>
                      </a:r>
                    </a:p>
                  </a:txBody>
                  <a:tcPr marL="63500" marR="63500" marT="0" marB="0" anchor="ctr" anchorCtr="0" horzOverflow="overflow">
                    <a:lnR w="12700">
                      <a:solidFill>
                        <a:srgbClr val="000000"/>
                      </a:solidFill>
                      <a:miter lim="400000"/>
                    </a:lnR>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lnL w="12700">
                      <a:solidFill>
                        <a:srgbClr val="000000"/>
                      </a:solidFill>
                      <a:miter lim="400000"/>
                    </a:ln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defTabSz="914400">
                        <a:defRPr sz="1600"/>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Gated by GSM OK2Engage feedback</a:t>
                      </a:r>
                    </a:p>
                  </a:txBody>
                  <a:tcPr marL="50800" marR="50800" marT="50800" marB="50800" anchor="ctr" anchorCtr="0" horzOverflow="overflow"/>
                </a:tc>
              </a:tr>
              <a:tr h="310420">
                <a:tc>
                  <a:txBody>
                    <a:bodyPr/>
                    <a:lstStyle/>
                    <a:p>
                      <a:pPr algn="l" defTabSz="457200">
                        <a:defRPr b="0"/>
                      </a:pPr>
                      <a:r>
                        <a:rPr sz="1400"/>
                        <a:t>AIR</a:t>
                      </a:r>
                    </a:p>
                  </a:txBody>
                  <a:tcPr marL="63500" marR="63500" marT="0" marB="0" anchor="ctr" anchorCtr="0" horzOverflow="overflow">
                    <a:lnR w="12700">
                      <a:solidFill>
                        <a:srgbClr val="000000"/>
                      </a:solidFill>
                      <a:miter lim="400000"/>
                    </a:lnR>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lnL w="12700">
                      <a:solidFill>
                        <a:srgbClr val="000000"/>
                      </a:solidFill>
                      <a:miter lim="400000"/>
                    </a:lnL>
                    <a:solidFill>
                      <a:srgbClr val="D5D5D5"/>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Currently refusing to sign EDPA</a:t>
                      </a:r>
                    </a:p>
                  </a:txBody>
                  <a:tcPr marL="50800" marR="50800" marT="50800" marB="50800" anchor="ctr" anchorCtr="0" horzOverflow="overflow"/>
                </a:tc>
              </a:tr>
              <a:tr h="310420">
                <a:tc>
                  <a:txBody>
                    <a:bodyPr/>
                    <a:lstStyle/>
                    <a:p>
                      <a:pPr algn="l" defTabSz="457200">
                        <a:defRPr b="0"/>
                      </a:pPr>
                      <a:r>
                        <a:rPr sz="1400"/>
                        <a:t>Zetwerk</a:t>
                      </a:r>
                    </a:p>
                  </a:txBody>
                  <a:tcPr marL="63500" marR="63500" marT="0" marB="0" anchor="ctr" anchorCtr="0" horzOverflow="overflow">
                    <a:lnR w="12700">
                      <a:solidFill>
                        <a:srgbClr val="000000"/>
                      </a:solidFill>
                      <a:miter lim="400000"/>
                    </a:lnR>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lnL w="12700">
                      <a:solidFill>
                        <a:srgbClr val="000000"/>
                      </a:solidFill>
                      <a:miter lim="400000"/>
                    </a:ln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Legal docs still under discussion</a:t>
                      </a:r>
                    </a:p>
                  </a:txBody>
                  <a:tcPr marL="50800" marR="50800" marT="50800" marB="50800" anchor="ctr" anchorCtr="0" horzOverflow="overflow"/>
                </a:tc>
              </a:tr>
            </a:tbl>
          </a:graphicData>
        </a:graphic>
      </p:graphicFrame>
      <p:sp>
        <p:nvSpPr>
          <p:cNvPr id="185" name="Portables conveyors are single-sourced to Cencorp —&gt; need for backup source…"/>
          <p:cNvSpPr txBox="1"/>
          <p:nvPr/>
        </p:nvSpPr>
        <p:spPr>
          <a:xfrm>
            <a:off x="1708572" y="1272539"/>
            <a:ext cx="17362629" cy="260096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Portables conveyors are single-sourced to Cencorp —&gt; need for backup source</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K12p SeaSalt Conveyor is the last NB demand in portables forecasted —&gt; last meaningful revenue opportunity</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NB demand is split between CN and VN —&gt; no global SI requirement</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K12p SeaSalt is a speed bump to K11p —&gt; low tech complexity</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Sticking with Cencorp for NPI —&gt; No immediate schedule pressure for a new SI</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Demand exists for new SIs based on current SI capacity models —&gt; opportunity to bring in a new SI and bypass shadow set</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Need by date: May 29 —&gt; Drives cutoff time for SI readiness</a:t>
            </a:r>
          </a:p>
        </p:txBody>
      </p:sp>
      <p:sp>
        <p:nvSpPr>
          <p:cNvPr id="186" name="Thesis"/>
          <p:cNvSpPr/>
          <p:nvPr/>
        </p:nvSpPr>
        <p:spPr>
          <a:xfrm>
            <a:off x="264846" y="1336039"/>
            <a:ext cx="1270001" cy="2593607"/>
          </a:xfrm>
          <a:prstGeom prst="roundRect">
            <a:avLst>
              <a:gd name="adj" fmla="val 15000"/>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latin typeface="Helvetica Neue Medium"/>
                <a:ea typeface="Helvetica Neue Medium"/>
                <a:cs typeface="Helvetica Neue Medium"/>
                <a:sym typeface="Helvetica Neue Medium"/>
              </a:defRPr>
            </a:lvl1pPr>
          </a:lstStyle>
          <a:p>
            <a:pPr/>
            <a:r>
              <a:t>Thesis</a:t>
            </a:r>
          </a:p>
        </p:txBody>
      </p:sp>
      <p:sp>
        <p:nvSpPr>
          <p:cNvPr id="187" name="Short List"/>
          <p:cNvSpPr/>
          <p:nvPr/>
        </p:nvSpPr>
        <p:spPr>
          <a:xfrm>
            <a:off x="252146" y="11520091"/>
            <a:ext cx="1270001" cy="2025214"/>
          </a:xfrm>
          <a:prstGeom prst="roundRect">
            <a:avLst>
              <a:gd name="adj" fmla="val 15000"/>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latin typeface="Helvetica Neue Medium"/>
                <a:ea typeface="Helvetica Neue Medium"/>
                <a:cs typeface="Helvetica Neue Medium"/>
                <a:sym typeface="Helvetica Neue Medium"/>
              </a:defRPr>
            </a:lvl1pPr>
          </a:lstStyle>
          <a:p>
            <a:pPr/>
            <a:r>
              <a:t>Short List</a:t>
            </a:r>
          </a:p>
        </p:txBody>
      </p:sp>
      <p:graphicFrame>
        <p:nvGraphicFramePr>
          <p:cNvPr id="188" name="Table 1-1"/>
          <p:cNvGraphicFramePr/>
          <p:nvPr/>
        </p:nvGraphicFramePr>
        <p:xfrm>
          <a:off x="1622519" y="11576236"/>
          <a:ext cx="22496686" cy="192562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308300"/>
                <a:gridCol w="649665"/>
                <a:gridCol w="649665"/>
                <a:gridCol w="649665"/>
                <a:gridCol w="10090810"/>
                <a:gridCol w="3705179"/>
                <a:gridCol w="3126258"/>
                <a:gridCol w="2304437"/>
              </a:tblGrid>
              <a:tr h="273274">
                <a:tc rowSpan="2">
                  <a:txBody>
                    <a:bodyPr/>
                    <a:lstStyle/>
                    <a:p>
                      <a:pPr algn="l" defTabSz="457200"/>
                      <a:r>
                        <a:rPr b="1" sz="1600"/>
                        <a:t>Name</a:t>
                      </a:r>
                    </a:p>
                  </a:txBody>
                  <a:tcPr marL="63500" marR="63500" marT="0" marB="0" anchor="ctr" anchorCtr="0" horzOverflow="overflow"/>
                </a:tc>
                <a:tc gridSpan="3">
                  <a:txBody>
                    <a:bodyPr/>
                    <a:lstStyle/>
                    <a:p>
                      <a:pPr defTabSz="457200"/>
                      <a:r>
                        <a:rPr b="1" sz="1600"/>
                        <a:t>Go - No Go Rating</a:t>
                      </a:r>
                    </a:p>
                  </a:txBody>
                  <a:tcPr marL="63500" marR="63500" marT="0" marB="0" anchor="ctr" anchorCtr="0" horzOverflow="overflow"/>
                </a:tc>
                <a:tc hMerge="1">
                  <a:tcPr/>
                </a:tc>
                <a:tc hMerge="1">
                  <a:tcPr/>
                </a:tc>
                <a:tc rowSpan="2">
                  <a:txBody>
                    <a:bodyPr/>
                    <a:lstStyle/>
                    <a:p>
                      <a:pPr algn="l" defTabSz="457200"/>
                      <a:r>
                        <a:rPr b="1" sz="1600"/>
                        <a:t>Rationale</a:t>
                      </a:r>
                    </a:p>
                  </a:txBody>
                  <a:tcPr marL="63500" marR="63500" marT="0" marB="0" anchor="ctr" anchorCtr="0" horzOverflow="overflow"/>
                </a:tc>
                <a:tc gridSpan="3">
                  <a:txBody>
                    <a:bodyPr/>
                    <a:lstStyle/>
                    <a:p>
                      <a:pPr defTabSz="457200"/>
                      <a:r>
                        <a:rPr b="1" sz="1600"/>
                        <a:t>Long-Term SI Direction (Draft, subject to change. 2026 Qual sets may be)</a:t>
                      </a:r>
                    </a:p>
                  </a:txBody>
                  <a:tcPr marL="63500" marR="63500" marT="0" marB="0" anchor="ctr" anchorCtr="0" horzOverflow="overflow"/>
                </a:tc>
                <a:tc hMerge="1">
                  <a:tcPr/>
                </a:tc>
                <a:tc hMerge="1">
                  <a:tcPr/>
                </a:tc>
              </a:tr>
              <a:tr h="273274">
                <a:tc vMerge="1">
                  <a:tcPr/>
                </a:tc>
                <a:tc>
                  <a:txBody>
                    <a:bodyPr/>
                    <a:lstStyle/>
                    <a:p>
                      <a:pPr defTabSz="457200"/>
                      <a:r>
                        <a:rPr sz="1300"/>
                        <a:t>GSSM</a:t>
                      </a:r>
                    </a:p>
                  </a:txBody>
                  <a:tcPr marL="63500" marR="63500" marT="0" marB="0" anchor="ctr" anchorCtr="0" horzOverflow="overflow"/>
                </a:tc>
                <a:tc>
                  <a:txBody>
                    <a:bodyPr/>
                    <a:lstStyle/>
                    <a:p>
                      <a:pPr defTabSz="457200"/>
                      <a:r>
                        <a:rPr sz="1300"/>
                        <a:t>HWTE</a:t>
                      </a:r>
                    </a:p>
                  </a:txBody>
                  <a:tcPr marL="63500" marR="63500" marT="0" marB="0" anchor="ctr" anchorCtr="0" horzOverflow="overflow"/>
                </a:tc>
                <a:tc>
                  <a:txBody>
                    <a:bodyPr/>
                    <a:lstStyle/>
                    <a:p>
                      <a:pPr defTabSz="457200"/>
                      <a:r>
                        <a:rPr sz="1300"/>
                        <a:t>OpsTE</a:t>
                      </a:r>
                    </a:p>
                  </a:txBody>
                  <a:tcPr marL="63500" marR="63500" marT="0" marB="0" anchor="ctr" anchorCtr="0" horzOverflow="overflow"/>
                </a:tc>
                <a:tc vMerge="1">
                  <a:tcPr/>
                </a:tc>
                <a:tc>
                  <a:txBody>
                    <a:bodyPr/>
                    <a:lstStyle/>
                    <a:p>
                      <a:pPr defTabSz="457200"/>
                      <a:r>
                        <a:rPr b="1" sz="1600"/>
                        <a:t>2026</a:t>
                      </a:r>
                    </a:p>
                  </a:txBody>
                  <a:tcPr marL="63500" marR="63500" marT="0" marB="0" anchor="ctr" anchorCtr="0" horzOverflow="overflow"/>
                </a:tc>
                <a:tc>
                  <a:txBody>
                    <a:bodyPr/>
                    <a:lstStyle/>
                    <a:p>
                      <a:pPr defTabSz="457200"/>
                      <a:r>
                        <a:rPr b="1" sz="1600"/>
                        <a:t>2027</a:t>
                      </a:r>
                    </a:p>
                  </a:txBody>
                  <a:tcPr marL="63500" marR="63500" marT="0" marB="0" anchor="ctr" anchorCtr="0" horzOverflow="overflow"/>
                </a:tc>
                <a:tc>
                  <a:txBody>
                    <a:bodyPr/>
                    <a:lstStyle/>
                    <a:p>
                      <a:pPr defTabSz="457200"/>
                      <a:r>
                        <a:rPr b="1" sz="1600"/>
                        <a:t>2028</a:t>
                      </a:r>
                    </a:p>
                  </a:txBody>
                  <a:tcPr marL="63500" marR="63500" marT="0" marB="0" anchor="ctr" anchorCtr="0" horzOverflow="overflow"/>
                </a:tc>
              </a:tr>
              <a:tr h="273274">
                <a:tc>
                  <a:txBody>
                    <a:bodyPr/>
                    <a:lstStyle/>
                    <a:p>
                      <a:pPr algn="l" defTabSz="457200"/>
                      <a:r>
                        <a:rPr sz="1600"/>
                        <a:t>Amphenol</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Proven SI. CN and TH-based production. Good conveyor experience opt’y if willing to be a long-term partner.</a:t>
                      </a:r>
                    </a:p>
                  </a:txBody>
                  <a:tcPr marL="63500" marR="63500" marT="0" marB="0" anchor="ctr" anchorCtr="0" horzOverflow="overflow"/>
                </a:tc>
                <a:tc>
                  <a:txBody>
                    <a:bodyPr/>
                    <a:lstStyle/>
                    <a:p>
                      <a:pPr algn="l" defTabSz="457200"/>
                      <a:r>
                        <a:rPr sz="1200"/>
                        <a:t>SeaSalt MP, iPad NPI, niche stations</a:t>
                      </a:r>
                    </a:p>
                  </a:txBody>
                  <a:tcPr marL="63500" marR="63500" marT="0" marB="0" anchor="ctr" anchorCtr="0" horzOverflow="overflow"/>
                </a:tc>
                <a:tc>
                  <a:txBody>
                    <a:bodyPr/>
                    <a:lstStyle/>
                    <a:p>
                      <a:pPr algn="l" defTabSz="457200"/>
                      <a:r>
                        <a:rPr sz="1200"/>
                        <a:t>Pad, Portables</a:t>
                      </a: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Hyvision</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Cornerstone vendor. MP capacity validation needed. On a similar conveyor, will accelerate learnings on both projects.</a:t>
                      </a:r>
                    </a:p>
                  </a:txBody>
                  <a:tcPr marL="63500" marR="63500" marT="0" marB="0" anchor="ctr" anchorCtr="0" horzOverflow="overflow"/>
                </a:tc>
                <a:tc>
                  <a:txBody>
                    <a:bodyPr/>
                    <a:lstStyle/>
                    <a:p>
                      <a:pPr algn="l" defTabSz="457200"/>
                      <a:r>
                        <a:rPr sz="1200"/>
                        <a:t>SeaSalt/Phone MP, B798 NPI</a:t>
                      </a:r>
                    </a:p>
                  </a:txBody>
                  <a:tcPr marL="63500" marR="63500" marT="0" marB="0" anchor="ctr" anchorCtr="0" horzOverflow="overflow"/>
                </a:tc>
                <a:tc>
                  <a:txBody>
                    <a:bodyPr/>
                    <a:lstStyle/>
                    <a:p>
                      <a:pPr algn="l" defTabSz="457200"/>
                      <a:r>
                        <a:rPr sz="1200"/>
                        <a:t>Audio NPI, Pad/Phone MP, new tech POCs</a:t>
                      </a:r>
                    </a:p>
                  </a:txBody>
                  <a:tcPr marL="63500" marR="63500" marT="0" marB="0" anchor="ctr" anchorCtr="0" horzOverflow="overflow"/>
                </a:tc>
                <a:tc>
                  <a:txBody>
                    <a:bodyPr/>
                    <a:lstStyle/>
                    <a:p>
                      <a:pPr algn="l" defTabSz="457200"/>
                      <a:r>
                        <a:rPr sz="1200"/>
                        <a:t>Phone, Pad Audio NPI/MP</a:t>
                      </a:r>
                    </a:p>
                  </a:txBody>
                  <a:tcPr marL="63500" marR="63500" marT="0" marB="0" anchor="ctr" anchorCtr="0" horzOverflow="overflow"/>
                </a:tc>
              </a:tr>
              <a:tr h="273274">
                <a:tc>
                  <a:txBody>
                    <a:bodyPr/>
                    <a:lstStyle/>
                    <a:p>
                      <a:pPr algn="l" defTabSz="457200"/>
                      <a:r>
                        <a:rPr sz="1600"/>
                        <a:t>Pentamaster</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Strong automation foundation. Apple module, AE experience. Not set for success on V68, new project helps.</a:t>
                      </a:r>
                    </a:p>
                  </a:txBody>
                  <a:tcPr marL="63500" marR="63500" marT="0" marB="0" anchor="ctr" anchorCtr="0" horzOverflow="overflow"/>
                </a:tc>
                <a:tc>
                  <a:txBody>
                    <a:bodyPr/>
                    <a:lstStyle/>
                    <a:p>
                      <a:pPr algn="l" defTabSz="457200"/>
                      <a:r>
                        <a:rPr sz="1200"/>
                        <a:t>SeaSalt, V7x ALS-P, V7y MP. iPad NPI POC stations</a:t>
                      </a:r>
                    </a:p>
                  </a:txBody>
                  <a:tcPr marL="63500" marR="63500" marT="0" marB="0" anchor="ctr" anchorCtr="0" horzOverflow="overflow"/>
                </a:tc>
                <a:tc gridSpan="2" rowSpan="3">
                  <a:txBody>
                    <a:bodyPr/>
                    <a:lstStyle/>
                    <a:p>
                      <a:pPr algn="l" defTabSz="457200"/>
                      <a:r>
                        <a:rPr sz="1200"/>
                        <a:t>Primary allocation to JLK/Hyvision/Amphenol1 of 3 qualified to support following 2026 push. Support remainder of MP/NPI, roll in if one of top 3 falls out.</a:t>
                      </a:r>
                    </a:p>
                  </a:txBody>
                  <a:tcPr marL="63500" marR="63500" marT="0" marB="0" anchor="ctr" anchorCtr="0" horzOverflow="overflow"/>
                </a:tc>
                <a:tc rowSpan="3" hMerge="1">
                  <a:tcPr/>
                </a:tc>
              </a:tr>
              <a:tr h="273274">
                <a:tc>
                  <a:txBody>
                    <a:bodyPr/>
                    <a:lstStyle/>
                    <a:p>
                      <a:pPr algn="l" defTabSz="457200"/>
                      <a:r>
                        <a:rPr sz="1600"/>
                        <a:t>IVD</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New but promising technical team. Some long-term commercial risk due to potential size of opportunity.</a:t>
                      </a:r>
                    </a:p>
                  </a:txBody>
                  <a:tcPr marL="63500" marR="63500" marT="0" marB="0" anchor="ctr" anchorCtr="0" horzOverflow="overflow"/>
                </a:tc>
                <a:tc>
                  <a:txBody>
                    <a:bodyPr/>
                    <a:lstStyle/>
                    <a:p>
                      <a:pPr algn="l" defTabSz="457200"/>
                      <a:r>
                        <a:rPr sz="1200"/>
                        <a:t>SeaSalt MP, simple NPI station</a:t>
                      </a:r>
                    </a:p>
                  </a:txBody>
                  <a:tcPr marL="63500" marR="63500" marT="0" marB="0" anchor="ctr" anchorCtr="0" horzOverflow="overflow"/>
                </a:tc>
                <a:tc gridSpan="2" vMerge="1">
                  <a:tcPr/>
                </a:tc>
                <a:tc hMerge="1" vMerge="1">
                  <a:tcPr/>
                </a:tc>
              </a:tr>
              <a:tr h="273274">
                <a:tc>
                  <a:txBody>
                    <a:bodyPr/>
                    <a:lstStyle/>
                    <a:p>
                      <a:pPr algn="l" defTabSz="457200"/>
                      <a:r>
                        <a:rPr sz="1600"/>
                        <a:t>SPEA</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Strong technicals, previous Apple experience. Pricing, TH facility capability/readiness for MP TBC.</a:t>
                      </a:r>
                    </a:p>
                  </a:txBody>
                  <a:tcPr marL="63500" marR="63500" marT="0" marB="0" anchor="ctr" anchorCtr="0" horzOverflow="overflow"/>
                </a:tc>
                <a:tc>
                  <a:txBody>
                    <a:bodyPr/>
                    <a:lstStyle/>
                    <a:p>
                      <a:pPr algn="l" defTabSz="457200"/>
                      <a:r>
                        <a:rPr sz="1200"/>
                        <a:t>SeaSalt MP, Helios SS, iPad NPI.</a:t>
                      </a:r>
                    </a:p>
                  </a:txBody>
                  <a:tcPr marL="63500" marR="63500" marT="0" marB="0" anchor="ctr" anchorCtr="0" horzOverflow="overflow"/>
                </a:tc>
                <a:tc gridSpan="2" vMerge="1">
                  <a:tcPr/>
                </a:tc>
                <a:tc hMerge="1" vMerge="1">
                  <a:tcPr/>
                </a:tc>
              </a:tr>
            </a:tbl>
          </a:graphicData>
        </a:graphic>
      </p:graphicFrame>
      <p:sp>
        <p:nvSpPr>
          <p:cNvPr id="189" name="DRAFT"/>
          <p:cNvSpPr txBox="1"/>
          <p:nvPr/>
        </p:nvSpPr>
        <p:spPr>
          <a:xfrm>
            <a:off x="6287786" y="6462510"/>
            <a:ext cx="8204201" cy="306578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lnSpc>
                <a:spcPct val="100000"/>
              </a:lnSpc>
              <a:spcBef>
                <a:spcPts val="0"/>
              </a:spcBef>
              <a:defRPr sz="20000">
                <a:solidFill>
                  <a:srgbClr val="E35E69">
                    <a:alpha val="15000"/>
                  </a:srgbClr>
                </a:solidFill>
              </a:defRPr>
            </a:lvl1pPr>
          </a:lstStyle>
          <a:p>
            <a:pPr/>
            <a:r>
              <a:t>DRAFT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SI Capacity Management | Scorecard - Q181 POC Conveyors - FACT"/>
          <p:cNvSpPr txBox="1"/>
          <p:nvPr/>
        </p:nvSpPr>
        <p:spPr>
          <a:xfrm>
            <a:off x="130137" y="330277"/>
            <a:ext cx="17299795" cy="736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indent="317500" defTabSz="825500">
              <a:lnSpc>
                <a:spcPct val="100000"/>
              </a:lnSpc>
              <a:spcBef>
                <a:spcPts val="0"/>
              </a:spcBef>
              <a:defRPr sz="4200">
                <a:solidFill>
                  <a:srgbClr val="0096FF"/>
                </a:solidFill>
                <a:latin typeface="SF Hello Regular"/>
                <a:ea typeface="SF Hello Regular"/>
                <a:cs typeface="SF Hello Regular"/>
                <a:sym typeface="SF Hello Regular"/>
              </a:defRPr>
            </a:pPr>
            <a:r>
              <a:t>SI Capacity Management </a:t>
            </a:r>
            <a:r>
              <a:rPr>
                <a:solidFill>
                  <a:srgbClr val="444444"/>
                </a:solidFill>
                <a:latin typeface="Helvetica Neue UltraLight"/>
                <a:ea typeface="Helvetica Neue UltraLight"/>
                <a:cs typeface="Helvetica Neue UltraLight"/>
                <a:sym typeface="Helvetica Neue UltraLight"/>
              </a:rPr>
              <a:t>| </a:t>
            </a:r>
            <a:r>
              <a:rPr b="1">
                <a:solidFill>
                  <a:srgbClr val="000000"/>
                </a:solidFill>
                <a:latin typeface="Helvetica"/>
                <a:ea typeface="Helvetica"/>
                <a:cs typeface="Helvetica"/>
                <a:sym typeface="Helvetica"/>
              </a:rPr>
              <a:t>Scorecard - Q181 POC Conveyors - FACT</a:t>
            </a:r>
          </a:p>
        </p:txBody>
      </p:sp>
      <p:graphicFrame>
        <p:nvGraphicFramePr>
          <p:cNvPr id="194" name="Table 1-1-1-1-1-1"/>
          <p:cNvGraphicFramePr/>
          <p:nvPr/>
        </p:nvGraphicFramePr>
        <p:xfrm>
          <a:off x="19700065" y="3246374"/>
          <a:ext cx="4430459" cy="63347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208879"/>
                <a:gridCol w="2208879"/>
              </a:tblGrid>
              <a:tr h="310388">
                <a:tc>
                  <a:txBody>
                    <a:bodyPr/>
                    <a:lstStyle/>
                    <a:p>
                      <a:pPr defTabSz="457200"/>
                      <a:r>
                        <a:rPr sz="2000"/>
                        <a:t>Pass</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53AC79"/>
                    </a:solidFill>
                  </a:tcPr>
                </a:tc>
                <a:tc>
                  <a:txBody>
                    <a:bodyPr/>
                    <a:lstStyle/>
                    <a:p>
                      <a:pPr defTabSz="457200"/>
                      <a:r>
                        <a:rPr sz="2000">
                          <a:solidFill>
                            <a:srgbClr val="929292"/>
                          </a:solidFill>
                        </a:rPr>
                        <a:t>Conditional Pass</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FEF0D6"/>
                    </a:solidFill>
                  </a:tcPr>
                </a:tc>
              </a:tr>
              <a:tr h="310388">
                <a:tc>
                  <a:txBody>
                    <a:bodyPr/>
                    <a:lstStyle/>
                    <a:p>
                      <a:pPr defTabSz="457200"/>
                      <a:r>
                        <a:rPr sz="2000">
                          <a:solidFill>
                            <a:srgbClr val="929292"/>
                          </a:solidFill>
                        </a:rPr>
                        <a:t>Does not Meet</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D5D5D5"/>
                    </a:solidFill>
                  </a:tcPr>
                </a:tc>
                <a:tc>
                  <a:txBody>
                    <a:bodyPr/>
                    <a:lstStyle/>
                    <a:p>
                      <a:pPr defTabSz="457200"/>
                      <a:r>
                        <a:rPr sz="2000">
                          <a:solidFill>
                            <a:srgbClr val="929292"/>
                          </a:solidFill>
                        </a:rPr>
                        <a:t>TBC/NA</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tcPr>
                </a:tc>
              </a:tr>
            </a:tbl>
          </a:graphicData>
        </a:graphic>
      </p:graphicFrame>
      <p:sp>
        <p:nvSpPr>
          <p:cNvPr id="195" name="iPad programs are CN/VN only —&gt; no global SI requirement…"/>
          <p:cNvSpPr txBox="1"/>
          <p:nvPr/>
        </p:nvSpPr>
        <p:spPr>
          <a:xfrm>
            <a:off x="1708572" y="1272539"/>
            <a:ext cx="22064964" cy="223520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iPad programs are CN/VN only —&gt; no global SI requirement</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iPad FACT station design based on V6x FACT/VENT conveyor architecture</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V6x FACT/VENT conveyor architecture not yet mature. Partial rollout for 2026 FCS ramps due to lack of time for stress test (FACT), missing technical signoff for VENT</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Need to ensure latest iPhone learnings make it into iPad POC in order to ensure that we do not slip iPad readiness schedules</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Significant iPad-specific challenges exist: DUT-specific rub/buzz, new carrier/waveguide concepts</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PRM proprietary knowledge, HW on ‘must-have’ areas (waveguide design, beamforming algos). Blocked for other SIs to take on given timeline.</a:t>
            </a:r>
          </a:p>
        </p:txBody>
      </p:sp>
      <p:sp>
        <p:nvSpPr>
          <p:cNvPr id="196" name="Thesis"/>
          <p:cNvSpPr/>
          <p:nvPr/>
        </p:nvSpPr>
        <p:spPr>
          <a:xfrm>
            <a:off x="264846" y="1336039"/>
            <a:ext cx="1270001" cy="2593607"/>
          </a:xfrm>
          <a:prstGeom prst="roundRect">
            <a:avLst>
              <a:gd name="adj" fmla="val 15000"/>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latin typeface="Helvetica Neue Medium"/>
                <a:ea typeface="Helvetica Neue Medium"/>
                <a:cs typeface="Helvetica Neue Medium"/>
                <a:sym typeface="Helvetica Neue Medium"/>
              </a:defRPr>
            </a:lvl1pPr>
          </a:lstStyle>
          <a:p>
            <a:pPr/>
            <a:r>
              <a:t>Thesis</a:t>
            </a:r>
          </a:p>
        </p:txBody>
      </p:sp>
      <p:sp>
        <p:nvSpPr>
          <p:cNvPr id="197" name="Short List"/>
          <p:cNvSpPr/>
          <p:nvPr/>
        </p:nvSpPr>
        <p:spPr>
          <a:xfrm>
            <a:off x="252146" y="11520091"/>
            <a:ext cx="1270001" cy="2025214"/>
          </a:xfrm>
          <a:prstGeom prst="roundRect">
            <a:avLst>
              <a:gd name="adj" fmla="val 15000"/>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latin typeface="Helvetica Neue Medium"/>
                <a:ea typeface="Helvetica Neue Medium"/>
                <a:cs typeface="Helvetica Neue Medium"/>
                <a:sym typeface="Helvetica Neue Medium"/>
              </a:defRPr>
            </a:lvl1pPr>
          </a:lstStyle>
          <a:p>
            <a:pPr/>
            <a:r>
              <a:t>Short List</a:t>
            </a:r>
          </a:p>
        </p:txBody>
      </p:sp>
      <p:graphicFrame>
        <p:nvGraphicFramePr>
          <p:cNvPr id="198" name="Table 1-1"/>
          <p:cNvGraphicFramePr/>
          <p:nvPr/>
        </p:nvGraphicFramePr>
        <p:xfrm>
          <a:off x="1622519" y="11576236"/>
          <a:ext cx="22496686" cy="192562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530229"/>
                <a:gridCol w="908825"/>
                <a:gridCol w="908825"/>
                <a:gridCol w="908825"/>
                <a:gridCol w="908825"/>
                <a:gridCol w="908825"/>
                <a:gridCol w="908825"/>
                <a:gridCol w="15500804"/>
              </a:tblGrid>
              <a:tr h="212546">
                <a:tc rowSpan="2">
                  <a:txBody>
                    <a:bodyPr/>
                    <a:lstStyle/>
                    <a:p>
                      <a:pPr algn="l" defTabSz="457200"/>
                      <a:r>
                        <a:rPr b="1" sz="1600"/>
                        <a:t>Name</a:t>
                      </a:r>
                    </a:p>
                  </a:txBody>
                  <a:tcPr marL="63500" marR="63500" marT="0" marB="0" anchor="ctr" anchorCtr="0" horzOverflow="overflow"/>
                </a:tc>
                <a:tc gridSpan="3">
                  <a:txBody>
                    <a:bodyPr/>
                    <a:lstStyle/>
                    <a:p>
                      <a:pPr defTabSz="457200"/>
                      <a:r>
                        <a:rPr b="1" sz="1600"/>
                        <a:t>Go-No Go - POC/NPI</a:t>
                      </a:r>
                    </a:p>
                  </a:txBody>
                  <a:tcPr marL="63500" marR="63500" marT="0" marB="0" anchor="ctr" anchorCtr="0" horzOverflow="overflow"/>
                </a:tc>
                <a:tc hMerge="1">
                  <a:tcPr/>
                </a:tc>
                <a:tc hMerge="1">
                  <a:tcPr/>
                </a:tc>
                <a:tc gridSpan="3">
                  <a:txBody>
                    <a:bodyPr/>
                    <a:lstStyle/>
                    <a:p>
                      <a:pPr defTabSz="457200"/>
                      <a:r>
                        <a:rPr b="1" sz="1600"/>
                        <a:t>Go-No Go - MP</a:t>
                      </a:r>
                    </a:p>
                  </a:txBody>
                  <a:tcPr marL="63500" marR="63500" marT="0" marB="0" anchor="ctr" anchorCtr="0" horzOverflow="overflow"/>
                </a:tc>
                <a:tc hMerge="1">
                  <a:tcPr/>
                </a:tc>
                <a:tc hMerge="1">
                  <a:tcPr/>
                </a:tc>
                <a:tc rowSpan="2">
                  <a:txBody>
                    <a:bodyPr/>
                    <a:lstStyle/>
                    <a:p>
                      <a:pPr algn="l" defTabSz="457200"/>
                      <a:r>
                        <a:rPr b="1" sz="1600"/>
                        <a:t>Rationale</a:t>
                      </a:r>
                    </a:p>
                  </a:txBody>
                  <a:tcPr marL="63500" marR="63500" marT="0" marB="0" anchor="ctr" anchorCtr="0" horzOverflow="overflow"/>
                </a:tc>
              </a:tr>
              <a:tr h="212546">
                <a:tc vMerge="1">
                  <a:tcPr/>
                </a:tc>
                <a:tc>
                  <a:txBody>
                    <a:bodyPr/>
                    <a:lstStyle/>
                    <a:p>
                      <a:pPr defTabSz="457200"/>
                      <a:r>
                        <a:rPr sz="1300"/>
                        <a:t>GSSM</a:t>
                      </a:r>
                    </a:p>
                  </a:txBody>
                  <a:tcPr marL="63500" marR="63500" marT="0" marB="0" anchor="ctr" anchorCtr="0" horzOverflow="overflow"/>
                </a:tc>
                <a:tc>
                  <a:txBody>
                    <a:bodyPr/>
                    <a:lstStyle/>
                    <a:p>
                      <a:pPr defTabSz="457200"/>
                      <a:r>
                        <a:rPr sz="1300"/>
                        <a:t>HWTE</a:t>
                      </a:r>
                    </a:p>
                  </a:txBody>
                  <a:tcPr marL="63500" marR="63500" marT="0" marB="0" anchor="ctr" anchorCtr="0" horzOverflow="overflow"/>
                </a:tc>
                <a:tc>
                  <a:txBody>
                    <a:bodyPr/>
                    <a:lstStyle/>
                    <a:p>
                      <a:pPr defTabSz="457200"/>
                      <a:r>
                        <a:rPr sz="1300"/>
                        <a:t>OpsTE</a:t>
                      </a:r>
                    </a:p>
                  </a:txBody>
                  <a:tcPr marL="63500" marR="63500" marT="0" marB="0" anchor="ctr" anchorCtr="0" horzOverflow="overflow"/>
                </a:tc>
                <a:tc>
                  <a:txBody>
                    <a:bodyPr/>
                    <a:lstStyle/>
                    <a:p>
                      <a:pPr defTabSz="457200"/>
                      <a:r>
                        <a:rPr sz="1300"/>
                        <a:t>GSSM</a:t>
                      </a:r>
                    </a:p>
                  </a:txBody>
                  <a:tcPr marL="63500" marR="63500" marT="0" marB="0" anchor="ctr" anchorCtr="0" horzOverflow="overflow"/>
                </a:tc>
                <a:tc>
                  <a:txBody>
                    <a:bodyPr/>
                    <a:lstStyle/>
                    <a:p>
                      <a:pPr defTabSz="457200"/>
                      <a:r>
                        <a:rPr sz="1300"/>
                        <a:t>HWTE</a:t>
                      </a:r>
                    </a:p>
                  </a:txBody>
                  <a:tcPr marL="63500" marR="63500" marT="0" marB="0" anchor="ctr" anchorCtr="0" horzOverflow="overflow"/>
                </a:tc>
                <a:tc>
                  <a:txBody>
                    <a:bodyPr/>
                    <a:lstStyle/>
                    <a:p>
                      <a:pPr defTabSz="457200"/>
                      <a:r>
                        <a:rPr sz="1300"/>
                        <a:t>OpsTE</a:t>
                      </a:r>
                    </a:p>
                  </a:txBody>
                  <a:tcPr marL="63500" marR="63500" marT="0" marB="0" anchor="ctr" anchorCtr="0" horzOverflow="overflow"/>
                </a:tc>
                <a:tc vMerge="1">
                  <a:tcPr/>
                </a:tc>
              </a:tr>
              <a:tr h="212546">
                <a:tc>
                  <a:txBody>
                    <a:bodyPr/>
                    <a:lstStyle/>
                    <a:p>
                      <a:pPr algn="l" defTabSz="457200"/>
                      <a:r>
                        <a:rPr sz="1600"/>
                        <a:t>PRM</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NPI - Proprietary know-how/HW, base design (Phone) not mature + hard iPad-specific challenges —&gt; incumbent for NPI. If scaling issues fixed, can continue for MP.</a:t>
                      </a:r>
                    </a:p>
                  </a:txBody>
                  <a:tcPr marL="63500" marR="63500" marT="0" marB="0" anchor="ctr" anchorCtr="0" horzOverflow="overflow"/>
                </a:tc>
              </a:tr>
              <a:tr h="212546">
                <a:tc>
                  <a:txBody>
                    <a:bodyPr/>
                    <a:lstStyle/>
                    <a:p>
                      <a:pPr algn="l" defTabSz="457200"/>
                      <a:r>
                        <a:rPr sz="1600"/>
                        <a:t>JLK</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MP option - assuming they address bandwidth, they’d be a strong technical SI to support (FACT experience). Can layer in some mini shadow set exercises pre-official KO.</a:t>
                      </a:r>
                    </a:p>
                  </a:txBody>
                  <a:tcPr marL="63500" marR="63500" marT="0" marB="0" anchor="ctr" anchorCtr="0" horzOverflow="overflow"/>
                </a:tc>
              </a:tr>
              <a:tr h="212546">
                <a:tc>
                  <a:txBody>
                    <a:bodyPr/>
                    <a:lstStyle/>
                    <a:p>
                      <a:pPr algn="l" defTabSz="457200"/>
                      <a:r>
                        <a:rPr sz="1600"/>
                        <a:t>Amphenol</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iPhone Shadow set + MP option - Proven SI with FACT inner fixture experience that needs an opportunity to get conveyor experience.</a:t>
                      </a:r>
                    </a:p>
                  </a:txBody>
                  <a:tcPr marL="63500" marR="63500" marT="0" marB="0" anchor="ctr" anchorCtr="0" horzOverflow="overflow"/>
                </a:tc>
              </a:tr>
              <a:tr h="212546">
                <a:tc>
                  <a:txBody>
                    <a:bodyPr/>
                    <a:lstStyle/>
                    <a:p>
                      <a:pPr algn="l" defTabSz="457200"/>
                      <a:r>
                        <a:rPr sz="1600"/>
                        <a:t>SPEA</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iPhone Shadow set + MP option - Strong technical, previous Apple experience. Pricing, TH facility capability/readiness for MP TBC.</a:t>
                      </a:r>
                    </a:p>
                  </a:txBody>
                  <a:tcPr marL="63500" marR="63500" marT="0" marB="0" anchor="ctr" anchorCtr="0" horzOverflow="overflow"/>
                </a:tc>
              </a:tr>
              <a:tr h="212546">
                <a:tc>
                  <a:txBody>
                    <a:bodyPr/>
                    <a:lstStyle/>
                    <a:p>
                      <a:pPr algn="l" defTabSz="457200"/>
                      <a:r>
                        <a:rPr sz="1600"/>
                        <a:t>IVD</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rowSpan="3">
                  <a:txBody>
                    <a:bodyPr/>
                    <a:lstStyle/>
                    <a:p>
                      <a:pPr algn="l" defTabSz="457200"/>
                      <a:r>
                        <a:rPr sz="1500"/>
                        <a:t>iPhone Shadow set + MP option - good opportunity to learn, can support WW (FACT/VENT architecture present on all LOBs)</a:t>
                      </a:r>
                    </a:p>
                  </a:txBody>
                  <a:tcPr marL="63500" marR="63500" marT="0" marB="0" anchor="ctr" anchorCtr="0" horzOverflow="overflow"/>
                </a:tc>
              </a:tr>
              <a:tr h="212546">
                <a:tc>
                  <a:txBody>
                    <a:bodyPr/>
                    <a:lstStyle/>
                    <a:p>
                      <a:pPr algn="l" defTabSz="457200"/>
                      <a:r>
                        <a:rPr sz="1600"/>
                        <a:t>Pentamaster</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vMerge="1">
                  <a:tcPr/>
                </a:tc>
              </a:tr>
              <a:tr h="212546">
                <a:tc>
                  <a:txBody>
                    <a:bodyPr/>
                    <a:lstStyle/>
                    <a:p>
                      <a:pPr algn="l" defTabSz="457200"/>
                      <a:r>
                        <a:rPr sz="1600"/>
                        <a:t>VVDN</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vMerge="1">
                  <a:tcPr/>
                </a:tc>
              </a:tr>
            </a:tbl>
          </a:graphicData>
        </a:graphic>
      </p:graphicFrame>
      <p:graphicFrame>
        <p:nvGraphicFramePr>
          <p:cNvPr id="199" name="Table 1"/>
          <p:cNvGraphicFramePr/>
          <p:nvPr/>
        </p:nvGraphicFramePr>
        <p:xfrm>
          <a:off x="261539" y="4079162"/>
          <a:ext cx="23803973" cy="10107492"/>
        </p:xfrm>
        <a:graphic xmlns:a="http://schemas.openxmlformats.org/drawingml/2006/main">
          <a:graphicData uri="http://schemas.openxmlformats.org/drawingml/2006/table">
            <a:tbl>
              <a:tblPr firstCol="1" firstRow="0" lastCol="0" lastRow="0" bandCol="0" bandRow="0" rtl="0">
                <a:tableStyleId>{4C3C2611-4C71-4FC5-86AE-919BDF0F9419}</a:tableStyleId>
              </a:tblPr>
              <a:tblGrid>
                <a:gridCol w="1230947"/>
                <a:gridCol w="766078"/>
                <a:gridCol w="766078"/>
                <a:gridCol w="766078"/>
                <a:gridCol w="766078"/>
                <a:gridCol w="766078"/>
                <a:gridCol w="766078"/>
                <a:gridCol w="766078"/>
                <a:gridCol w="766078"/>
                <a:gridCol w="766078"/>
                <a:gridCol w="786933"/>
                <a:gridCol w="663146"/>
                <a:gridCol w="848155"/>
                <a:gridCol w="766078"/>
                <a:gridCol w="858823"/>
                <a:gridCol w="858823"/>
                <a:gridCol w="858823"/>
                <a:gridCol w="858823"/>
                <a:gridCol w="640868"/>
                <a:gridCol w="656081"/>
                <a:gridCol w="690258"/>
                <a:gridCol w="1017979"/>
                <a:gridCol w="631900"/>
                <a:gridCol w="586722"/>
                <a:gridCol w="620823"/>
                <a:gridCol w="4391026"/>
              </a:tblGrid>
              <a:tr h="348978">
                <a:tc rowSpan="2">
                  <a:txBody>
                    <a:bodyPr/>
                    <a:lstStyle/>
                    <a:p>
                      <a:pPr defTabSz="914400">
                        <a:tabLst>
                          <a:tab pos="1663700" algn="l"/>
                        </a:tabLst>
                        <a:defRPr b="0"/>
                      </a:pPr>
                      <a:r>
                        <a:rPr b="1" sz="1600"/>
                        <a:t>Criteria</a:t>
                      </a:r>
                    </a:p>
                  </a:txBody>
                  <a:tcPr marL="50800" marR="50800" marT="50800" marB="50800" anchor="ctr" anchorCtr="0" horzOverflow="overflow">
                    <a:lnR w="12700">
                      <a:solidFill>
                        <a:srgbClr val="000000"/>
                      </a:solidFill>
                      <a:miter lim="400000"/>
                    </a:lnR>
                  </a:tcPr>
                </a:tc>
                <a:tc gridSpan="2">
                  <a:txBody>
                    <a:bodyPr/>
                    <a:lstStyle/>
                    <a:p>
                      <a:pPr defTabSz="914400">
                        <a:tabLst>
                          <a:tab pos="1663700" algn="l"/>
                        </a:tabLst>
                      </a:pPr>
                      <a:r>
                        <a:rPr b="1" sz="1600"/>
                        <a:t>OK2 Engage?</a:t>
                      </a:r>
                    </a:p>
                  </a:txBody>
                  <a:tcPr marL="50800" marR="50800" marT="50800" marB="50800" anchor="ctr" anchorCtr="0" horzOverflow="overflow">
                    <a:lnL w="12700">
                      <a:solidFill>
                        <a:srgbClr val="000000"/>
                      </a:solidFill>
                      <a:miter lim="400000"/>
                    </a:lnL>
                  </a:tcPr>
                </a:tc>
                <a:tc hMerge="1">
                  <a:tcPr/>
                </a:tc>
                <a:tc gridSpan="4">
                  <a:txBody>
                    <a:bodyPr/>
                    <a:lstStyle/>
                    <a:p>
                      <a:pPr defTabSz="914400">
                        <a:tabLst>
                          <a:tab pos="1663700" algn="l"/>
                        </a:tabLst>
                      </a:pPr>
                      <a:r>
                        <a:rPr b="1" sz="1300"/>
                        <a:t>Legal/Commercial Operations OK</a:t>
                      </a:r>
                    </a:p>
                  </a:txBody>
                  <a:tcPr marL="50800" marR="50800" marT="50800" marB="50800" anchor="ctr" anchorCtr="0" horzOverflow="overflow"/>
                </a:tc>
                <a:tc hMerge="1">
                  <a:tcPr/>
                </a:tc>
                <a:tc hMerge="1">
                  <a:tcPr/>
                </a:tc>
                <a:tc hMerge="1">
                  <a:tcPr/>
                </a:tc>
                <a:tc gridSpan="3">
                  <a:txBody>
                    <a:bodyPr/>
                    <a:lstStyle/>
                    <a:p>
                      <a:pPr defTabSz="914400">
                        <a:tabLst>
                          <a:tab pos="1663700" algn="l"/>
                        </a:tabLst>
                      </a:pPr>
                      <a:r>
                        <a:rPr b="1" sz="1600"/>
                        <a:t>Infrastructure Audit</a:t>
                      </a:r>
                    </a:p>
                  </a:txBody>
                  <a:tcPr marL="50800" marR="50800" marT="50800" marB="50800" anchor="ctr" anchorCtr="0" horzOverflow="overflow"/>
                </a:tc>
                <a:tc hMerge="1">
                  <a:tcPr/>
                </a:tc>
                <a:tc hMerge="1">
                  <a:tcPr/>
                </a:tc>
                <a:tc>
                  <a:txBody>
                    <a:bodyPr/>
                    <a:lstStyle/>
                    <a:p>
                      <a:pPr defTabSz="914400">
                        <a:tabLst>
                          <a:tab pos="1663700" algn="l"/>
                        </a:tabLst>
                      </a:pPr>
                      <a:r>
                        <a:rPr b="1" sz="900"/>
                        <a:t>Experience</a:t>
                      </a:r>
                    </a:p>
                  </a:txBody>
                  <a:tcPr marL="50800" marR="50800" marT="50800" marB="50800" anchor="ctr" anchorCtr="0" horzOverflow="overflow"/>
                </a:tc>
                <a:tc gridSpan="2">
                  <a:txBody>
                    <a:bodyPr/>
                    <a:lstStyle/>
                    <a:p>
                      <a:pPr defTabSz="914400">
                        <a:tabLst>
                          <a:tab pos="1663700" algn="l"/>
                        </a:tabLst>
                      </a:pPr>
                      <a:r>
                        <a:rPr b="1" sz="1600"/>
                        <a:t>SI Capacity</a:t>
                      </a:r>
                    </a:p>
                  </a:txBody>
                  <a:tcPr marL="50800" marR="50800" marT="50800" marB="50800" anchor="ctr" anchorCtr="0" horzOverflow="overflow"/>
                </a:tc>
                <a:tc hMerge="1">
                  <a:tcPr/>
                </a:tc>
                <a:tc gridSpan="5">
                  <a:txBody>
                    <a:bodyPr/>
                    <a:lstStyle/>
                    <a:p>
                      <a:pPr defTabSz="914400">
                        <a:tabLst>
                          <a:tab pos="1663700" algn="l"/>
                        </a:tabLst>
                      </a:pPr>
                      <a:r>
                        <a:rPr b="1" sz="1600"/>
                        <a:t>Blockers, TTM</a:t>
                      </a:r>
                    </a:p>
                  </a:txBody>
                  <a:tcPr marL="50800" marR="50800" marT="50800" marB="50800" anchor="ctr" anchorCtr="0" horzOverflow="overflow"/>
                </a:tc>
                <a:tc hMerge="1">
                  <a:tcPr/>
                </a:tc>
                <a:tc hMerge="1">
                  <a:tcPr/>
                </a:tc>
                <a:tc hMerge="1">
                  <a:tcPr/>
                </a:tc>
                <a:tc hMerge="1">
                  <a:tcPr/>
                </a:tc>
                <a:tc gridSpan="3">
                  <a:txBody>
                    <a:bodyPr/>
                    <a:lstStyle/>
                    <a:p>
                      <a:pPr defTabSz="914400">
                        <a:tabLst>
                          <a:tab pos="1663700" algn="l"/>
                        </a:tabLst>
                      </a:pPr>
                      <a:r>
                        <a:rPr b="1" sz="1600"/>
                        <a:t>Top SI Potential</a:t>
                      </a:r>
                    </a:p>
                  </a:txBody>
                  <a:tcPr marL="50800" marR="50800" marT="50800" marB="50800" anchor="ctr" anchorCtr="0" horzOverflow="overflow"/>
                </a:tc>
                <a:tc hMerge="1">
                  <a:tcPr/>
                </a:tc>
                <a:tc hMerge="1">
                  <a:tcPr/>
                </a:tc>
                <a:tc rowSpan="4">
                  <a:txBody>
                    <a:bodyPr/>
                    <a:lstStyle/>
                    <a:p>
                      <a:pPr defTabSz="914400">
                        <a:tabLst>
                          <a:tab pos="1663700" algn="l"/>
                        </a:tabLst>
                        <a:defRPr b="1" sz="1400"/>
                      </a:pPr>
                      <a:r>
                        <a:t>Forced Rank </a:t>
                      </a:r>
                    </a:p>
                    <a:p>
                      <a:pPr defTabSz="914400">
                        <a:tabLst>
                          <a:tab pos="1663700" algn="l"/>
                        </a:tabLst>
                        <a:defRPr b="1" sz="1400"/>
                      </a:pPr>
                      <a:r>
                        <a:rPr i="1" sz="1200"/>
                        <a:t>(Un-weighted)</a:t>
                      </a:r>
                    </a:p>
                  </a:txBody>
                  <a:tcPr marL="50800" marR="50800" marT="50800" marB="50800" anchor="ctr" anchorCtr="0" horzOverflow="overflow"/>
                </a:tc>
                <a:tc gridSpan="4">
                  <a:txBody>
                    <a:bodyPr/>
                    <a:lstStyle/>
                    <a:p>
                      <a:pPr defTabSz="914400">
                        <a:tabLst>
                          <a:tab pos="1663700" algn="l"/>
                        </a:tabLst>
                      </a:pPr>
                      <a:r>
                        <a:rPr b="1" sz="1600"/>
                        <a:t>Go-No Go Rating + Rationale</a:t>
                      </a:r>
                    </a:p>
                  </a:txBody>
                  <a:tcPr marL="50800" marR="50800" marT="50800" marB="50800" anchor="ctr" anchorCtr="0" horzOverflow="overflow"/>
                </a:tc>
                <a:tc hMerge="1">
                  <a:tcPr/>
                </a:tc>
                <a:tc hMerge="1">
                  <a:tcPr/>
                </a:tc>
                <a:tc hMerge="1">
                  <a:tcPr/>
                </a:tc>
              </a:tr>
              <a:tr h="492180">
                <a:tc vMerge="1">
                  <a:tcPr/>
                </a:tc>
                <a:tc>
                  <a:txBody>
                    <a:bodyPr/>
                    <a:lstStyle/>
                    <a:p>
                      <a:pPr defTabSz="914400">
                        <a:tabLst>
                          <a:tab pos="1663700" algn="l"/>
                        </a:tabLst>
                      </a:pPr>
                      <a:r>
                        <a:rPr sz="1400"/>
                        <a:t>Legal</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pPr>
                      <a:r>
                        <a:rPr sz="1200"/>
                        <a:t>Commercial</a:t>
                      </a:r>
                    </a:p>
                  </a:txBody>
                  <a:tcPr marL="50800" marR="50800" marT="50800" marB="50800" anchor="ctr" anchorCtr="0" horzOverflow="overflow"/>
                </a:tc>
                <a:tc>
                  <a:txBody>
                    <a:bodyPr/>
                    <a:lstStyle/>
                    <a:p>
                      <a:pPr defTabSz="914400">
                        <a:tabLst>
                          <a:tab pos="1663700" algn="l"/>
                        </a:tabLst>
                      </a:pPr>
                      <a:r>
                        <a:rPr sz="1200"/>
                        <a:t>Non PRC HQ</a:t>
                      </a:r>
                    </a:p>
                  </a:txBody>
                  <a:tcPr marL="50800" marR="50800" marT="50800" marB="50800" anchor="ctr" anchorCtr="0" horzOverflow="overflow"/>
                </a:tc>
                <a:tc>
                  <a:txBody>
                    <a:bodyPr/>
                    <a:lstStyle/>
                    <a:p>
                      <a:pPr defTabSz="914400">
                        <a:tabLst>
                          <a:tab pos="1663700" algn="l"/>
                        </a:tabLst>
                      </a:pPr>
                      <a:r>
                        <a:rPr sz="1400"/>
                        <a:t>IN</a:t>
                      </a:r>
                    </a:p>
                  </a:txBody>
                  <a:tcPr marL="50800" marR="50800" marT="50800" marB="50800" anchor="ctr" anchorCtr="0" horzOverflow="overflow"/>
                </a:tc>
                <a:tc>
                  <a:txBody>
                    <a:bodyPr/>
                    <a:lstStyle/>
                    <a:p>
                      <a:pPr defTabSz="914400">
                        <a:tabLst>
                          <a:tab pos="1663700" algn="l"/>
                        </a:tabLst>
                      </a:pPr>
                      <a:r>
                        <a:rPr sz="1400"/>
                        <a:t>CN</a:t>
                      </a:r>
                    </a:p>
                  </a:txBody>
                  <a:tcPr marL="50800" marR="50800" marT="50800" marB="50800" anchor="ctr" anchorCtr="0" horzOverflow="overflow"/>
                </a:tc>
                <a:tc>
                  <a:txBody>
                    <a:bodyPr/>
                    <a:lstStyle/>
                    <a:p>
                      <a:pPr defTabSz="914400">
                        <a:tabLst>
                          <a:tab pos="1663700" algn="l"/>
                        </a:tabLst>
                      </a:pPr>
                      <a:r>
                        <a:rPr sz="1400"/>
                        <a:t>Other Geo</a:t>
                      </a:r>
                    </a:p>
                  </a:txBody>
                  <a:tcPr marL="50800" marR="50800" marT="50800" marB="50800" anchor="ctr" anchorCtr="0" horzOverflow="overflow"/>
                </a:tc>
                <a:tc>
                  <a:txBody>
                    <a:bodyPr/>
                    <a:lstStyle/>
                    <a:p>
                      <a:pPr defTabSz="914400">
                        <a:tabLst>
                          <a:tab pos="1663700" algn="l"/>
                        </a:tabLst>
                      </a:pPr>
                      <a:r>
                        <a:rPr sz="1400"/>
                        <a:t>CN</a:t>
                      </a:r>
                    </a:p>
                  </a:txBody>
                  <a:tcPr marL="50800" marR="50800" marT="50800" marB="50800" anchor="ctr" anchorCtr="0" horzOverflow="overflow"/>
                </a:tc>
                <a:tc>
                  <a:txBody>
                    <a:bodyPr/>
                    <a:lstStyle/>
                    <a:p>
                      <a:pPr defTabSz="914400">
                        <a:tabLst>
                          <a:tab pos="1663700" algn="l"/>
                        </a:tabLst>
                      </a:pPr>
                      <a:r>
                        <a:rPr sz="1400"/>
                        <a:t>IN</a:t>
                      </a:r>
                    </a:p>
                  </a:txBody>
                  <a:tcPr marL="50800" marR="50800" marT="50800" marB="50800" anchor="ctr" anchorCtr="0" horzOverflow="overflow"/>
                </a:tc>
                <a:tc>
                  <a:txBody>
                    <a:bodyPr/>
                    <a:lstStyle/>
                    <a:p>
                      <a:pPr defTabSz="914400">
                        <a:tabLst>
                          <a:tab pos="1663700" algn="l"/>
                        </a:tabLst>
                      </a:pPr>
                      <a:r>
                        <a:rPr sz="1400"/>
                        <a:t>Other</a:t>
                      </a:r>
                    </a:p>
                  </a:txBody>
                  <a:tcPr marL="50800" marR="50800" marT="50800" marB="50800" anchor="ctr" anchorCtr="0" horzOverflow="overflow"/>
                </a:tc>
                <a:tc>
                  <a:txBody>
                    <a:bodyPr/>
                    <a:lstStyle/>
                    <a:p>
                      <a:pPr defTabSz="914400">
                        <a:tabLst>
                          <a:tab pos="1663700" algn="l"/>
                        </a:tabLst>
                      </a:pPr>
                      <a:r>
                        <a:rPr sz="1400"/>
                        <a:t>Qual done?</a:t>
                      </a:r>
                    </a:p>
                  </a:txBody>
                  <a:tcPr marL="50800" marR="50800" marT="50800" marB="50800" anchor="ctr" anchorCtr="0" horzOverflow="overflow"/>
                </a:tc>
                <a:tc>
                  <a:txBody>
                    <a:bodyPr/>
                    <a:lstStyle/>
                    <a:p>
                      <a:pPr defTabSz="914400">
                        <a:tabLst>
                          <a:tab pos="1663700" algn="l"/>
                        </a:tabLst>
                      </a:pPr>
                      <a:r>
                        <a:rPr sz="1400"/>
                        <a:t>MP</a:t>
                      </a:r>
                    </a:p>
                  </a:txBody>
                  <a:tcPr marL="50800" marR="50800" marT="50800" marB="50800" anchor="ctr" anchorCtr="0" horzOverflow="overflow"/>
                </a:tc>
                <a:tc>
                  <a:txBody>
                    <a:bodyPr/>
                    <a:lstStyle/>
                    <a:p>
                      <a:pPr defTabSz="914400">
                        <a:tabLst>
                          <a:tab pos="1663700" algn="l"/>
                        </a:tabLst>
                      </a:pPr>
                      <a:r>
                        <a:rPr sz="1200"/>
                        <a:t>Eng Team available?</a:t>
                      </a:r>
                    </a:p>
                  </a:txBody>
                  <a:tcPr marL="50800" marR="50800" marT="50800" marB="50800" anchor="ctr" anchorCtr="0" horzOverflow="overflow"/>
                </a:tc>
                <a:tc>
                  <a:txBody>
                    <a:bodyPr/>
                    <a:lstStyle/>
                    <a:p>
                      <a:pPr defTabSz="914400">
                        <a:tabLst>
                          <a:tab pos="1663700" algn="l"/>
                        </a:tabLst>
                      </a:pPr>
                      <a:r>
                        <a:rPr sz="1400"/>
                        <a:t>Build</a:t>
                      </a:r>
                    </a:p>
                  </a:txBody>
                  <a:tcPr marL="50800" marR="50800" marT="50800" marB="50800" anchor="ctr" anchorCtr="0" horzOverflow="overflow"/>
                </a:tc>
                <a:tc>
                  <a:txBody>
                    <a:bodyPr/>
                    <a:lstStyle/>
                    <a:p>
                      <a:pPr defTabSz="914400">
                        <a:tabLst>
                          <a:tab pos="1663700" algn="l"/>
                        </a:tabLst>
                      </a:pPr>
                      <a:r>
                        <a:rPr sz="1200"/>
                        <a:t>Test Readiness</a:t>
                      </a:r>
                    </a:p>
                  </a:txBody>
                  <a:tcPr marL="50800" marR="50800" marT="50800" marB="50800" anchor="ctr" anchorCtr="0" horzOverflow="overflow"/>
                </a:tc>
                <a:tc>
                  <a:txBody>
                    <a:bodyPr/>
                    <a:lstStyle/>
                    <a:p>
                      <a:pPr defTabSz="914400">
                        <a:tabLst>
                          <a:tab pos="1663700" algn="l"/>
                        </a:tabLst>
                      </a:pPr>
                      <a:r>
                        <a:rPr sz="1400"/>
                        <a:t>EIH</a:t>
                      </a:r>
                    </a:p>
                  </a:txBody>
                  <a:tcPr marL="50800" marR="50800" marT="50800" marB="50800" anchor="ctr" anchorCtr="0" horzOverflow="overflow"/>
                </a:tc>
                <a:tc>
                  <a:txBody>
                    <a:bodyPr/>
                    <a:lstStyle/>
                    <a:p>
                      <a:pPr defTabSz="914400">
                        <a:tabLst>
                          <a:tab pos="1663700" algn="l"/>
                        </a:tabLst>
                      </a:pPr>
                      <a:r>
                        <a:rPr sz="1400"/>
                        <a:t>Design Lock</a:t>
                      </a:r>
                    </a:p>
                  </a:txBody>
                  <a:tcPr marL="50800" marR="50800" marT="50800" marB="50800" anchor="ctr" anchorCtr="0" horzOverflow="overflow"/>
                </a:tc>
                <a:tc>
                  <a:txBody>
                    <a:bodyPr/>
                    <a:lstStyle/>
                    <a:p>
                      <a:pPr defTabSz="914400">
                        <a:tabLst>
                          <a:tab pos="1663700" algn="l"/>
                        </a:tabLst>
                      </a:pPr>
                      <a:r>
                        <a:rPr sz="1400"/>
                        <a:t>Near Misses</a:t>
                      </a:r>
                    </a:p>
                  </a:txBody>
                  <a:tcPr marL="50800" marR="50800" marT="50800" marB="50800" anchor="ctr" anchorCtr="0" horzOverflow="overflow"/>
                </a:tc>
                <a:tc rowSpan="2">
                  <a:txBody>
                    <a:bodyPr/>
                    <a:lstStyle/>
                    <a:p>
                      <a:pPr defTabSz="914400">
                        <a:tabLst>
                          <a:tab pos="1663700" algn="l"/>
                        </a:tabLst>
                      </a:pPr>
                      <a:r>
                        <a:rPr sz="1400"/>
                        <a:t>GSSM</a:t>
                      </a:r>
                    </a:p>
                  </a:txBody>
                  <a:tcPr marL="50800" marR="50800" marT="50800" marB="50800" anchor="ctr" anchorCtr="0" horzOverflow="overflow"/>
                </a:tc>
                <a:tc rowSpan="2">
                  <a:txBody>
                    <a:bodyPr/>
                    <a:lstStyle/>
                    <a:p>
                      <a:pPr defTabSz="914400">
                        <a:tabLst>
                          <a:tab pos="1663700" algn="l"/>
                        </a:tabLst>
                      </a:pPr>
                      <a:r>
                        <a:rPr sz="1400"/>
                        <a:t>HWTE</a:t>
                      </a:r>
                    </a:p>
                  </a:txBody>
                  <a:tcPr marL="50800" marR="50800" marT="50800" marB="50800" anchor="ctr" anchorCtr="0" horzOverflow="overflow"/>
                </a:tc>
                <a:tc rowSpan="2">
                  <a:txBody>
                    <a:bodyPr/>
                    <a:lstStyle/>
                    <a:p>
                      <a:pPr defTabSz="914400">
                        <a:tabLst>
                          <a:tab pos="1663700" algn="l"/>
                        </a:tabLst>
                      </a:pPr>
                      <a:r>
                        <a:rPr sz="1400"/>
                        <a:t>OpsTE</a:t>
                      </a:r>
                    </a:p>
                  </a:txBody>
                  <a:tcPr marL="50800" marR="50800" marT="50800" marB="50800" anchor="ctr" anchorCtr="0" horzOverflow="overflow"/>
                </a:tc>
                <a:tc vMerge="1">
                  <a:tcPr/>
                </a:tc>
                <a:tc rowSpan="3">
                  <a:txBody>
                    <a:bodyPr/>
                    <a:lstStyle/>
                    <a:p>
                      <a:pPr defTabSz="914400">
                        <a:tabLst>
                          <a:tab pos="1663700" algn="l"/>
                        </a:tabLst>
                      </a:pPr>
                      <a:r>
                        <a:rPr sz="1300"/>
                        <a:t>GSM</a:t>
                      </a:r>
                    </a:p>
                  </a:txBody>
                  <a:tcPr marL="50800" marR="50800" marT="50800" marB="50800" anchor="ctr" anchorCtr="0" horzOverflow="overflow"/>
                </a:tc>
                <a:tc rowSpan="3">
                  <a:txBody>
                    <a:bodyPr/>
                    <a:lstStyle/>
                    <a:p>
                      <a:pPr defTabSz="914400">
                        <a:tabLst>
                          <a:tab pos="1663700" algn="l"/>
                        </a:tabLst>
                      </a:pPr>
                      <a:r>
                        <a:rPr sz="1300"/>
                        <a:t>HWTE</a:t>
                      </a:r>
                    </a:p>
                  </a:txBody>
                  <a:tcPr marL="50800" marR="50800" marT="50800" marB="50800" anchor="ctr" anchorCtr="0" horzOverflow="overflow"/>
                </a:tc>
                <a:tc rowSpan="3">
                  <a:txBody>
                    <a:bodyPr/>
                    <a:lstStyle/>
                    <a:p>
                      <a:pPr defTabSz="914400">
                        <a:tabLst>
                          <a:tab pos="1663700" algn="l"/>
                        </a:tabLst>
                      </a:pPr>
                      <a:r>
                        <a:rPr sz="1300"/>
                        <a:t>OpsTE</a:t>
                      </a:r>
                    </a:p>
                  </a:txBody>
                  <a:tcPr marL="50800" marR="50800" marT="50800" marB="50800" anchor="ctr" anchorCtr="0" horzOverflow="overflow"/>
                </a:tc>
                <a:tc rowSpan="3">
                  <a:txBody>
                    <a:bodyPr/>
                    <a:lstStyle/>
                    <a:p>
                      <a:pPr defTabSz="914400">
                        <a:tabLst>
                          <a:tab pos="1663700" algn="l"/>
                        </a:tabLst>
                      </a:pPr>
                      <a:r>
                        <a:rPr sz="1600"/>
                        <a:t>Summary</a:t>
                      </a:r>
                    </a:p>
                  </a:txBody>
                  <a:tcPr marL="50800" marR="50800" marT="50800" marB="50800" anchor="ctr" anchorCtr="0" horzOverflow="overflow"/>
                </a:tc>
              </a:tr>
              <a:tr h="333742">
                <a:tc>
                  <a:txBody>
                    <a:bodyPr/>
                    <a:lstStyle/>
                    <a:p>
                      <a:pPr defTabSz="914400">
                        <a:tabLst>
                          <a:tab pos="1663700" algn="l"/>
                        </a:tabLst>
                        <a:defRPr b="0"/>
                      </a:pPr>
                      <a:r>
                        <a:rPr b="1" sz="1600"/>
                        <a:t>DRI</a:t>
                      </a:r>
                    </a:p>
                  </a:txBody>
                  <a:tcPr marL="50800" marR="50800" marT="50800" marB="50800" anchor="ctr" anchorCtr="0" horzOverflow="overflow">
                    <a:lnR w="12700">
                      <a:solidFill>
                        <a:srgbClr val="000000"/>
                      </a:solidFill>
                      <a:miter lim="400000"/>
                    </a:lnR>
                  </a:tcPr>
                </a:tc>
                <a:tc>
                  <a:txBody>
                    <a:bodyPr/>
                    <a:lstStyle/>
                    <a:p>
                      <a:pPr defTabSz="914400">
                        <a:tabLst>
                          <a:tab pos="1663700" algn="l"/>
                        </a:tabLst>
                      </a:pPr>
                      <a:r>
                        <a:rPr sz="1400"/>
                        <a:t>GSM</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gridSpan="5">
                  <a:txBody>
                    <a:bodyPr/>
                    <a:lstStyle/>
                    <a:p>
                      <a:pPr defTabSz="914400">
                        <a:tabLst>
                          <a:tab pos="1663700" algn="l"/>
                        </a:tabLst>
                      </a:pPr>
                      <a:r>
                        <a:rPr sz="1400"/>
                        <a:t>All (GSM, HWTE, OpsTE, Capex)</a:t>
                      </a:r>
                    </a:p>
                  </a:txBody>
                  <a:tcPr marL="50800" marR="50800" marT="50800" marB="50800" anchor="ctr" anchorCtr="0" horzOverflow="overflow"/>
                </a:tc>
                <a:tc hMerge="1">
                  <a:tcPr/>
                </a:tc>
                <a:tc hMerge="1">
                  <a:tcPr/>
                </a:tc>
                <a:tc hMerge="1">
                  <a:tcPr/>
                </a:tc>
                <a:tc hMerge="1">
                  <a:tcPr/>
                </a:tc>
                <a:tc vMerge="1">
                  <a:tcPr/>
                </a:tc>
                <a:tc vMerge="1">
                  <a:tcPr/>
                </a:tc>
                <a:tc vMerge="1">
                  <a:tcPr/>
                </a:tc>
                <a:tc vMerge="1">
                  <a:tcPr/>
                </a:tc>
                <a:tc vMerge="1">
                  <a:tcPr/>
                </a:tc>
                <a:tc vMerge="1">
                  <a:tcPr/>
                </a:tc>
                <a:tc vMerge="1">
                  <a:tcPr/>
                </a:tc>
                <a:tc vMerge="1">
                  <a:tcPr/>
                </a:tc>
              </a:tr>
              <a:tr h="333742">
                <a:tc>
                  <a:txBody>
                    <a:bodyPr/>
                    <a:lstStyle/>
                    <a:p>
                      <a:pPr defTabSz="914400">
                        <a:tabLst>
                          <a:tab pos="1663700" algn="l"/>
                        </a:tabLst>
                        <a:defRPr b="0"/>
                      </a:pPr>
                      <a:r>
                        <a:rPr b="1" sz="1600"/>
                        <a:t>MH/NTH</a:t>
                      </a:r>
                    </a:p>
                  </a:txBody>
                  <a:tcPr marL="50800" marR="50800" marT="50800" marB="50800" anchor="ctr" anchorCtr="0" horzOverflow="overflow">
                    <a:lnR w="12700">
                      <a:solidFill>
                        <a:srgbClr val="000000"/>
                      </a:solidFill>
                      <a:miter lim="400000"/>
                    </a:lnR>
                  </a:tcPr>
                </a:tc>
                <a:tc gridSpan="11">
                  <a:txBody>
                    <a:bodyPr/>
                    <a:lstStyle/>
                    <a:p>
                      <a:pPr defTabSz="914400">
                        <a:tabLst>
                          <a:tab pos="1663700" algn="l"/>
                        </a:tabLst>
                      </a:pPr>
                      <a:r>
                        <a:rPr sz="1400"/>
                        <a:t>Must Have</a:t>
                      </a:r>
                    </a:p>
                  </a:txBody>
                  <a:tcPr marL="50800" marR="50800" marT="50800" marB="50800" anchor="ctr" anchorCtr="0" horzOverflow="overflow">
                    <a:lnL w="12700">
                      <a:solidFill>
                        <a:srgbClr val="000000"/>
                      </a:solidFill>
                      <a:miter lim="400000"/>
                    </a:lnL>
                  </a:tcPr>
                </a:tc>
                <a:tc hMerge="1">
                  <a:tcPr/>
                </a:tc>
                <a:tc hMerge="1">
                  <a:tcPr/>
                </a:tc>
                <a:tc hMerge="1">
                  <a:tcPr/>
                </a:tc>
                <a:tc hMerge="1">
                  <a:tcPr/>
                </a:tc>
                <a:tc hMerge="1">
                  <a:tcPr/>
                </a:tc>
                <a:tc hMerge="1">
                  <a:tcPr/>
                </a:tc>
                <a:tc hMerge="1">
                  <a:tcPr/>
                </a:tc>
                <a:tc hMerge="1">
                  <a:tcPr/>
                </a:tc>
                <a:tc hMerge="1">
                  <a:tcPr/>
                </a:tc>
                <a:tc hMerge="1">
                  <a:tcPr/>
                </a:tc>
                <a:tc gridSpan="9">
                  <a:txBody>
                    <a:bodyPr/>
                    <a:lstStyle/>
                    <a:p>
                      <a:pPr defTabSz="914400">
                        <a:tabLst>
                          <a:tab pos="1663700" algn="l"/>
                        </a:tabLst>
                      </a:pPr>
                      <a:r>
                        <a:rPr sz="1400"/>
                        <a:t>Nice to Have</a:t>
                      </a:r>
                    </a:p>
                  </a:txBody>
                  <a:tcPr marL="50800" marR="50800" marT="50800" marB="50800" anchor="ctr" anchorCtr="0" horzOverflow="overflow"/>
                </a:tc>
                <a:tc hMerge="1">
                  <a:tcPr/>
                </a:tc>
                <a:tc hMerge="1">
                  <a:tcPr/>
                </a:tc>
                <a:tc hMerge="1">
                  <a:tcPr/>
                </a:tc>
                <a:tc hMerge="1">
                  <a:tcPr/>
                </a:tc>
                <a:tc hMerge="1">
                  <a:tcPr/>
                </a:tc>
                <a:tc hMerge="1">
                  <a:tcPr/>
                </a:tc>
                <a:tc hMerge="1">
                  <a:tcPr/>
                </a:tc>
                <a:tc hMerge="1">
                  <a:tcPr/>
                </a:tc>
                <a:tc vMerge="1">
                  <a:tcPr/>
                </a:tc>
                <a:tc vMerge="1">
                  <a:tcPr/>
                </a:tc>
                <a:tc vMerge="1">
                  <a:tcPr/>
                </a:tc>
                <a:tc vMerge="1">
                  <a:tcPr/>
                </a:tc>
                <a:tc vMerge="1">
                  <a:tcPr/>
                </a:tc>
              </a:tr>
              <a:tr h="298255">
                <a:tc>
                  <a:txBody>
                    <a:bodyPr/>
                    <a:lstStyle/>
                    <a:p>
                      <a:pPr algn="l" defTabSz="457200">
                        <a:defRPr b="0"/>
                      </a:pPr>
                      <a:r>
                        <a:rPr sz="1400"/>
                        <a:t>Amphenol</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17.25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Capable vendor that needs conveyor experience.</a:t>
                      </a:r>
                    </a:p>
                  </a:txBody>
                  <a:tcPr marL="50800" marR="50800" marT="50800" marB="50800" anchor="ctr" anchorCtr="0" horzOverflow="overflow"/>
                </a:tc>
              </a:tr>
              <a:tr h="310420">
                <a:tc>
                  <a:txBody>
                    <a:bodyPr/>
                    <a:lstStyle/>
                    <a:p>
                      <a:pPr algn="l" defTabSz="457200">
                        <a:defRPr b="0"/>
                      </a:pPr>
                      <a:r>
                        <a:rPr sz="1400"/>
                        <a:t>Averna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17</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SI phased out - Can’t meet MP price targets</a:t>
                      </a:r>
                    </a:p>
                  </a:txBody>
                  <a:tcPr marL="50800" marR="50800" marT="50800" marB="50800" anchor="ctr" anchorCtr="0" horzOverflow="overflow"/>
                </a:tc>
              </a:tr>
              <a:tr h="310420">
                <a:tc>
                  <a:txBody>
                    <a:bodyPr/>
                    <a:lstStyle/>
                    <a:p>
                      <a:pPr algn="l" defTabSz="457200">
                        <a:defRPr b="0"/>
                      </a:pPr>
                      <a:r>
                        <a:rPr sz="1400"/>
                        <a:t>SPEA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15.75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Previous HWTE SI, strong technical, scaling TBC.</a:t>
                      </a:r>
                    </a:p>
                  </a:txBody>
                  <a:tcPr marL="50800" marR="50800" marT="50800" marB="50800" anchor="ctr" anchorCtr="0" horzOverflow="overflow"/>
                </a:tc>
              </a:tr>
              <a:tr h="298255">
                <a:tc>
                  <a:txBody>
                    <a:bodyPr/>
                    <a:lstStyle/>
                    <a:p>
                      <a:pPr algn="l" defTabSz="457200">
                        <a:defRPr b="0"/>
                      </a:pPr>
                      <a:r>
                        <a:rPr sz="1400"/>
                        <a:t>HVS</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Not qualified for NPI, focused on B798.</a:t>
                      </a:r>
                    </a:p>
                  </a:txBody>
                  <a:tcPr marL="50800" marR="50800" marT="50800" marB="50800" anchor="ctr" anchorCtr="0" horzOverflow="overflow"/>
                </a:tc>
              </a:tr>
              <a:tr h="298255">
                <a:tc>
                  <a:txBody>
                    <a:bodyPr/>
                    <a:lstStyle/>
                    <a:p>
                      <a:pPr algn="l" defTabSz="457200">
                        <a:defRPr b="0"/>
                      </a:pPr>
                      <a:r>
                        <a:rPr sz="1400"/>
                        <a:t>JLK</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Bandwidth issues, but capable. Did partial MP V68.</a:t>
                      </a:r>
                    </a:p>
                  </a:txBody>
                  <a:tcPr marL="50800" marR="50800" marT="50800" marB="50800" anchor="ctr" anchorCtr="0" horzOverflow="overflow"/>
                </a:tc>
              </a:tr>
              <a:tr h="294367">
                <a:tc>
                  <a:txBody>
                    <a:bodyPr/>
                    <a:lstStyle/>
                    <a:p>
                      <a:pPr algn="l" defTabSz="457200">
                        <a:defRPr b="0"/>
                      </a:pPr>
                      <a:r>
                        <a:rPr sz="1400"/>
                        <a:t>PRM</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FACT conveyor experience, but lower potential (IN)</a:t>
                      </a:r>
                    </a:p>
                  </a:txBody>
                  <a:tcPr marL="50800" marR="50800" marT="50800" marB="50800" anchor="ctr" anchorCtr="0" horzOverflow="overflow"/>
                </a:tc>
              </a:tr>
              <a:tr h="298255">
                <a:tc>
                  <a:txBody>
                    <a:bodyPr/>
                    <a:lstStyle/>
                    <a:p>
                      <a:pPr algn="l" defTabSz="457200">
                        <a:defRPr b="0"/>
                      </a:pPr>
                      <a:r>
                        <a:rPr sz="1400"/>
                        <a:t>Cencorp</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13.75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Only viable technical SI given design maturity</a:t>
                      </a:r>
                    </a:p>
                  </a:txBody>
                  <a:tcPr marL="50800" marR="50800" marT="50800" marB="50800" anchor="ctr" anchorCtr="0" horzOverflow="overflow"/>
                </a:tc>
              </a:tr>
              <a:tr h="310420">
                <a:tc>
                  <a:txBody>
                    <a:bodyPr/>
                    <a:lstStyle/>
                    <a:p>
                      <a:pPr algn="l" defTabSz="457200">
                        <a:defRPr b="0"/>
                      </a:pPr>
                      <a:r>
                        <a:rPr sz="1400"/>
                        <a:t>Innorev</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11.75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Not qualified for NPI, needs a shadow set</a:t>
                      </a:r>
                    </a:p>
                  </a:txBody>
                  <a:tcPr marL="50800" marR="50800" marT="50800" marB="50800" anchor="ctr" anchorCtr="0" horzOverflow="overflow"/>
                </a:tc>
              </a:tr>
              <a:tr h="294367">
                <a:tc>
                  <a:txBody>
                    <a:bodyPr/>
                    <a:lstStyle/>
                    <a:p>
                      <a:pPr algn="l" defTabSz="457200">
                        <a:defRPr b="0"/>
                      </a:pPr>
                      <a:r>
                        <a:rPr sz="1400"/>
                        <a:t>Pentamaster</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11.5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Bandwidth/performance issues, skip for now</a:t>
                      </a:r>
                    </a:p>
                  </a:txBody>
                  <a:tcPr marL="50800" marR="50800" marT="50800" marB="50800" anchor="ctr" anchorCtr="0" horzOverflow="overflow"/>
                </a:tc>
              </a:tr>
              <a:tr h="321622">
                <a:tc>
                  <a:txBody>
                    <a:bodyPr/>
                    <a:lstStyle/>
                    <a:p>
                      <a:pPr algn="l" defTabSz="457200">
                        <a:defRPr b="0"/>
                      </a:pPr>
                      <a:r>
                        <a:rPr sz="1400"/>
                        <a:t>IVD</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10.25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Not qualified for NPI, needs a shadow set</a:t>
                      </a:r>
                    </a:p>
                  </a:txBody>
                  <a:tcPr marL="50800" marR="50800" marT="50800" marB="50800" anchor="ctr" anchorCtr="0" horzOverflow="overflow"/>
                </a:tc>
              </a:tr>
              <a:tr h="321622">
                <a:tc>
                  <a:txBody>
                    <a:bodyPr/>
                    <a:lstStyle/>
                    <a:p>
                      <a:pPr algn="l" defTabSz="457200">
                        <a:defRPr b="0"/>
                      </a:pPr>
                      <a:r>
                        <a:rPr sz="1400"/>
                        <a:t>VVDN</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9.5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Needs shadow set to qualify</a:t>
                      </a:r>
                    </a:p>
                  </a:txBody>
                  <a:tcPr marL="50800" marR="50800" marT="50800" marB="50800" anchor="ctr" anchorCtr="0" horzOverflow="overflow"/>
                </a:tc>
              </a:tr>
              <a:tr h="294367">
                <a:tc>
                  <a:txBody>
                    <a:bodyPr/>
                    <a:lstStyle/>
                    <a:p>
                      <a:pPr algn="l" defTabSz="457200">
                        <a:defRPr b="0"/>
                      </a:pPr>
                      <a:r>
                        <a:rPr sz="1400"/>
                        <a:t>Accurate</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8</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Not a conveyor-capable SI</a:t>
                      </a:r>
                    </a:p>
                  </a:txBody>
                  <a:tcPr marL="50800" marR="50800" marT="50800" marB="50800" anchor="ctr" anchorCtr="0" horzOverflow="overflow"/>
                </a:tc>
              </a:tr>
              <a:tr h="321622">
                <a:tc>
                  <a:txBody>
                    <a:bodyPr/>
                    <a:lstStyle/>
                    <a:p>
                      <a:pPr algn="l" defTabSz="457200">
                        <a:defRPr b="0"/>
                      </a:pPr>
                      <a:r>
                        <a:rPr sz="1400"/>
                        <a:t>SFO</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7</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TTM NPI performance —&gt; limited eng learnings BW</a:t>
                      </a:r>
                    </a:p>
                  </a:txBody>
                  <a:tcPr marL="50800" marR="50800" marT="50800" marB="50800" anchor="ctr" anchorCtr="0" horzOverflow="overflow"/>
                </a:tc>
              </a:tr>
              <a:tr h="310420">
                <a:tc>
                  <a:txBody>
                    <a:bodyPr/>
                    <a:lstStyle/>
                    <a:p>
                      <a:pPr algn="l" defTabSz="457200">
                        <a:defRPr b="0"/>
                      </a:pPr>
                      <a:r>
                        <a:rPr sz="1400"/>
                        <a:t>Anora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6</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Low priority, can revisit if other choices drop</a:t>
                      </a:r>
                    </a:p>
                  </a:txBody>
                  <a:tcPr marL="50800" marR="50800" marT="50800" marB="50800" anchor="ctr" anchorCtr="0" horzOverflow="overflow"/>
                </a:tc>
              </a:tr>
              <a:tr h="294367">
                <a:tc>
                  <a:txBody>
                    <a:bodyPr/>
                    <a:lstStyle/>
                    <a:p>
                      <a:pPr algn="l" defTabSz="457200">
                        <a:defRPr b="0"/>
                      </a:pPr>
                      <a:r>
                        <a:rPr sz="1400"/>
                        <a:t>Stiwa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5.5</a:t>
                      </a:r>
                    </a:p>
                  </a:txBody>
                  <a:tcPr marL="63500" marR="63500" marT="0" marB="0" anchor="ctr" anchorCtr="0" horzOverflow="overflow"/>
                </a:tc>
                <a:tc>
                  <a:txBody>
                    <a:bodyPr/>
                    <a:lstStyle/>
                    <a:p>
                      <a:pPr defTabSz="457200">
                        <a:defRPr sz="1600">
                          <a:latin typeface="Helvetica"/>
                          <a:ea typeface="Helvetica"/>
                          <a:cs typeface="Helvetica"/>
                          <a:sym typeface="Helvetica"/>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Occupied on AE projects; declining RFPs</a:t>
                      </a:r>
                    </a:p>
                  </a:txBody>
                  <a:tcPr marL="50800" marR="50800" marT="50800" marB="50800" anchor="ctr" anchorCtr="0" horzOverflow="overflow"/>
                </a:tc>
              </a:tr>
              <a:tr h="310420">
                <a:tc>
                  <a:txBody>
                    <a:bodyPr/>
                    <a:lstStyle/>
                    <a:p>
                      <a:pPr algn="l" defTabSz="457200">
                        <a:defRPr b="0"/>
                      </a:pPr>
                      <a:r>
                        <a:rPr sz="1400"/>
                        <a:t>Zeiss</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5</a:t>
                      </a:r>
                    </a:p>
                  </a:txBody>
                  <a:tcPr marL="63500" marR="63500" marT="0" marB="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Engaged on VG; Commercially not competitive</a:t>
                      </a:r>
                    </a:p>
                  </a:txBody>
                  <a:tcPr marL="50800" marR="50800" marT="50800" marB="50800" anchor="ctr" anchorCtr="0" horzOverflow="overflow"/>
                </a:tc>
              </a:tr>
              <a:tr h="294367">
                <a:tc>
                  <a:txBody>
                    <a:bodyPr/>
                    <a:lstStyle/>
                    <a:p>
                      <a:pPr algn="l" defTabSz="457200">
                        <a:defRPr b="0"/>
                      </a:pPr>
                      <a:r>
                        <a:rPr sz="1400"/>
                        <a:t>ATS</a:t>
                      </a:r>
                    </a:p>
                  </a:txBody>
                  <a:tcPr marL="63500" marR="63500" marT="0" marB="0" anchor="ctr" anchorCtr="0" horzOverflow="overflow">
                    <a:lnR w="12700">
                      <a:solidFill>
                        <a:srgbClr val="000000"/>
                      </a:solidFill>
                      <a:miter lim="400000"/>
                    </a:lnR>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lnL w="12700">
                      <a:solidFill>
                        <a:srgbClr val="000000"/>
                      </a:solidFill>
                      <a:miter lim="400000"/>
                    </a:ln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defTabSz="914400">
                        <a:defRPr sz="1600"/>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Gated by GSM OK2Engage feedback</a:t>
                      </a:r>
                    </a:p>
                  </a:txBody>
                  <a:tcPr marL="50800" marR="50800" marT="50800" marB="50800" anchor="ctr" anchorCtr="0" horzOverflow="overflow"/>
                </a:tc>
              </a:tr>
              <a:tr h="310420">
                <a:tc>
                  <a:txBody>
                    <a:bodyPr/>
                    <a:lstStyle/>
                    <a:p>
                      <a:pPr algn="l" defTabSz="457200">
                        <a:defRPr b="0"/>
                      </a:pPr>
                      <a:r>
                        <a:rPr sz="1400"/>
                        <a:t>AIR</a:t>
                      </a:r>
                    </a:p>
                  </a:txBody>
                  <a:tcPr marL="63500" marR="63500" marT="0" marB="0" anchor="ctr" anchorCtr="0" horzOverflow="overflow">
                    <a:lnR w="12700">
                      <a:solidFill>
                        <a:srgbClr val="000000"/>
                      </a:solidFill>
                      <a:miter lim="400000"/>
                    </a:lnR>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lnL w="12700">
                      <a:solidFill>
                        <a:srgbClr val="000000"/>
                      </a:solidFill>
                      <a:miter lim="400000"/>
                    </a:lnL>
                    <a:solidFill>
                      <a:srgbClr val="D5D5D5"/>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Currently refusing to sign EDPA</a:t>
                      </a:r>
                    </a:p>
                  </a:txBody>
                  <a:tcPr marL="50800" marR="50800" marT="50800" marB="50800" anchor="ctr" anchorCtr="0" horzOverflow="overflow"/>
                </a:tc>
              </a:tr>
              <a:tr h="310420">
                <a:tc>
                  <a:txBody>
                    <a:bodyPr/>
                    <a:lstStyle/>
                    <a:p>
                      <a:pPr algn="l" defTabSz="457200">
                        <a:defRPr b="0"/>
                      </a:pPr>
                      <a:r>
                        <a:rPr sz="1400"/>
                        <a:t>Zetwerk</a:t>
                      </a:r>
                    </a:p>
                  </a:txBody>
                  <a:tcPr marL="63500" marR="63500" marT="0" marB="0" anchor="ctr" anchorCtr="0" horzOverflow="overflow">
                    <a:lnR w="12700">
                      <a:solidFill>
                        <a:srgbClr val="000000"/>
                      </a:solidFill>
                      <a:miter lim="400000"/>
                    </a:lnR>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lnL w="12700">
                      <a:solidFill>
                        <a:srgbClr val="000000"/>
                      </a:solidFill>
                      <a:miter lim="400000"/>
                    </a:ln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Legal docs still under discussion</a:t>
                      </a:r>
                    </a:p>
                  </a:txBody>
                  <a:tcPr marL="50800" marR="50800" marT="50800" marB="50800" anchor="ctr" anchorCtr="0" horzOverflow="overflow"/>
                </a:tc>
              </a:tr>
            </a:tbl>
          </a:graphicData>
        </a:graphic>
      </p:graphicFrame>
      <p:graphicFrame>
        <p:nvGraphicFramePr>
          <p:cNvPr id="200" name="Table 1-1-1"/>
          <p:cNvGraphicFramePr/>
          <p:nvPr/>
        </p:nvGraphicFramePr>
        <p:xfrm>
          <a:off x="579693" y="14402765"/>
          <a:ext cx="23886323" cy="192562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407840"/>
                <a:gridCol w="711620"/>
                <a:gridCol w="711620"/>
                <a:gridCol w="711620"/>
                <a:gridCol w="11176846"/>
                <a:gridCol w="3577479"/>
                <a:gridCol w="2833636"/>
                <a:gridCol w="2742956"/>
              </a:tblGrid>
              <a:tr h="273274">
                <a:tc rowSpan="2">
                  <a:txBody>
                    <a:bodyPr/>
                    <a:lstStyle/>
                    <a:p>
                      <a:pPr algn="l" defTabSz="457200"/>
                      <a:r>
                        <a:rPr b="1" sz="1600"/>
                        <a:t>Name</a:t>
                      </a:r>
                    </a:p>
                  </a:txBody>
                  <a:tcPr marL="63500" marR="63500" marT="0" marB="0" anchor="ctr" anchorCtr="0" horzOverflow="overflow"/>
                </a:tc>
                <a:tc gridSpan="3">
                  <a:txBody>
                    <a:bodyPr/>
                    <a:lstStyle/>
                    <a:p>
                      <a:pPr defTabSz="457200"/>
                      <a:r>
                        <a:rPr b="1" sz="1600"/>
                        <a:t>Go - No Go Rating</a:t>
                      </a:r>
                    </a:p>
                  </a:txBody>
                  <a:tcPr marL="63500" marR="63500" marT="0" marB="0" anchor="ctr" anchorCtr="0" horzOverflow="overflow"/>
                </a:tc>
                <a:tc hMerge="1">
                  <a:tcPr/>
                </a:tc>
                <a:tc hMerge="1">
                  <a:tcPr/>
                </a:tc>
                <a:tc rowSpan="2">
                  <a:txBody>
                    <a:bodyPr/>
                    <a:lstStyle/>
                    <a:p>
                      <a:pPr algn="l" defTabSz="457200"/>
                      <a:r>
                        <a:rPr b="1" sz="1600"/>
                        <a:t>Rationale</a:t>
                      </a:r>
                    </a:p>
                  </a:txBody>
                  <a:tcPr marL="63500" marR="63500" marT="0" marB="0" anchor="ctr" anchorCtr="0" horzOverflow="overflow"/>
                </a:tc>
                <a:tc gridSpan="3">
                  <a:txBody>
                    <a:bodyPr/>
                    <a:lstStyle/>
                    <a:p>
                      <a:pPr defTabSz="457200"/>
                      <a:r>
                        <a:rPr b="1" sz="1600"/>
                        <a:t>Long-Term SI Direction (Draft, subject to change. 2026 Qual sets may be)</a:t>
                      </a:r>
                    </a:p>
                  </a:txBody>
                  <a:tcPr marL="63500" marR="63500" marT="0" marB="0" anchor="ctr" anchorCtr="0" horzOverflow="overflow"/>
                </a:tc>
                <a:tc hMerge="1">
                  <a:tcPr/>
                </a:tc>
                <a:tc hMerge="1">
                  <a:tcPr/>
                </a:tc>
              </a:tr>
              <a:tr h="273274">
                <a:tc vMerge="1">
                  <a:tcPr/>
                </a:tc>
                <a:tc>
                  <a:txBody>
                    <a:bodyPr/>
                    <a:lstStyle/>
                    <a:p>
                      <a:pPr defTabSz="457200"/>
                      <a:r>
                        <a:rPr sz="1300"/>
                        <a:t>GSSM</a:t>
                      </a:r>
                    </a:p>
                  </a:txBody>
                  <a:tcPr marL="63500" marR="63500" marT="0" marB="0" anchor="ctr" anchorCtr="0" horzOverflow="overflow"/>
                </a:tc>
                <a:tc>
                  <a:txBody>
                    <a:bodyPr/>
                    <a:lstStyle/>
                    <a:p>
                      <a:pPr defTabSz="457200"/>
                      <a:r>
                        <a:rPr sz="1300"/>
                        <a:t>HWTE</a:t>
                      </a:r>
                    </a:p>
                  </a:txBody>
                  <a:tcPr marL="63500" marR="63500" marT="0" marB="0" anchor="ctr" anchorCtr="0" horzOverflow="overflow"/>
                </a:tc>
                <a:tc>
                  <a:txBody>
                    <a:bodyPr/>
                    <a:lstStyle/>
                    <a:p>
                      <a:pPr defTabSz="457200"/>
                      <a:r>
                        <a:rPr sz="1300"/>
                        <a:t>OpsTE</a:t>
                      </a:r>
                    </a:p>
                  </a:txBody>
                  <a:tcPr marL="63500" marR="63500" marT="0" marB="0" anchor="ctr" anchorCtr="0" horzOverflow="overflow"/>
                </a:tc>
                <a:tc vMerge="1">
                  <a:tcPr/>
                </a:tc>
                <a:tc>
                  <a:txBody>
                    <a:bodyPr/>
                    <a:lstStyle/>
                    <a:p>
                      <a:pPr defTabSz="457200"/>
                      <a:r>
                        <a:rPr b="1" sz="1600"/>
                        <a:t>2026</a:t>
                      </a:r>
                    </a:p>
                  </a:txBody>
                  <a:tcPr marL="63500" marR="63500" marT="0" marB="0" anchor="ctr" anchorCtr="0" horzOverflow="overflow"/>
                </a:tc>
                <a:tc>
                  <a:txBody>
                    <a:bodyPr/>
                    <a:lstStyle/>
                    <a:p>
                      <a:pPr defTabSz="457200"/>
                      <a:r>
                        <a:rPr b="1" sz="1600"/>
                        <a:t>2027</a:t>
                      </a:r>
                    </a:p>
                  </a:txBody>
                  <a:tcPr marL="63500" marR="63500" marT="0" marB="0" anchor="ctr" anchorCtr="0" horzOverflow="overflow"/>
                </a:tc>
                <a:tc>
                  <a:txBody>
                    <a:bodyPr/>
                    <a:lstStyle/>
                    <a:p>
                      <a:pPr defTabSz="457200"/>
                      <a:r>
                        <a:rPr b="1" sz="1600"/>
                        <a:t>2028</a:t>
                      </a:r>
                    </a:p>
                  </a:txBody>
                  <a:tcPr marL="63500" marR="63500" marT="0" marB="0" anchor="ctr" anchorCtr="0" horzOverflow="overflow"/>
                </a:tc>
              </a:tr>
              <a:tr h="273274">
                <a:tc>
                  <a:txBody>
                    <a:bodyPr/>
                    <a:lstStyle/>
                    <a:p>
                      <a:pPr algn="l" defTabSz="457200"/>
                      <a:r>
                        <a:rPr sz="1600"/>
                        <a:t>PRM</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algn="l" defTabSz="457200"/>
                      <a:r>
                        <a:rPr sz="1600"/>
                        <a:t>Deep FACT/VENT conveyor experience, design not mature. Knows NPI dev but some scaling concerns.</a:t>
                      </a:r>
                    </a:p>
                  </a:txBody>
                  <a:tcPr marL="63500" marR="63500" marT="0" marB="0" anchor="ctr" anchorCtr="0" horzOverflow="overflow"/>
                </a:tc>
                <a:tc>
                  <a:txBody>
                    <a:bodyPr/>
                    <a:lstStyle/>
                    <a:p>
                      <a:pPr algn="l" defTabSz="457200"/>
                      <a:r>
                        <a:rPr sz="1200"/>
                        <a:t>TBC</a:t>
                      </a:r>
                    </a:p>
                  </a:txBody>
                  <a:tcPr marL="63500" marR="63500" marT="0" marB="0" anchor="ctr" anchorCtr="0" horzOverflow="overflow"/>
                </a:tc>
                <a:tc>
                  <a:txBody>
                    <a:bodyPr/>
                    <a:lstStyle/>
                    <a:p>
                      <a:pPr algn="l" defTabSz="457200">
                        <a:defRPr sz="1200"/>
                      </a:pP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Amphenol</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Proven SI. CN and TH-based production. Good conveyor experience opt’y if willing to be a long-term partner.</a:t>
                      </a:r>
                    </a:p>
                  </a:txBody>
                  <a:tcPr marL="63500" marR="63500" marT="0" marB="0" anchor="ctr" anchorCtr="0" horzOverflow="overflow"/>
                </a:tc>
                <a:tc>
                  <a:txBody>
                    <a:bodyPr/>
                    <a:lstStyle/>
                    <a:p>
                      <a:pPr algn="l" defTabSz="457200"/>
                      <a:r>
                        <a:rPr sz="1200"/>
                        <a:t>SeaSalt MP, iPad NPI, niche stations</a:t>
                      </a:r>
                    </a:p>
                  </a:txBody>
                  <a:tcPr marL="63500" marR="63500" marT="0" marB="0" anchor="ctr" anchorCtr="0" horzOverflow="overflow"/>
                </a:tc>
                <a:tc>
                  <a:txBody>
                    <a:bodyPr/>
                    <a:lstStyle/>
                    <a:p>
                      <a:pPr algn="l" defTabSz="457200"/>
                      <a:r>
                        <a:rPr sz="1200"/>
                        <a:t>Pad, Portables</a:t>
                      </a: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Cencorp</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algn="l" defTabSz="457200"/>
                      <a:r>
                        <a:rPr sz="1600"/>
                        <a:t>Proven conveyor SI. CN/VN support capability.</a:t>
                      </a:r>
                    </a:p>
                  </a:txBody>
                  <a:tcPr marL="63500" marR="63500" marT="0" marB="0" anchor="ctr" anchorCtr="0" horzOverflow="overflow"/>
                </a:tc>
                <a:tc>
                  <a:txBody>
                    <a:bodyPr/>
                    <a:lstStyle/>
                    <a:p>
                      <a:pPr algn="l" defTabSz="457200"/>
                      <a:r>
                        <a:rPr sz="1200"/>
                        <a:t>iPad NPI</a:t>
                      </a:r>
                    </a:p>
                  </a:txBody>
                  <a:tcPr marL="63500" marR="63500" marT="0" marB="0" anchor="ctr" anchorCtr="0" horzOverflow="overflow"/>
                </a:tc>
                <a:tc>
                  <a:txBody>
                    <a:bodyPr/>
                    <a:lstStyle/>
                    <a:p>
                      <a:pPr algn="l" defTabSz="457200"/>
                      <a:r>
                        <a:rPr sz="1200"/>
                        <a:t>Pad, Portables, Watch, Phone</a:t>
                      </a: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Pentamaster</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Strong automation. Apple ALS module TE equipment experience. Near complete MP project through EIH.</a:t>
                      </a:r>
                    </a:p>
                  </a:txBody>
                  <a:tcPr marL="63500" marR="63500" marT="0" marB="0" anchor="ctr" anchorCtr="0" horzOverflow="overflow"/>
                </a:tc>
                <a:tc>
                  <a:txBody>
                    <a:bodyPr/>
                    <a:lstStyle/>
                    <a:p>
                      <a:pPr algn="l" defTabSz="457200"/>
                      <a:r>
                        <a:rPr sz="1200"/>
                        <a:t>SeaSalt, V7x ALS-P, V7y MP. Simple NPI station</a:t>
                      </a:r>
                    </a:p>
                  </a:txBody>
                  <a:tcPr marL="63500" marR="63500" marT="0" marB="0" anchor="ctr" anchorCtr="0" horzOverflow="overflow"/>
                </a:tc>
                <a:tc gridSpan="2" rowSpan="2">
                  <a:txBody>
                    <a:bodyPr/>
                    <a:lstStyle/>
                    <a:p>
                      <a:pPr algn="l" defTabSz="457200"/>
                      <a:r>
                        <a:rPr sz="1200"/>
                        <a:t>Primary allocation to JLK/Hyvision/Amphenol1 of 3 qualified to support following 2026 push. Support remainder of MP/NPI, roll in if one of top 3 falls out.</a:t>
                      </a:r>
                    </a:p>
                  </a:txBody>
                  <a:tcPr marL="63500" marR="63500" marT="0" marB="0" anchor="ctr" anchorCtr="0" horzOverflow="overflow"/>
                </a:tc>
                <a:tc rowSpan="2" hMerge="1">
                  <a:tcPr/>
                </a:tc>
              </a:tr>
              <a:tr h="273274">
                <a:tc>
                  <a:txBody>
                    <a:bodyPr/>
                    <a:lstStyle/>
                    <a:p>
                      <a:pPr algn="l" defTabSz="457200"/>
                      <a:r>
                        <a:rPr sz="1600"/>
                        <a:t>SPEA</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Strong technical, previous Apple experience. Pricing, TH facility capability/readiness for MP TBC.</a:t>
                      </a:r>
                    </a:p>
                  </a:txBody>
                  <a:tcPr marL="63500" marR="63500" marT="0" marB="0" anchor="ctr" anchorCtr="0" horzOverflow="overflow"/>
                </a:tc>
                <a:tc>
                  <a:txBody>
                    <a:bodyPr/>
                    <a:lstStyle/>
                    <a:p>
                      <a:pPr algn="l" defTabSz="457200"/>
                      <a:r>
                        <a:rPr sz="1200"/>
                        <a:t>SeaSalt MP, Helios SS, iPad NPI.</a:t>
                      </a:r>
                    </a:p>
                  </a:txBody>
                  <a:tcPr marL="63500" marR="63500" marT="0" marB="0" anchor="ctr" anchorCtr="0" horzOverflow="overflow"/>
                </a:tc>
                <a:tc gridSpan="2" vMerge="1">
                  <a:tcPr/>
                </a:tc>
                <a:tc hMerge="1" vMerge="1">
                  <a:tcPr/>
                </a:tc>
              </a:tr>
            </a:tbl>
          </a:graphicData>
        </a:graphic>
      </p:graphicFrame>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SI Capacity Management | Scorecard - Q181 POC Conveyors - Helios"/>
          <p:cNvSpPr txBox="1"/>
          <p:nvPr/>
        </p:nvSpPr>
        <p:spPr>
          <a:xfrm>
            <a:off x="130137" y="330277"/>
            <a:ext cx="17507633" cy="736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indent="317500" defTabSz="825500">
              <a:lnSpc>
                <a:spcPct val="100000"/>
              </a:lnSpc>
              <a:spcBef>
                <a:spcPts val="0"/>
              </a:spcBef>
              <a:defRPr sz="4200">
                <a:solidFill>
                  <a:srgbClr val="0096FF"/>
                </a:solidFill>
                <a:latin typeface="SF Hello Regular"/>
                <a:ea typeface="SF Hello Regular"/>
                <a:cs typeface="SF Hello Regular"/>
                <a:sym typeface="SF Hello Regular"/>
              </a:defRPr>
            </a:pPr>
            <a:r>
              <a:t>SI Capacity Management </a:t>
            </a:r>
            <a:r>
              <a:rPr>
                <a:solidFill>
                  <a:srgbClr val="444444"/>
                </a:solidFill>
                <a:latin typeface="Helvetica Neue UltraLight"/>
                <a:ea typeface="Helvetica Neue UltraLight"/>
                <a:cs typeface="Helvetica Neue UltraLight"/>
                <a:sym typeface="Helvetica Neue UltraLight"/>
              </a:rPr>
              <a:t>| </a:t>
            </a:r>
            <a:r>
              <a:rPr b="1">
                <a:solidFill>
                  <a:srgbClr val="000000"/>
                </a:solidFill>
                <a:latin typeface="Helvetica"/>
                <a:ea typeface="Helvetica"/>
                <a:cs typeface="Helvetica"/>
                <a:sym typeface="Helvetica"/>
              </a:rPr>
              <a:t>Scorecard - Q181 POC Conveyors - Helios</a:t>
            </a:r>
          </a:p>
        </p:txBody>
      </p:sp>
      <p:graphicFrame>
        <p:nvGraphicFramePr>
          <p:cNvPr id="205" name="Table 1-1-1-1-1-1"/>
          <p:cNvGraphicFramePr/>
          <p:nvPr/>
        </p:nvGraphicFramePr>
        <p:xfrm>
          <a:off x="19700065" y="3246374"/>
          <a:ext cx="4430459" cy="63347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208879"/>
                <a:gridCol w="2208879"/>
              </a:tblGrid>
              <a:tr h="310388">
                <a:tc>
                  <a:txBody>
                    <a:bodyPr/>
                    <a:lstStyle/>
                    <a:p>
                      <a:pPr defTabSz="457200"/>
                      <a:r>
                        <a:rPr sz="2000"/>
                        <a:t>Pass</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53AC79"/>
                    </a:solidFill>
                  </a:tcPr>
                </a:tc>
                <a:tc>
                  <a:txBody>
                    <a:bodyPr/>
                    <a:lstStyle/>
                    <a:p>
                      <a:pPr defTabSz="457200"/>
                      <a:r>
                        <a:rPr sz="2000">
                          <a:solidFill>
                            <a:srgbClr val="929292"/>
                          </a:solidFill>
                        </a:rPr>
                        <a:t>Conditional Pass</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FEF0D6"/>
                    </a:solidFill>
                  </a:tcPr>
                </a:tc>
              </a:tr>
              <a:tr h="310388">
                <a:tc>
                  <a:txBody>
                    <a:bodyPr/>
                    <a:lstStyle/>
                    <a:p>
                      <a:pPr defTabSz="457200"/>
                      <a:r>
                        <a:rPr sz="2000">
                          <a:solidFill>
                            <a:srgbClr val="929292"/>
                          </a:solidFill>
                        </a:rPr>
                        <a:t>Does not Meet</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D5D5D5"/>
                    </a:solidFill>
                  </a:tcPr>
                </a:tc>
                <a:tc>
                  <a:txBody>
                    <a:bodyPr/>
                    <a:lstStyle/>
                    <a:p>
                      <a:pPr defTabSz="457200"/>
                      <a:r>
                        <a:rPr sz="2000">
                          <a:solidFill>
                            <a:srgbClr val="929292"/>
                          </a:solidFill>
                        </a:rPr>
                        <a:t>TBC/NA</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tcPr>
                </a:tc>
              </a:tr>
            </a:tbl>
          </a:graphicData>
        </a:graphic>
      </p:graphicFrame>
      <p:sp>
        <p:nvSpPr>
          <p:cNvPr id="206" name="iPad programs are CN/VN only —&gt; no global SI requirement…"/>
          <p:cNvSpPr txBox="1"/>
          <p:nvPr/>
        </p:nvSpPr>
        <p:spPr>
          <a:xfrm>
            <a:off x="1708572" y="1272539"/>
            <a:ext cx="22064964" cy="150368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iPad programs are CN/VN only —&gt; no global SI requirement</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Helios will have MP (and potentially NPI) in future IN phone programs —&gt; Nice to have a Global SI preparing on this technology early</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iPad Helios station design based on V68 Helios conveyor architecture.</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Vision alignment, probe actuation, and gantry design would carry over, PRM highly preferred for incremental learnings but a qualified SI could *theoretically* learn if it was a must-have</a:t>
            </a:r>
          </a:p>
        </p:txBody>
      </p:sp>
      <p:sp>
        <p:nvSpPr>
          <p:cNvPr id="207" name="Thesis"/>
          <p:cNvSpPr/>
          <p:nvPr/>
        </p:nvSpPr>
        <p:spPr>
          <a:xfrm>
            <a:off x="264846" y="1336039"/>
            <a:ext cx="1270001" cy="2593607"/>
          </a:xfrm>
          <a:prstGeom prst="roundRect">
            <a:avLst>
              <a:gd name="adj" fmla="val 15000"/>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latin typeface="Helvetica Neue Medium"/>
                <a:ea typeface="Helvetica Neue Medium"/>
                <a:cs typeface="Helvetica Neue Medium"/>
                <a:sym typeface="Helvetica Neue Medium"/>
              </a:defRPr>
            </a:lvl1pPr>
          </a:lstStyle>
          <a:p>
            <a:pPr/>
            <a:r>
              <a:t>Thesis</a:t>
            </a:r>
          </a:p>
        </p:txBody>
      </p:sp>
      <p:sp>
        <p:nvSpPr>
          <p:cNvPr id="208" name="Short List"/>
          <p:cNvSpPr/>
          <p:nvPr/>
        </p:nvSpPr>
        <p:spPr>
          <a:xfrm>
            <a:off x="252146" y="11520091"/>
            <a:ext cx="1270001" cy="2025214"/>
          </a:xfrm>
          <a:prstGeom prst="roundRect">
            <a:avLst>
              <a:gd name="adj" fmla="val 15000"/>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latin typeface="Helvetica Neue Medium"/>
                <a:ea typeface="Helvetica Neue Medium"/>
                <a:cs typeface="Helvetica Neue Medium"/>
                <a:sym typeface="Helvetica Neue Medium"/>
              </a:defRPr>
            </a:lvl1pPr>
          </a:lstStyle>
          <a:p>
            <a:pPr/>
            <a:r>
              <a:t>Short List</a:t>
            </a:r>
          </a:p>
        </p:txBody>
      </p:sp>
      <p:graphicFrame>
        <p:nvGraphicFramePr>
          <p:cNvPr id="209" name="Table 1-1"/>
          <p:cNvGraphicFramePr/>
          <p:nvPr/>
        </p:nvGraphicFramePr>
        <p:xfrm>
          <a:off x="1622519" y="11576236"/>
          <a:ext cx="22496686" cy="192562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530229"/>
                <a:gridCol w="908825"/>
                <a:gridCol w="908825"/>
                <a:gridCol w="908825"/>
                <a:gridCol w="908825"/>
                <a:gridCol w="908825"/>
                <a:gridCol w="908825"/>
                <a:gridCol w="15500804"/>
              </a:tblGrid>
              <a:tr h="191292">
                <a:tc rowSpan="2">
                  <a:txBody>
                    <a:bodyPr/>
                    <a:lstStyle/>
                    <a:p>
                      <a:pPr algn="l" defTabSz="457200"/>
                      <a:r>
                        <a:rPr b="1" sz="1600"/>
                        <a:t>Name</a:t>
                      </a:r>
                    </a:p>
                  </a:txBody>
                  <a:tcPr marL="63500" marR="63500" marT="0" marB="0" anchor="ctr" anchorCtr="0" horzOverflow="overflow"/>
                </a:tc>
                <a:tc gridSpan="3">
                  <a:txBody>
                    <a:bodyPr/>
                    <a:lstStyle/>
                    <a:p>
                      <a:pPr defTabSz="457200"/>
                      <a:r>
                        <a:rPr b="1" sz="1600"/>
                        <a:t>Go-No Go - POC/NPI</a:t>
                      </a:r>
                    </a:p>
                  </a:txBody>
                  <a:tcPr marL="63500" marR="63500" marT="0" marB="0" anchor="ctr" anchorCtr="0" horzOverflow="overflow"/>
                </a:tc>
                <a:tc hMerge="1">
                  <a:tcPr/>
                </a:tc>
                <a:tc hMerge="1">
                  <a:tcPr/>
                </a:tc>
                <a:tc gridSpan="3">
                  <a:txBody>
                    <a:bodyPr/>
                    <a:lstStyle/>
                    <a:p>
                      <a:pPr defTabSz="457200"/>
                      <a:r>
                        <a:rPr b="1" sz="1600"/>
                        <a:t>Go-No Go - MP</a:t>
                      </a:r>
                    </a:p>
                  </a:txBody>
                  <a:tcPr marL="63500" marR="63500" marT="0" marB="0" anchor="ctr" anchorCtr="0" horzOverflow="overflow"/>
                </a:tc>
                <a:tc hMerge="1">
                  <a:tcPr/>
                </a:tc>
                <a:tc hMerge="1">
                  <a:tcPr/>
                </a:tc>
                <a:tc rowSpan="2">
                  <a:txBody>
                    <a:bodyPr/>
                    <a:lstStyle/>
                    <a:p>
                      <a:pPr algn="l" defTabSz="457200"/>
                      <a:r>
                        <a:rPr b="1" sz="1600"/>
                        <a:t>Rationale</a:t>
                      </a:r>
                    </a:p>
                  </a:txBody>
                  <a:tcPr marL="63500" marR="63500" marT="0" marB="0" anchor="ctr" anchorCtr="0" horzOverflow="overflow"/>
                </a:tc>
              </a:tr>
              <a:tr h="191292">
                <a:tc vMerge="1">
                  <a:tcPr/>
                </a:tc>
                <a:tc>
                  <a:txBody>
                    <a:bodyPr/>
                    <a:lstStyle/>
                    <a:p>
                      <a:pPr defTabSz="457200"/>
                      <a:r>
                        <a:rPr sz="1300"/>
                        <a:t>GSSM</a:t>
                      </a:r>
                    </a:p>
                  </a:txBody>
                  <a:tcPr marL="63500" marR="63500" marT="0" marB="0" anchor="ctr" anchorCtr="0" horzOverflow="overflow"/>
                </a:tc>
                <a:tc>
                  <a:txBody>
                    <a:bodyPr/>
                    <a:lstStyle/>
                    <a:p>
                      <a:pPr defTabSz="457200"/>
                      <a:r>
                        <a:rPr sz="1300"/>
                        <a:t>HWTE</a:t>
                      </a:r>
                    </a:p>
                  </a:txBody>
                  <a:tcPr marL="63500" marR="63500" marT="0" marB="0" anchor="ctr" anchorCtr="0" horzOverflow="overflow"/>
                </a:tc>
                <a:tc>
                  <a:txBody>
                    <a:bodyPr/>
                    <a:lstStyle/>
                    <a:p>
                      <a:pPr defTabSz="457200"/>
                      <a:r>
                        <a:rPr sz="1300"/>
                        <a:t>OpsTE</a:t>
                      </a:r>
                    </a:p>
                  </a:txBody>
                  <a:tcPr marL="63500" marR="63500" marT="0" marB="0" anchor="ctr" anchorCtr="0" horzOverflow="overflow"/>
                </a:tc>
                <a:tc>
                  <a:txBody>
                    <a:bodyPr/>
                    <a:lstStyle/>
                    <a:p>
                      <a:pPr defTabSz="457200"/>
                      <a:r>
                        <a:rPr sz="1300"/>
                        <a:t>GSSM</a:t>
                      </a:r>
                    </a:p>
                  </a:txBody>
                  <a:tcPr marL="63500" marR="63500" marT="0" marB="0" anchor="ctr" anchorCtr="0" horzOverflow="overflow"/>
                </a:tc>
                <a:tc>
                  <a:txBody>
                    <a:bodyPr/>
                    <a:lstStyle/>
                    <a:p>
                      <a:pPr defTabSz="457200"/>
                      <a:r>
                        <a:rPr sz="1300"/>
                        <a:t>HWTE</a:t>
                      </a:r>
                    </a:p>
                  </a:txBody>
                  <a:tcPr marL="63500" marR="63500" marT="0" marB="0" anchor="ctr" anchorCtr="0" horzOverflow="overflow"/>
                </a:tc>
                <a:tc>
                  <a:txBody>
                    <a:bodyPr/>
                    <a:lstStyle/>
                    <a:p>
                      <a:pPr defTabSz="457200"/>
                      <a:r>
                        <a:rPr sz="1300"/>
                        <a:t>OpsTE</a:t>
                      </a:r>
                    </a:p>
                  </a:txBody>
                  <a:tcPr marL="63500" marR="63500" marT="0" marB="0" anchor="ctr" anchorCtr="0" horzOverflow="overflow"/>
                </a:tc>
                <a:tc vMerge="1">
                  <a:tcPr/>
                </a:tc>
              </a:tr>
              <a:tr h="191292">
                <a:tc>
                  <a:txBody>
                    <a:bodyPr/>
                    <a:lstStyle/>
                    <a:p>
                      <a:pPr algn="l" defTabSz="457200"/>
                      <a:r>
                        <a:rPr sz="1600"/>
                        <a:t>PRM</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NPI - incumbent designer (Phone), preferred so we can focus on tech challenge. If scaling issues fixed, can continue for MP. Limited upside since they cannot support IN.</a:t>
                      </a:r>
                    </a:p>
                  </a:txBody>
                  <a:tcPr marL="63500" marR="63500" marT="0" marB="0" anchor="ctr" anchorCtr="0" horzOverflow="overflow"/>
                </a:tc>
              </a:tr>
              <a:tr h="191292">
                <a:tc>
                  <a:txBody>
                    <a:bodyPr/>
                    <a:lstStyle/>
                    <a:p>
                      <a:pPr algn="l" defTabSz="457200"/>
                      <a:r>
                        <a:rPr sz="1600"/>
                        <a:t>Cencorp</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NPI - conditional: Proven SI but lacks conveyor qualification. Need to understand capability to address major design opens as part of RFP.</a:t>
                      </a:r>
                    </a:p>
                  </a:txBody>
                  <a:tcPr marL="63500" marR="63500" marT="0" marB="0" anchor="ctr" anchorCtr="0" horzOverflow="overflow"/>
                </a:tc>
              </a:tr>
              <a:tr h="191292">
                <a:tc>
                  <a:txBody>
                    <a:bodyPr/>
                    <a:lstStyle/>
                    <a:p>
                      <a:pPr algn="l" defTabSz="457200"/>
                      <a:r>
                        <a:rPr sz="1600"/>
                        <a:t>Amphenol</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NPI - conditional: Proven SI but lacks conveyor qualification. Need to understand capability to address major design opens as part of RFP.</a:t>
                      </a:r>
                    </a:p>
                  </a:txBody>
                  <a:tcPr marL="63500" marR="63500" marT="0" marB="0" anchor="ctr" anchorCtr="0" horzOverflow="overflow"/>
                </a:tc>
              </a:tr>
              <a:tr h="191292">
                <a:tc>
                  <a:txBody>
                    <a:bodyPr/>
                    <a:lstStyle/>
                    <a:p>
                      <a:pPr algn="l" defTabSz="457200"/>
                      <a:r>
                        <a:rPr sz="1600"/>
                        <a:t>Hyvision</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MP option - assuming they complete B798, they’d be a strong technical SI to support (FACT experience). Can layer in some mini shadow set exercises pre-official KO.</a:t>
                      </a:r>
                    </a:p>
                  </a:txBody>
                  <a:tcPr marL="63500" marR="63500" marT="0" marB="0" anchor="ctr" anchorCtr="0" horzOverflow="overflow"/>
                </a:tc>
              </a:tr>
              <a:tr h="191292">
                <a:tc>
                  <a:txBody>
                    <a:bodyPr/>
                    <a:lstStyle/>
                    <a:p>
                      <a:pPr algn="l" defTabSz="457200"/>
                      <a:r>
                        <a:rPr sz="1600"/>
                        <a:t>SPEA</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iPhone Shadow set + MP option - Strong technical, previous Apple experience. Pricing, TH facility capability/readiness for MP TBC.</a:t>
                      </a:r>
                    </a:p>
                  </a:txBody>
                  <a:tcPr marL="63500" marR="63500" marT="0" marB="0" anchor="ctr" anchorCtr="0" horzOverflow="overflow"/>
                </a:tc>
              </a:tr>
              <a:tr h="191292">
                <a:tc>
                  <a:txBody>
                    <a:bodyPr/>
                    <a:lstStyle/>
                    <a:p>
                      <a:pPr algn="l" defTabSz="457200"/>
                      <a:r>
                        <a:rPr sz="1600"/>
                        <a:t>IVD</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rowSpan="3">
                  <a:txBody>
                    <a:bodyPr/>
                    <a:lstStyle/>
                    <a:p>
                      <a:pPr algn="l" defTabSz="457200"/>
                      <a:r>
                        <a:rPr sz="1500"/>
                        <a:t>iPhone Shadow set + MP option - good opportunity to learn, can support WW (FACT/VENT architecture present on all LOBs)</a:t>
                      </a:r>
                    </a:p>
                  </a:txBody>
                  <a:tcPr marL="63500" marR="63500" marT="0" marB="0" anchor="ctr" anchorCtr="0" horzOverflow="overflow"/>
                </a:tc>
              </a:tr>
              <a:tr h="191292">
                <a:tc>
                  <a:txBody>
                    <a:bodyPr/>
                    <a:lstStyle/>
                    <a:p>
                      <a:pPr algn="l" defTabSz="457200"/>
                      <a:r>
                        <a:rPr sz="1600"/>
                        <a:t>Pentamaster</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vMerge="1">
                  <a:tcPr/>
                </a:tc>
              </a:tr>
              <a:tr h="191292">
                <a:tc>
                  <a:txBody>
                    <a:bodyPr/>
                    <a:lstStyle/>
                    <a:p>
                      <a:pPr algn="l" defTabSz="457200"/>
                      <a:r>
                        <a:rPr sz="1600"/>
                        <a:t>VVDN</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vMerge="1">
                  <a:tcPr/>
                </a:tc>
              </a:tr>
            </a:tbl>
          </a:graphicData>
        </a:graphic>
      </p:graphicFrame>
      <p:graphicFrame>
        <p:nvGraphicFramePr>
          <p:cNvPr id="210" name="Table 1"/>
          <p:cNvGraphicFramePr/>
          <p:nvPr/>
        </p:nvGraphicFramePr>
        <p:xfrm>
          <a:off x="261539" y="4079162"/>
          <a:ext cx="23803973" cy="10107492"/>
        </p:xfrm>
        <a:graphic xmlns:a="http://schemas.openxmlformats.org/drawingml/2006/main">
          <a:graphicData uri="http://schemas.openxmlformats.org/drawingml/2006/table">
            <a:tbl>
              <a:tblPr firstCol="1" firstRow="0" lastCol="0" lastRow="0" bandCol="0" bandRow="0" rtl="0">
                <a:tableStyleId>{4C3C2611-4C71-4FC5-86AE-919BDF0F9419}</a:tableStyleId>
              </a:tblPr>
              <a:tblGrid>
                <a:gridCol w="1230947"/>
                <a:gridCol w="766078"/>
                <a:gridCol w="766078"/>
                <a:gridCol w="766078"/>
                <a:gridCol w="766078"/>
                <a:gridCol w="766078"/>
                <a:gridCol w="766078"/>
                <a:gridCol w="766078"/>
                <a:gridCol w="766078"/>
                <a:gridCol w="766078"/>
                <a:gridCol w="786933"/>
                <a:gridCol w="663146"/>
                <a:gridCol w="848155"/>
                <a:gridCol w="766078"/>
                <a:gridCol w="858823"/>
                <a:gridCol w="858823"/>
                <a:gridCol w="858823"/>
                <a:gridCol w="858823"/>
                <a:gridCol w="640868"/>
                <a:gridCol w="656081"/>
                <a:gridCol w="690258"/>
                <a:gridCol w="1017979"/>
                <a:gridCol w="631900"/>
                <a:gridCol w="586722"/>
                <a:gridCol w="620823"/>
                <a:gridCol w="4391026"/>
              </a:tblGrid>
              <a:tr h="348978">
                <a:tc rowSpan="2">
                  <a:txBody>
                    <a:bodyPr/>
                    <a:lstStyle/>
                    <a:p>
                      <a:pPr defTabSz="914400">
                        <a:tabLst>
                          <a:tab pos="1663700" algn="l"/>
                        </a:tabLst>
                        <a:defRPr b="0"/>
                      </a:pPr>
                      <a:r>
                        <a:rPr b="1" sz="1600"/>
                        <a:t>Criteria</a:t>
                      </a:r>
                    </a:p>
                  </a:txBody>
                  <a:tcPr marL="50800" marR="50800" marT="50800" marB="50800" anchor="ctr" anchorCtr="0" horzOverflow="overflow">
                    <a:lnR w="12700">
                      <a:solidFill>
                        <a:srgbClr val="000000"/>
                      </a:solidFill>
                      <a:miter lim="400000"/>
                    </a:lnR>
                  </a:tcPr>
                </a:tc>
                <a:tc gridSpan="2">
                  <a:txBody>
                    <a:bodyPr/>
                    <a:lstStyle/>
                    <a:p>
                      <a:pPr defTabSz="914400">
                        <a:tabLst>
                          <a:tab pos="1663700" algn="l"/>
                        </a:tabLst>
                      </a:pPr>
                      <a:r>
                        <a:rPr b="1" sz="1600"/>
                        <a:t>OK2 Engage?</a:t>
                      </a:r>
                    </a:p>
                  </a:txBody>
                  <a:tcPr marL="50800" marR="50800" marT="50800" marB="50800" anchor="ctr" anchorCtr="0" horzOverflow="overflow">
                    <a:lnL w="12700">
                      <a:solidFill>
                        <a:srgbClr val="000000"/>
                      </a:solidFill>
                      <a:miter lim="400000"/>
                    </a:lnL>
                  </a:tcPr>
                </a:tc>
                <a:tc hMerge="1">
                  <a:tcPr/>
                </a:tc>
                <a:tc gridSpan="4">
                  <a:txBody>
                    <a:bodyPr/>
                    <a:lstStyle/>
                    <a:p>
                      <a:pPr defTabSz="914400">
                        <a:tabLst>
                          <a:tab pos="1663700" algn="l"/>
                        </a:tabLst>
                      </a:pPr>
                      <a:r>
                        <a:rPr b="1" sz="1300"/>
                        <a:t>Legal/Commercial Operations OK</a:t>
                      </a:r>
                    </a:p>
                  </a:txBody>
                  <a:tcPr marL="50800" marR="50800" marT="50800" marB="50800" anchor="ctr" anchorCtr="0" horzOverflow="overflow"/>
                </a:tc>
                <a:tc hMerge="1">
                  <a:tcPr/>
                </a:tc>
                <a:tc hMerge="1">
                  <a:tcPr/>
                </a:tc>
                <a:tc hMerge="1">
                  <a:tcPr/>
                </a:tc>
                <a:tc gridSpan="3">
                  <a:txBody>
                    <a:bodyPr/>
                    <a:lstStyle/>
                    <a:p>
                      <a:pPr defTabSz="914400">
                        <a:tabLst>
                          <a:tab pos="1663700" algn="l"/>
                        </a:tabLst>
                      </a:pPr>
                      <a:r>
                        <a:rPr b="1" sz="1600"/>
                        <a:t>Infrastructure Audit</a:t>
                      </a:r>
                    </a:p>
                  </a:txBody>
                  <a:tcPr marL="50800" marR="50800" marT="50800" marB="50800" anchor="ctr" anchorCtr="0" horzOverflow="overflow"/>
                </a:tc>
                <a:tc hMerge="1">
                  <a:tcPr/>
                </a:tc>
                <a:tc hMerge="1">
                  <a:tcPr/>
                </a:tc>
                <a:tc>
                  <a:txBody>
                    <a:bodyPr/>
                    <a:lstStyle/>
                    <a:p>
                      <a:pPr defTabSz="914400">
                        <a:tabLst>
                          <a:tab pos="1663700" algn="l"/>
                        </a:tabLst>
                      </a:pPr>
                      <a:r>
                        <a:rPr b="1" sz="900"/>
                        <a:t>Experience</a:t>
                      </a:r>
                    </a:p>
                  </a:txBody>
                  <a:tcPr marL="50800" marR="50800" marT="50800" marB="50800" anchor="ctr" anchorCtr="0" horzOverflow="overflow"/>
                </a:tc>
                <a:tc gridSpan="2">
                  <a:txBody>
                    <a:bodyPr/>
                    <a:lstStyle/>
                    <a:p>
                      <a:pPr defTabSz="914400">
                        <a:tabLst>
                          <a:tab pos="1663700" algn="l"/>
                        </a:tabLst>
                      </a:pPr>
                      <a:r>
                        <a:rPr b="1" sz="1600"/>
                        <a:t>SI Capacity</a:t>
                      </a:r>
                    </a:p>
                  </a:txBody>
                  <a:tcPr marL="50800" marR="50800" marT="50800" marB="50800" anchor="ctr" anchorCtr="0" horzOverflow="overflow"/>
                </a:tc>
                <a:tc hMerge="1">
                  <a:tcPr/>
                </a:tc>
                <a:tc gridSpan="5">
                  <a:txBody>
                    <a:bodyPr/>
                    <a:lstStyle/>
                    <a:p>
                      <a:pPr defTabSz="914400">
                        <a:tabLst>
                          <a:tab pos="1663700" algn="l"/>
                        </a:tabLst>
                      </a:pPr>
                      <a:r>
                        <a:rPr b="1" sz="1600"/>
                        <a:t>Blockers, TTM</a:t>
                      </a:r>
                    </a:p>
                  </a:txBody>
                  <a:tcPr marL="50800" marR="50800" marT="50800" marB="50800" anchor="ctr" anchorCtr="0" horzOverflow="overflow"/>
                </a:tc>
                <a:tc hMerge="1">
                  <a:tcPr/>
                </a:tc>
                <a:tc hMerge="1">
                  <a:tcPr/>
                </a:tc>
                <a:tc hMerge="1">
                  <a:tcPr/>
                </a:tc>
                <a:tc hMerge="1">
                  <a:tcPr/>
                </a:tc>
                <a:tc gridSpan="3">
                  <a:txBody>
                    <a:bodyPr/>
                    <a:lstStyle/>
                    <a:p>
                      <a:pPr defTabSz="914400">
                        <a:tabLst>
                          <a:tab pos="1663700" algn="l"/>
                        </a:tabLst>
                      </a:pPr>
                      <a:r>
                        <a:rPr b="1" sz="1600"/>
                        <a:t>Top SI Potential</a:t>
                      </a:r>
                    </a:p>
                  </a:txBody>
                  <a:tcPr marL="50800" marR="50800" marT="50800" marB="50800" anchor="ctr" anchorCtr="0" horzOverflow="overflow"/>
                </a:tc>
                <a:tc hMerge="1">
                  <a:tcPr/>
                </a:tc>
                <a:tc hMerge="1">
                  <a:tcPr/>
                </a:tc>
                <a:tc rowSpan="4">
                  <a:txBody>
                    <a:bodyPr/>
                    <a:lstStyle/>
                    <a:p>
                      <a:pPr defTabSz="914400">
                        <a:tabLst>
                          <a:tab pos="1663700" algn="l"/>
                        </a:tabLst>
                        <a:defRPr b="1" sz="1400"/>
                      </a:pPr>
                      <a:r>
                        <a:t>Forced Rank </a:t>
                      </a:r>
                    </a:p>
                    <a:p>
                      <a:pPr defTabSz="914400">
                        <a:tabLst>
                          <a:tab pos="1663700" algn="l"/>
                        </a:tabLst>
                        <a:defRPr b="1" sz="1400"/>
                      </a:pPr>
                      <a:r>
                        <a:rPr i="1" sz="1200"/>
                        <a:t>(Un-weighted)</a:t>
                      </a:r>
                    </a:p>
                  </a:txBody>
                  <a:tcPr marL="50800" marR="50800" marT="50800" marB="50800" anchor="ctr" anchorCtr="0" horzOverflow="overflow"/>
                </a:tc>
                <a:tc gridSpan="4">
                  <a:txBody>
                    <a:bodyPr/>
                    <a:lstStyle/>
                    <a:p>
                      <a:pPr defTabSz="914400">
                        <a:tabLst>
                          <a:tab pos="1663700" algn="l"/>
                        </a:tabLst>
                      </a:pPr>
                      <a:r>
                        <a:rPr b="1" sz="1600"/>
                        <a:t>Go-No Go Rating + Rationale</a:t>
                      </a:r>
                    </a:p>
                  </a:txBody>
                  <a:tcPr marL="50800" marR="50800" marT="50800" marB="50800" anchor="ctr" anchorCtr="0" horzOverflow="overflow"/>
                </a:tc>
                <a:tc hMerge="1">
                  <a:tcPr/>
                </a:tc>
                <a:tc hMerge="1">
                  <a:tcPr/>
                </a:tc>
                <a:tc hMerge="1">
                  <a:tcPr/>
                </a:tc>
              </a:tr>
              <a:tr h="492180">
                <a:tc vMerge="1">
                  <a:tcPr/>
                </a:tc>
                <a:tc>
                  <a:txBody>
                    <a:bodyPr/>
                    <a:lstStyle/>
                    <a:p>
                      <a:pPr defTabSz="914400">
                        <a:tabLst>
                          <a:tab pos="1663700" algn="l"/>
                        </a:tabLst>
                      </a:pPr>
                      <a:r>
                        <a:rPr sz="1400"/>
                        <a:t>Legal</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pPr>
                      <a:r>
                        <a:rPr sz="1200"/>
                        <a:t>Commercial</a:t>
                      </a:r>
                    </a:p>
                  </a:txBody>
                  <a:tcPr marL="50800" marR="50800" marT="50800" marB="50800" anchor="ctr" anchorCtr="0" horzOverflow="overflow"/>
                </a:tc>
                <a:tc>
                  <a:txBody>
                    <a:bodyPr/>
                    <a:lstStyle/>
                    <a:p>
                      <a:pPr defTabSz="914400">
                        <a:tabLst>
                          <a:tab pos="1663700" algn="l"/>
                        </a:tabLst>
                      </a:pPr>
                      <a:r>
                        <a:rPr sz="1200"/>
                        <a:t>Non PRC HQ</a:t>
                      </a:r>
                    </a:p>
                  </a:txBody>
                  <a:tcPr marL="50800" marR="50800" marT="50800" marB="50800" anchor="ctr" anchorCtr="0" horzOverflow="overflow"/>
                </a:tc>
                <a:tc>
                  <a:txBody>
                    <a:bodyPr/>
                    <a:lstStyle/>
                    <a:p>
                      <a:pPr defTabSz="914400">
                        <a:tabLst>
                          <a:tab pos="1663700" algn="l"/>
                        </a:tabLst>
                      </a:pPr>
                      <a:r>
                        <a:rPr sz="1400"/>
                        <a:t>IN</a:t>
                      </a:r>
                    </a:p>
                  </a:txBody>
                  <a:tcPr marL="50800" marR="50800" marT="50800" marB="50800" anchor="ctr" anchorCtr="0" horzOverflow="overflow"/>
                </a:tc>
                <a:tc>
                  <a:txBody>
                    <a:bodyPr/>
                    <a:lstStyle/>
                    <a:p>
                      <a:pPr defTabSz="914400">
                        <a:tabLst>
                          <a:tab pos="1663700" algn="l"/>
                        </a:tabLst>
                      </a:pPr>
                      <a:r>
                        <a:rPr sz="1400"/>
                        <a:t>CN</a:t>
                      </a:r>
                    </a:p>
                  </a:txBody>
                  <a:tcPr marL="50800" marR="50800" marT="50800" marB="50800" anchor="ctr" anchorCtr="0" horzOverflow="overflow"/>
                </a:tc>
                <a:tc>
                  <a:txBody>
                    <a:bodyPr/>
                    <a:lstStyle/>
                    <a:p>
                      <a:pPr defTabSz="914400">
                        <a:tabLst>
                          <a:tab pos="1663700" algn="l"/>
                        </a:tabLst>
                      </a:pPr>
                      <a:r>
                        <a:rPr sz="1400"/>
                        <a:t>Other Geo</a:t>
                      </a:r>
                    </a:p>
                  </a:txBody>
                  <a:tcPr marL="50800" marR="50800" marT="50800" marB="50800" anchor="ctr" anchorCtr="0" horzOverflow="overflow"/>
                </a:tc>
                <a:tc>
                  <a:txBody>
                    <a:bodyPr/>
                    <a:lstStyle/>
                    <a:p>
                      <a:pPr defTabSz="914400">
                        <a:tabLst>
                          <a:tab pos="1663700" algn="l"/>
                        </a:tabLst>
                      </a:pPr>
                      <a:r>
                        <a:rPr sz="1400"/>
                        <a:t>CN</a:t>
                      </a:r>
                    </a:p>
                  </a:txBody>
                  <a:tcPr marL="50800" marR="50800" marT="50800" marB="50800" anchor="ctr" anchorCtr="0" horzOverflow="overflow"/>
                </a:tc>
                <a:tc>
                  <a:txBody>
                    <a:bodyPr/>
                    <a:lstStyle/>
                    <a:p>
                      <a:pPr defTabSz="914400">
                        <a:tabLst>
                          <a:tab pos="1663700" algn="l"/>
                        </a:tabLst>
                      </a:pPr>
                      <a:r>
                        <a:rPr sz="1400"/>
                        <a:t>IN</a:t>
                      </a:r>
                    </a:p>
                  </a:txBody>
                  <a:tcPr marL="50800" marR="50800" marT="50800" marB="50800" anchor="ctr" anchorCtr="0" horzOverflow="overflow"/>
                </a:tc>
                <a:tc>
                  <a:txBody>
                    <a:bodyPr/>
                    <a:lstStyle/>
                    <a:p>
                      <a:pPr defTabSz="914400">
                        <a:tabLst>
                          <a:tab pos="1663700" algn="l"/>
                        </a:tabLst>
                      </a:pPr>
                      <a:r>
                        <a:rPr sz="1400"/>
                        <a:t>Other</a:t>
                      </a:r>
                    </a:p>
                  </a:txBody>
                  <a:tcPr marL="50800" marR="50800" marT="50800" marB="50800" anchor="ctr" anchorCtr="0" horzOverflow="overflow"/>
                </a:tc>
                <a:tc>
                  <a:txBody>
                    <a:bodyPr/>
                    <a:lstStyle/>
                    <a:p>
                      <a:pPr defTabSz="914400">
                        <a:tabLst>
                          <a:tab pos="1663700" algn="l"/>
                        </a:tabLst>
                      </a:pPr>
                      <a:r>
                        <a:rPr sz="1400"/>
                        <a:t>Qual done?</a:t>
                      </a:r>
                    </a:p>
                  </a:txBody>
                  <a:tcPr marL="50800" marR="50800" marT="50800" marB="50800" anchor="ctr" anchorCtr="0" horzOverflow="overflow"/>
                </a:tc>
                <a:tc>
                  <a:txBody>
                    <a:bodyPr/>
                    <a:lstStyle/>
                    <a:p>
                      <a:pPr defTabSz="914400">
                        <a:tabLst>
                          <a:tab pos="1663700" algn="l"/>
                        </a:tabLst>
                      </a:pPr>
                      <a:r>
                        <a:rPr sz="1400"/>
                        <a:t>MP</a:t>
                      </a:r>
                    </a:p>
                  </a:txBody>
                  <a:tcPr marL="50800" marR="50800" marT="50800" marB="50800" anchor="ctr" anchorCtr="0" horzOverflow="overflow"/>
                </a:tc>
                <a:tc>
                  <a:txBody>
                    <a:bodyPr/>
                    <a:lstStyle/>
                    <a:p>
                      <a:pPr defTabSz="914400">
                        <a:tabLst>
                          <a:tab pos="1663700" algn="l"/>
                        </a:tabLst>
                      </a:pPr>
                      <a:r>
                        <a:rPr sz="1200"/>
                        <a:t>Eng Team available?</a:t>
                      </a:r>
                    </a:p>
                  </a:txBody>
                  <a:tcPr marL="50800" marR="50800" marT="50800" marB="50800" anchor="ctr" anchorCtr="0" horzOverflow="overflow"/>
                </a:tc>
                <a:tc>
                  <a:txBody>
                    <a:bodyPr/>
                    <a:lstStyle/>
                    <a:p>
                      <a:pPr defTabSz="914400">
                        <a:tabLst>
                          <a:tab pos="1663700" algn="l"/>
                        </a:tabLst>
                      </a:pPr>
                      <a:r>
                        <a:rPr sz="1400"/>
                        <a:t>Build</a:t>
                      </a:r>
                    </a:p>
                  </a:txBody>
                  <a:tcPr marL="50800" marR="50800" marT="50800" marB="50800" anchor="ctr" anchorCtr="0" horzOverflow="overflow"/>
                </a:tc>
                <a:tc>
                  <a:txBody>
                    <a:bodyPr/>
                    <a:lstStyle/>
                    <a:p>
                      <a:pPr defTabSz="914400">
                        <a:tabLst>
                          <a:tab pos="1663700" algn="l"/>
                        </a:tabLst>
                      </a:pPr>
                      <a:r>
                        <a:rPr sz="1200"/>
                        <a:t>Test Readiness</a:t>
                      </a:r>
                    </a:p>
                  </a:txBody>
                  <a:tcPr marL="50800" marR="50800" marT="50800" marB="50800" anchor="ctr" anchorCtr="0" horzOverflow="overflow"/>
                </a:tc>
                <a:tc>
                  <a:txBody>
                    <a:bodyPr/>
                    <a:lstStyle/>
                    <a:p>
                      <a:pPr defTabSz="914400">
                        <a:tabLst>
                          <a:tab pos="1663700" algn="l"/>
                        </a:tabLst>
                      </a:pPr>
                      <a:r>
                        <a:rPr sz="1400"/>
                        <a:t>EIH</a:t>
                      </a:r>
                    </a:p>
                  </a:txBody>
                  <a:tcPr marL="50800" marR="50800" marT="50800" marB="50800" anchor="ctr" anchorCtr="0" horzOverflow="overflow"/>
                </a:tc>
                <a:tc>
                  <a:txBody>
                    <a:bodyPr/>
                    <a:lstStyle/>
                    <a:p>
                      <a:pPr defTabSz="914400">
                        <a:tabLst>
                          <a:tab pos="1663700" algn="l"/>
                        </a:tabLst>
                      </a:pPr>
                      <a:r>
                        <a:rPr sz="1400"/>
                        <a:t>Design Lock</a:t>
                      </a:r>
                    </a:p>
                  </a:txBody>
                  <a:tcPr marL="50800" marR="50800" marT="50800" marB="50800" anchor="ctr" anchorCtr="0" horzOverflow="overflow"/>
                </a:tc>
                <a:tc>
                  <a:txBody>
                    <a:bodyPr/>
                    <a:lstStyle/>
                    <a:p>
                      <a:pPr defTabSz="914400">
                        <a:tabLst>
                          <a:tab pos="1663700" algn="l"/>
                        </a:tabLst>
                      </a:pPr>
                      <a:r>
                        <a:rPr sz="1400"/>
                        <a:t>Near Misses</a:t>
                      </a:r>
                    </a:p>
                  </a:txBody>
                  <a:tcPr marL="50800" marR="50800" marT="50800" marB="50800" anchor="ctr" anchorCtr="0" horzOverflow="overflow"/>
                </a:tc>
                <a:tc rowSpan="2">
                  <a:txBody>
                    <a:bodyPr/>
                    <a:lstStyle/>
                    <a:p>
                      <a:pPr defTabSz="914400">
                        <a:tabLst>
                          <a:tab pos="1663700" algn="l"/>
                        </a:tabLst>
                      </a:pPr>
                      <a:r>
                        <a:rPr sz="1400"/>
                        <a:t>GSSM</a:t>
                      </a:r>
                    </a:p>
                  </a:txBody>
                  <a:tcPr marL="50800" marR="50800" marT="50800" marB="50800" anchor="ctr" anchorCtr="0" horzOverflow="overflow"/>
                </a:tc>
                <a:tc rowSpan="2">
                  <a:txBody>
                    <a:bodyPr/>
                    <a:lstStyle/>
                    <a:p>
                      <a:pPr defTabSz="914400">
                        <a:tabLst>
                          <a:tab pos="1663700" algn="l"/>
                        </a:tabLst>
                      </a:pPr>
                      <a:r>
                        <a:rPr sz="1400"/>
                        <a:t>HWTE</a:t>
                      </a:r>
                    </a:p>
                  </a:txBody>
                  <a:tcPr marL="50800" marR="50800" marT="50800" marB="50800" anchor="ctr" anchorCtr="0" horzOverflow="overflow"/>
                </a:tc>
                <a:tc rowSpan="2">
                  <a:txBody>
                    <a:bodyPr/>
                    <a:lstStyle/>
                    <a:p>
                      <a:pPr defTabSz="914400">
                        <a:tabLst>
                          <a:tab pos="1663700" algn="l"/>
                        </a:tabLst>
                      </a:pPr>
                      <a:r>
                        <a:rPr sz="1400"/>
                        <a:t>OpsTE</a:t>
                      </a:r>
                    </a:p>
                  </a:txBody>
                  <a:tcPr marL="50800" marR="50800" marT="50800" marB="50800" anchor="ctr" anchorCtr="0" horzOverflow="overflow"/>
                </a:tc>
                <a:tc vMerge="1">
                  <a:tcPr/>
                </a:tc>
                <a:tc rowSpan="3">
                  <a:txBody>
                    <a:bodyPr/>
                    <a:lstStyle/>
                    <a:p>
                      <a:pPr defTabSz="914400">
                        <a:tabLst>
                          <a:tab pos="1663700" algn="l"/>
                        </a:tabLst>
                      </a:pPr>
                      <a:r>
                        <a:rPr sz="1300"/>
                        <a:t>GSM</a:t>
                      </a:r>
                    </a:p>
                  </a:txBody>
                  <a:tcPr marL="50800" marR="50800" marT="50800" marB="50800" anchor="ctr" anchorCtr="0" horzOverflow="overflow"/>
                </a:tc>
                <a:tc rowSpan="3">
                  <a:txBody>
                    <a:bodyPr/>
                    <a:lstStyle/>
                    <a:p>
                      <a:pPr defTabSz="914400">
                        <a:tabLst>
                          <a:tab pos="1663700" algn="l"/>
                        </a:tabLst>
                      </a:pPr>
                      <a:r>
                        <a:rPr sz="1300"/>
                        <a:t>HWTE</a:t>
                      </a:r>
                    </a:p>
                  </a:txBody>
                  <a:tcPr marL="50800" marR="50800" marT="50800" marB="50800" anchor="ctr" anchorCtr="0" horzOverflow="overflow"/>
                </a:tc>
                <a:tc rowSpan="3">
                  <a:txBody>
                    <a:bodyPr/>
                    <a:lstStyle/>
                    <a:p>
                      <a:pPr defTabSz="914400">
                        <a:tabLst>
                          <a:tab pos="1663700" algn="l"/>
                        </a:tabLst>
                      </a:pPr>
                      <a:r>
                        <a:rPr sz="1300"/>
                        <a:t>OpsTE</a:t>
                      </a:r>
                    </a:p>
                  </a:txBody>
                  <a:tcPr marL="50800" marR="50800" marT="50800" marB="50800" anchor="ctr" anchorCtr="0" horzOverflow="overflow"/>
                </a:tc>
                <a:tc rowSpan="3">
                  <a:txBody>
                    <a:bodyPr/>
                    <a:lstStyle/>
                    <a:p>
                      <a:pPr defTabSz="914400">
                        <a:tabLst>
                          <a:tab pos="1663700" algn="l"/>
                        </a:tabLst>
                      </a:pPr>
                      <a:r>
                        <a:rPr sz="1600"/>
                        <a:t>Summary</a:t>
                      </a:r>
                    </a:p>
                  </a:txBody>
                  <a:tcPr marL="50800" marR="50800" marT="50800" marB="50800" anchor="ctr" anchorCtr="0" horzOverflow="overflow"/>
                </a:tc>
              </a:tr>
              <a:tr h="333742">
                <a:tc>
                  <a:txBody>
                    <a:bodyPr/>
                    <a:lstStyle/>
                    <a:p>
                      <a:pPr defTabSz="914400">
                        <a:tabLst>
                          <a:tab pos="1663700" algn="l"/>
                        </a:tabLst>
                        <a:defRPr b="0"/>
                      </a:pPr>
                      <a:r>
                        <a:rPr b="1" sz="1600"/>
                        <a:t>DRI</a:t>
                      </a:r>
                    </a:p>
                  </a:txBody>
                  <a:tcPr marL="50800" marR="50800" marT="50800" marB="50800" anchor="ctr" anchorCtr="0" horzOverflow="overflow">
                    <a:lnR w="12700">
                      <a:solidFill>
                        <a:srgbClr val="000000"/>
                      </a:solidFill>
                      <a:miter lim="400000"/>
                    </a:lnR>
                  </a:tcPr>
                </a:tc>
                <a:tc>
                  <a:txBody>
                    <a:bodyPr/>
                    <a:lstStyle/>
                    <a:p>
                      <a:pPr defTabSz="914400">
                        <a:tabLst>
                          <a:tab pos="1663700" algn="l"/>
                        </a:tabLst>
                      </a:pPr>
                      <a:r>
                        <a:rPr sz="1400"/>
                        <a:t>GSM</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gridSpan="5">
                  <a:txBody>
                    <a:bodyPr/>
                    <a:lstStyle/>
                    <a:p>
                      <a:pPr defTabSz="914400">
                        <a:tabLst>
                          <a:tab pos="1663700" algn="l"/>
                        </a:tabLst>
                      </a:pPr>
                      <a:r>
                        <a:rPr sz="1400"/>
                        <a:t>All (GSM, HWTE, OpsTE, Capex)</a:t>
                      </a:r>
                    </a:p>
                  </a:txBody>
                  <a:tcPr marL="50800" marR="50800" marT="50800" marB="50800" anchor="ctr" anchorCtr="0" horzOverflow="overflow"/>
                </a:tc>
                <a:tc hMerge="1">
                  <a:tcPr/>
                </a:tc>
                <a:tc hMerge="1">
                  <a:tcPr/>
                </a:tc>
                <a:tc hMerge="1">
                  <a:tcPr/>
                </a:tc>
                <a:tc hMerge="1">
                  <a:tcPr/>
                </a:tc>
                <a:tc vMerge="1">
                  <a:tcPr/>
                </a:tc>
                <a:tc vMerge="1">
                  <a:tcPr/>
                </a:tc>
                <a:tc vMerge="1">
                  <a:tcPr/>
                </a:tc>
                <a:tc vMerge="1">
                  <a:tcPr/>
                </a:tc>
                <a:tc vMerge="1">
                  <a:tcPr/>
                </a:tc>
                <a:tc vMerge="1">
                  <a:tcPr/>
                </a:tc>
                <a:tc vMerge="1">
                  <a:tcPr/>
                </a:tc>
                <a:tc vMerge="1">
                  <a:tcPr/>
                </a:tc>
              </a:tr>
              <a:tr h="333742">
                <a:tc>
                  <a:txBody>
                    <a:bodyPr/>
                    <a:lstStyle/>
                    <a:p>
                      <a:pPr defTabSz="914400">
                        <a:tabLst>
                          <a:tab pos="1663700" algn="l"/>
                        </a:tabLst>
                        <a:defRPr b="0"/>
                      </a:pPr>
                      <a:r>
                        <a:rPr b="1" sz="1600"/>
                        <a:t>MH/NTH</a:t>
                      </a:r>
                    </a:p>
                  </a:txBody>
                  <a:tcPr marL="50800" marR="50800" marT="50800" marB="50800" anchor="ctr" anchorCtr="0" horzOverflow="overflow">
                    <a:lnR w="12700">
                      <a:solidFill>
                        <a:srgbClr val="000000"/>
                      </a:solidFill>
                      <a:miter lim="400000"/>
                    </a:lnR>
                  </a:tcPr>
                </a:tc>
                <a:tc gridSpan="11">
                  <a:txBody>
                    <a:bodyPr/>
                    <a:lstStyle/>
                    <a:p>
                      <a:pPr defTabSz="914400">
                        <a:tabLst>
                          <a:tab pos="1663700" algn="l"/>
                        </a:tabLst>
                      </a:pPr>
                      <a:r>
                        <a:rPr sz="1400"/>
                        <a:t>Must Have</a:t>
                      </a:r>
                    </a:p>
                  </a:txBody>
                  <a:tcPr marL="50800" marR="50800" marT="50800" marB="50800" anchor="ctr" anchorCtr="0" horzOverflow="overflow">
                    <a:lnL w="12700">
                      <a:solidFill>
                        <a:srgbClr val="000000"/>
                      </a:solidFill>
                      <a:miter lim="400000"/>
                    </a:lnL>
                  </a:tcPr>
                </a:tc>
                <a:tc hMerge="1">
                  <a:tcPr/>
                </a:tc>
                <a:tc hMerge="1">
                  <a:tcPr/>
                </a:tc>
                <a:tc hMerge="1">
                  <a:tcPr/>
                </a:tc>
                <a:tc hMerge="1">
                  <a:tcPr/>
                </a:tc>
                <a:tc hMerge="1">
                  <a:tcPr/>
                </a:tc>
                <a:tc hMerge="1">
                  <a:tcPr/>
                </a:tc>
                <a:tc hMerge="1">
                  <a:tcPr/>
                </a:tc>
                <a:tc hMerge="1">
                  <a:tcPr/>
                </a:tc>
                <a:tc hMerge="1">
                  <a:tcPr/>
                </a:tc>
                <a:tc hMerge="1">
                  <a:tcPr/>
                </a:tc>
                <a:tc gridSpan="9">
                  <a:txBody>
                    <a:bodyPr/>
                    <a:lstStyle/>
                    <a:p>
                      <a:pPr defTabSz="914400">
                        <a:tabLst>
                          <a:tab pos="1663700" algn="l"/>
                        </a:tabLst>
                      </a:pPr>
                      <a:r>
                        <a:rPr sz="1400"/>
                        <a:t>Nice to Have</a:t>
                      </a:r>
                    </a:p>
                  </a:txBody>
                  <a:tcPr marL="50800" marR="50800" marT="50800" marB="50800" anchor="ctr" anchorCtr="0" horzOverflow="overflow"/>
                </a:tc>
                <a:tc hMerge="1">
                  <a:tcPr/>
                </a:tc>
                <a:tc hMerge="1">
                  <a:tcPr/>
                </a:tc>
                <a:tc hMerge="1">
                  <a:tcPr/>
                </a:tc>
                <a:tc hMerge="1">
                  <a:tcPr/>
                </a:tc>
                <a:tc hMerge="1">
                  <a:tcPr/>
                </a:tc>
                <a:tc hMerge="1">
                  <a:tcPr/>
                </a:tc>
                <a:tc hMerge="1">
                  <a:tcPr/>
                </a:tc>
                <a:tc hMerge="1">
                  <a:tcPr/>
                </a:tc>
                <a:tc vMerge="1">
                  <a:tcPr/>
                </a:tc>
                <a:tc vMerge="1">
                  <a:tcPr/>
                </a:tc>
                <a:tc vMerge="1">
                  <a:tcPr/>
                </a:tc>
                <a:tc vMerge="1">
                  <a:tcPr/>
                </a:tc>
                <a:tc vMerge="1">
                  <a:tcPr/>
                </a:tc>
              </a:tr>
              <a:tr h="298255">
                <a:tc>
                  <a:txBody>
                    <a:bodyPr/>
                    <a:lstStyle/>
                    <a:p>
                      <a:pPr algn="l" defTabSz="457200">
                        <a:defRPr b="0"/>
                      </a:pPr>
                      <a:r>
                        <a:rPr sz="1400"/>
                        <a:t>Amphenol</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17.25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Capable vendor that needs conveyor experience.</a:t>
                      </a:r>
                    </a:p>
                  </a:txBody>
                  <a:tcPr marL="50800" marR="50800" marT="50800" marB="50800" anchor="ctr" anchorCtr="0" horzOverflow="overflow"/>
                </a:tc>
              </a:tr>
              <a:tr h="310420">
                <a:tc>
                  <a:txBody>
                    <a:bodyPr/>
                    <a:lstStyle/>
                    <a:p>
                      <a:pPr algn="l" defTabSz="457200">
                        <a:defRPr b="0"/>
                      </a:pPr>
                      <a:r>
                        <a:rPr sz="1400"/>
                        <a:t>Averna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17</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SI phased out - Can’t meet MP price targets</a:t>
                      </a:r>
                    </a:p>
                  </a:txBody>
                  <a:tcPr marL="50800" marR="50800" marT="50800" marB="50800" anchor="ctr" anchorCtr="0" horzOverflow="overflow"/>
                </a:tc>
              </a:tr>
              <a:tr h="310420">
                <a:tc>
                  <a:txBody>
                    <a:bodyPr/>
                    <a:lstStyle/>
                    <a:p>
                      <a:pPr algn="l" defTabSz="457200">
                        <a:defRPr b="0"/>
                      </a:pPr>
                      <a:r>
                        <a:rPr sz="1400"/>
                        <a:t>SPEA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15.75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Previous HWTE SI, strong technical, scaling TBC.</a:t>
                      </a:r>
                    </a:p>
                  </a:txBody>
                  <a:tcPr marL="50800" marR="50800" marT="50800" marB="50800" anchor="ctr" anchorCtr="0" horzOverflow="overflow"/>
                </a:tc>
              </a:tr>
              <a:tr h="298255">
                <a:tc>
                  <a:txBody>
                    <a:bodyPr/>
                    <a:lstStyle/>
                    <a:p>
                      <a:pPr algn="l" defTabSz="457200">
                        <a:defRPr b="0"/>
                      </a:pPr>
                      <a:r>
                        <a:rPr sz="1400"/>
                        <a:t>HVS</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Not qualified for NPI, focused on B798.</a:t>
                      </a:r>
                    </a:p>
                  </a:txBody>
                  <a:tcPr marL="50800" marR="50800" marT="50800" marB="50800" anchor="ctr" anchorCtr="0" horzOverflow="overflow"/>
                </a:tc>
              </a:tr>
              <a:tr h="298255">
                <a:tc>
                  <a:txBody>
                    <a:bodyPr/>
                    <a:lstStyle/>
                    <a:p>
                      <a:pPr algn="l" defTabSz="457200">
                        <a:defRPr b="0"/>
                      </a:pPr>
                      <a:r>
                        <a:rPr sz="1400"/>
                        <a:t>JLK</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Bandwidth issues, but capable if no options.</a:t>
                      </a:r>
                    </a:p>
                  </a:txBody>
                  <a:tcPr marL="50800" marR="50800" marT="50800" marB="50800" anchor="ctr" anchorCtr="0" horzOverflow="overflow"/>
                </a:tc>
              </a:tr>
              <a:tr h="294367">
                <a:tc>
                  <a:txBody>
                    <a:bodyPr/>
                    <a:lstStyle/>
                    <a:p>
                      <a:pPr algn="l" defTabSz="457200">
                        <a:defRPr b="0"/>
                      </a:pPr>
                      <a:r>
                        <a:rPr sz="1400"/>
                        <a:t>PRM</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Conveyor experience, but lower potential (IN)</a:t>
                      </a:r>
                    </a:p>
                  </a:txBody>
                  <a:tcPr marL="50800" marR="50800" marT="50800" marB="50800" anchor="ctr" anchorCtr="0" horzOverflow="overflow"/>
                </a:tc>
              </a:tr>
              <a:tr h="298255">
                <a:tc>
                  <a:txBody>
                    <a:bodyPr/>
                    <a:lstStyle/>
                    <a:p>
                      <a:pPr algn="l" defTabSz="457200">
                        <a:defRPr b="0"/>
                      </a:pPr>
                      <a:r>
                        <a:rPr sz="1400"/>
                        <a:t>Cencorp</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13.75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Incumbent, but lower potential (IN)</a:t>
                      </a:r>
                    </a:p>
                  </a:txBody>
                  <a:tcPr marL="50800" marR="50800" marT="50800" marB="50800" anchor="ctr" anchorCtr="0" horzOverflow="overflow"/>
                </a:tc>
              </a:tr>
              <a:tr h="310420">
                <a:tc>
                  <a:txBody>
                    <a:bodyPr/>
                    <a:lstStyle/>
                    <a:p>
                      <a:pPr algn="l" defTabSz="457200">
                        <a:defRPr b="0"/>
                      </a:pPr>
                      <a:r>
                        <a:rPr sz="1400"/>
                        <a:t>Innorev</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11.75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Not qualified for NPI, needs a shadow set</a:t>
                      </a:r>
                    </a:p>
                  </a:txBody>
                  <a:tcPr marL="50800" marR="50800" marT="50800" marB="50800" anchor="ctr" anchorCtr="0" horzOverflow="overflow"/>
                </a:tc>
              </a:tr>
              <a:tr h="294367">
                <a:tc>
                  <a:txBody>
                    <a:bodyPr/>
                    <a:lstStyle/>
                    <a:p>
                      <a:pPr algn="l" defTabSz="457200">
                        <a:defRPr b="0"/>
                      </a:pPr>
                      <a:r>
                        <a:rPr sz="1400"/>
                        <a:t>Pentamaster</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11.5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Bandwidth/performance issues, skip for now</a:t>
                      </a:r>
                    </a:p>
                  </a:txBody>
                  <a:tcPr marL="50800" marR="50800" marT="50800" marB="50800" anchor="ctr" anchorCtr="0" horzOverflow="overflow"/>
                </a:tc>
              </a:tr>
              <a:tr h="321622">
                <a:tc>
                  <a:txBody>
                    <a:bodyPr/>
                    <a:lstStyle/>
                    <a:p>
                      <a:pPr algn="l" defTabSz="457200">
                        <a:defRPr b="0"/>
                      </a:pPr>
                      <a:r>
                        <a:rPr sz="1400"/>
                        <a:t>IVD</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10.25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Not qualified for NPI, needs a shadow set</a:t>
                      </a:r>
                    </a:p>
                  </a:txBody>
                  <a:tcPr marL="50800" marR="50800" marT="50800" marB="50800" anchor="ctr" anchorCtr="0" horzOverflow="overflow"/>
                </a:tc>
              </a:tr>
              <a:tr h="321622">
                <a:tc>
                  <a:txBody>
                    <a:bodyPr/>
                    <a:lstStyle/>
                    <a:p>
                      <a:pPr algn="l" defTabSz="457200">
                        <a:defRPr b="0"/>
                      </a:pPr>
                      <a:r>
                        <a:rPr sz="1400"/>
                        <a:t>VVDN</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9.5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Needs shadow set to qualify</a:t>
                      </a:r>
                    </a:p>
                  </a:txBody>
                  <a:tcPr marL="50800" marR="50800" marT="50800" marB="50800" anchor="ctr" anchorCtr="0" horzOverflow="overflow"/>
                </a:tc>
              </a:tr>
              <a:tr h="294367">
                <a:tc>
                  <a:txBody>
                    <a:bodyPr/>
                    <a:lstStyle/>
                    <a:p>
                      <a:pPr algn="l" defTabSz="457200">
                        <a:defRPr b="0"/>
                      </a:pPr>
                      <a:r>
                        <a:rPr sz="1400"/>
                        <a:t>Accurate</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8</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Not a conveyor-capable SI</a:t>
                      </a:r>
                    </a:p>
                  </a:txBody>
                  <a:tcPr marL="50800" marR="50800" marT="50800" marB="50800" anchor="ctr" anchorCtr="0" horzOverflow="overflow"/>
                </a:tc>
              </a:tr>
              <a:tr h="321622">
                <a:tc>
                  <a:txBody>
                    <a:bodyPr/>
                    <a:lstStyle/>
                    <a:p>
                      <a:pPr algn="l" defTabSz="457200">
                        <a:defRPr b="0"/>
                      </a:pPr>
                      <a:r>
                        <a:rPr sz="1400"/>
                        <a:t>SFO</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7</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TTM NPI performance —&gt; limited eng learnings BW</a:t>
                      </a:r>
                    </a:p>
                  </a:txBody>
                  <a:tcPr marL="50800" marR="50800" marT="50800" marB="50800" anchor="ctr" anchorCtr="0" horzOverflow="overflow"/>
                </a:tc>
              </a:tr>
              <a:tr h="310420">
                <a:tc>
                  <a:txBody>
                    <a:bodyPr/>
                    <a:lstStyle/>
                    <a:p>
                      <a:pPr algn="l" defTabSz="457200">
                        <a:defRPr b="0"/>
                      </a:pPr>
                      <a:r>
                        <a:rPr sz="1400"/>
                        <a:t>Anora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6</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Low priority, can revisit if other choices drop</a:t>
                      </a:r>
                    </a:p>
                  </a:txBody>
                  <a:tcPr marL="50800" marR="50800" marT="50800" marB="50800" anchor="ctr" anchorCtr="0" horzOverflow="overflow"/>
                </a:tc>
              </a:tr>
              <a:tr h="294367">
                <a:tc>
                  <a:txBody>
                    <a:bodyPr/>
                    <a:lstStyle/>
                    <a:p>
                      <a:pPr algn="l" defTabSz="457200">
                        <a:defRPr b="0"/>
                      </a:pPr>
                      <a:r>
                        <a:rPr sz="1400"/>
                        <a:t>Stiwa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5.5</a:t>
                      </a:r>
                    </a:p>
                  </a:txBody>
                  <a:tcPr marL="63500" marR="63500" marT="0" marB="0" anchor="ctr" anchorCtr="0" horzOverflow="overflow"/>
                </a:tc>
                <a:tc>
                  <a:txBody>
                    <a:bodyPr/>
                    <a:lstStyle/>
                    <a:p>
                      <a:pPr defTabSz="457200">
                        <a:defRPr sz="1600">
                          <a:latin typeface="Helvetica"/>
                          <a:ea typeface="Helvetica"/>
                          <a:cs typeface="Helvetica"/>
                          <a:sym typeface="Helvetica"/>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Occupied on AE projects; declining RFPs</a:t>
                      </a:r>
                    </a:p>
                  </a:txBody>
                  <a:tcPr marL="50800" marR="50800" marT="50800" marB="50800" anchor="ctr" anchorCtr="0" horzOverflow="overflow"/>
                </a:tc>
              </a:tr>
              <a:tr h="310420">
                <a:tc>
                  <a:txBody>
                    <a:bodyPr/>
                    <a:lstStyle/>
                    <a:p>
                      <a:pPr algn="l" defTabSz="457200">
                        <a:defRPr b="0"/>
                      </a:pPr>
                      <a:r>
                        <a:rPr sz="1400"/>
                        <a:t>Zeiss</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5</a:t>
                      </a:r>
                    </a:p>
                  </a:txBody>
                  <a:tcPr marL="63500" marR="63500" marT="0" marB="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Engaged on VG; Commercially not competitive</a:t>
                      </a:r>
                    </a:p>
                  </a:txBody>
                  <a:tcPr marL="50800" marR="50800" marT="50800" marB="50800" anchor="ctr" anchorCtr="0" horzOverflow="overflow"/>
                </a:tc>
              </a:tr>
              <a:tr h="294367">
                <a:tc>
                  <a:txBody>
                    <a:bodyPr/>
                    <a:lstStyle/>
                    <a:p>
                      <a:pPr algn="l" defTabSz="457200">
                        <a:defRPr b="0"/>
                      </a:pPr>
                      <a:r>
                        <a:rPr sz="1400"/>
                        <a:t>ATS</a:t>
                      </a:r>
                    </a:p>
                  </a:txBody>
                  <a:tcPr marL="63500" marR="63500" marT="0" marB="0" anchor="ctr" anchorCtr="0" horzOverflow="overflow">
                    <a:lnR w="12700">
                      <a:solidFill>
                        <a:srgbClr val="000000"/>
                      </a:solidFill>
                      <a:miter lim="400000"/>
                    </a:lnR>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lnL w="12700">
                      <a:solidFill>
                        <a:srgbClr val="000000"/>
                      </a:solidFill>
                      <a:miter lim="400000"/>
                    </a:ln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defTabSz="914400">
                        <a:defRPr sz="1600"/>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Gated by GSM OK2Engage feedback</a:t>
                      </a:r>
                    </a:p>
                  </a:txBody>
                  <a:tcPr marL="50800" marR="50800" marT="50800" marB="50800" anchor="ctr" anchorCtr="0" horzOverflow="overflow"/>
                </a:tc>
              </a:tr>
              <a:tr h="310420">
                <a:tc>
                  <a:txBody>
                    <a:bodyPr/>
                    <a:lstStyle/>
                    <a:p>
                      <a:pPr algn="l" defTabSz="457200">
                        <a:defRPr b="0"/>
                      </a:pPr>
                      <a:r>
                        <a:rPr sz="1400"/>
                        <a:t>AIR</a:t>
                      </a:r>
                    </a:p>
                  </a:txBody>
                  <a:tcPr marL="63500" marR="63500" marT="0" marB="0" anchor="ctr" anchorCtr="0" horzOverflow="overflow">
                    <a:lnR w="12700">
                      <a:solidFill>
                        <a:srgbClr val="000000"/>
                      </a:solidFill>
                      <a:miter lim="400000"/>
                    </a:lnR>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lnL w="12700">
                      <a:solidFill>
                        <a:srgbClr val="000000"/>
                      </a:solidFill>
                      <a:miter lim="400000"/>
                    </a:lnL>
                    <a:solidFill>
                      <a:srgbClr val="D5D5D5"/>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Currently refusing to sign EDPA</a:t>
                      </a:r>
                    </a:p>
                  </a:txBody>
                  <a:tcPr marL="50800" marR="50800" marT="50800" marB="50800" anchor="ctr" anchorCtr="0" horzOverflow="overflow"/>
                </a:tc>
              </a:tr>
              <a:tr h="310420">
                <a:tc>
                  <a:txBody>
                    <a:bodyPr/>
                    <a:lstStyle/>
                    <a:p>
                      <a:pPr algn="l" defTabSz="457200">
                        <a:defRPr b="0"/>
                      </a:pPr>
                      <a:r>
                        <a:rPr sz="1400"/>
                        <a:t>Zetwerk</a:t>
                      </a:r>
                    </a:p>
                  </a:txBody>
                  <a:tcPr marL="63500" marR="63500" marT="0" marB="0" anchor="ctr" anchorCtr="0" horzOverflow="overflow">
                    <a:lnR w="12700">
                      <a:solidFill>
                        <a:srgbClr val="000000"/>
                      </a:solidFill>
                      <a:miter lim="400000"/>
                    </a:lnR>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lnL w="12700">
                      <a:solidFill>
                        <a:srgbClr val="000000"/>
                      </a:solidFill>
                      <a:miter lim="400000"/>
                    </a:ln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Legal docs still under discussion</a:t>
                      </a:r>
                    </a:p>
                  </a:txBody>
                  <a:tcPr marL="50800" marR="50800" marT="50800" marB="50800" anchor="ctr" anchorCtr="0" horzOverflow="overflow"/>
                </a:tc>
              </a:tr>
            </a:tbl>
          </a:graphicData>
        </a:graphic>
      </p:graphicFrame>
      <p:graphicFrame>
        <p:nvGraphicFramePr>
          <p:cNvPr id="211" name="Table 1-1-1"/>
          <p:cNvGraphicFramePr/>
          <p:nvPr/>
        </p:nvGraphicFramePr>
        <p:xfrm>
          <a:off x="1622519" y="14402765"/>
          <a:ext cx="22496686" cy="192562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325892"/>
                <a:gridCol w="670198"/>
                <a:gridCol w="670198"/>
                <a:gridCol w="670198"/>
                <a:gridCol w="10173872"/>
                <a:gridCol w="3506958"/>
                <a:gridCol w="2777778"/>
                <a:gridCol w="2688886"/>
              </a:tblGrid>
              <a:tr h="273274">
                <a:tc rowSpan="2">
                  <a:txBody>
                    <a:bodyPr/>
                    <a:lstStyle/>
                    <a:p>
                      <a:pPr algn="l" defTabSz="457200"/>
                      <a:r>
                        <a:rPr b="1" sz="1600"/>
                        <a:t>Name</a:t>
                      </a:r>
                    </a:p>
                  </a:txBody>
                  <a:tcPr marL="63500" marR="63500" marT="0" marB="0" anchor="ctr" anchorCtr="0" horzOverflow="overflow"/>
                </a:tc>
                <a:tc gridSpan="3">
                  <a:txBody>
                    <a:bodyPr/>
                    <a:lstStyle/>
                    <a:p>
                      <a:pPr defTabSz="457200"/>
                      <a:r>
                        <a:rPr b="1" sz="1600"/>
                        <a:t>Go - No Go Rating</a:t>
                      </a:r>
                    </a:p>
                  </a:txBody>
                  <a:tcPr marL="63500" marR="63500" marT="0" marB="0" anchor="ctr" anchorCtr="0" horzOverflow="overflow"/>
                </a:tc>
                <a:tc hMerge="1">
                  <a:tcPr/>
                </a:tc>
                <a:tc hMerge="1">
                  <a:tcPr/>
                </a:tc>
                <a:tc rowSpan="2">
                  <a:txBody>
                    <a:bodyPr/>
                    <a:lstStyle/>
                    <a:p>
                      <a:pPr algn="l" defTabSz="457200"/>
                      <a:r>
                        <a:rPr b="1" sz="1600"/>
                        <a:t>Rationale</a:t>
                      </a:r>
                    </a:p>
                  </a:txBody>
                  <a:tcPr marL="63500" marR="63500" marT="0" marB="0" anchor="ctr" anchorCtr="0" horzOverflow="overflow"/>
                </a:tc>
                <a:tc gridSpan="3">
                  <a:txBody>
                    <a:bodyPr/>
                    <a:lstStyle/>
                    <a:p>
                      <a:pPr defTabSz="457200"/>
                      <a:r>
                        <a:rPr b="1" sz="1600"/>
                        <a:t>Long-Term SI Direction (Draft, subject to change. 2026 Qual sets may be)</a:t>
                      </a:r>
                    </a:p>
                  </a:txBody>
                  <a:tcPr marL="63500" marR="63500" marT="0" marB="0" anchor="ctr" anchorCtr="0" horzOverflow="overflow"/>
                </a:tc>
                <a:tc hMerge="1">
                  <a:tcPr/>
                </a:tc>
                <a:tc hMerge="1">
                  <a:tcPr/>
                </a:tc>
              </a:tr>
              <a:tr h="273274">
                <a:tc vMerge="1">
                  <a:tcPr/>
                </a:tc>
                <a:tc>
                  <a:txBody>
                    <a:bodyPr/>
                    <a:lstStyle/>
                    <a:p>
                      <a:pPr defTabSz="457200"/>
                      <a:r>
                        <a:rPr sz="1300"/>
                        <a:t>GSSM</a:t>
                      </a:r>
                    </a:p>
                  </a:txBody>
                  <a:tcPr marL="63500" marR="63500" marT="0" marB="0" anchor="ctr" anchorCtr="0" horzOverflow="overflow"/>
                </a:tc>
                <a:tc>
                  <a:txBody>
                    <a:bodyPr/>
                    <a:lstStyle/>
                    <a:p>
                      <a:pPr defTabSz="457200"/>
                      <a:r>
                        <a:rPr sz="1300"/>
                        <a:t>HWTE</a:t>
                      </a:r>
                    </a:p>
                  </a:txBody>
                  <a:tcPr marL="63500" marR="63500" marT="0" marB="0" anchor="ctr" anchorCtr="0" horzOverflow="overflow"/>
                </a:tc>
                <a:tc>
                  <a:txBody>
                    <a:bodyPr/>
                    <a:lstStyle/>
                    <a:p>
                      <a:pPr defTabSz="457200"/>
                      <a:r>
                        <a:rPr sz="1300"/>
                        <a:t>OpsTE</a:t>
                      </a:r>
                    </a:p>
                  </a:txBody>
                  <a:tcPr marL="63500" marR="63500" marT="0" marB="0" anchor="ctr" anchorCtr="0" horzOverflow="overflow"/>
                </a:tc>
                <a:tc vMerge="1">
                  <a:tcPr/>
                </a:tc>
                <a:tc>
                  <a:txBody>
                    <a:bodyPr/>
                    <a:lstStyle/>
                    <a:p>
                      <a:pPr defTabSz="457200"/>
                      <a:r>
                        <a:rPr b="1" sz="1600"/>
                        <a:t>2026</a:t>
                      </a:r>
                    </a:p>
                  </a:txBody>
                  <a:tcPr marL="63500" marR="63500" marT="0" marB="0" anchor="ctr" anchorCtr="0" horzOverflow="overflow"/>
                </a:tc>
                <a:tc>
                  <a:txBody>
                    <a:bodyPr/>
                    <a:lstStyle/>
                    <a:p>
                      <a:pPr defTabSz="457200"/>
                      <a:r>
                        <a:rPr b="1" sz="1600"/>
                        <a:t>2027</a:t>
                      </a:r>
                    </a:p>
                  </a:txBody>
                  <a:tcPr marL="63500" marR="63500" marT="0" marB="0" anchor="ctr" anchorCtr="0" horzOverflow="overflow"/>
                </a:tc>
                <a:tc>
                  <a:txBody>
                    <a:bodyPr/>
                    <a:lstStyle/>
                    <a:p>
                      <a:pPr defTabSz="457200"/>
                      <a:r>
                        <a:rPr b="1" sz="1600"/>
                        <a:t>2028</a:t>
                      </a:r>
                    </a:p>
                  </a:txBody>
                  <a:tcPr marL="63500" marR="63500" marT="0" marB="0" anchor="ctr" anchorCtr="0" horzOverflow="overflow"/>
                </a:tc>
              </a:tr>
              <a:tr h="273274">
                <a:tc>
                  <a:txBody>
                    <a:bodyPr/>
                    <a:lstStyle/>
                    <a:p>
                      <a:pPr algn="l" defTabSz="457200"/>
                      <a:r>
                        <a:rPr sz="1600"/>
                        <a:t>PRM</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algn="l" defTabSz="457200"/>
                      <a:r>
                        <a:rPr sz="1600"/>
                        <a:t>Deep FACT/VENT conveyor experience, design not mature. Knows NPI dev but some scaling concerns.</a:t>
                      </a:r>
                    </a:p>
                  </a:txBody>
                  <a:tcPr marL="63500" marR="63500" marT="0" marB="0" anchor="ctr" anchorCtr="0" horzOverflow="overflow"/>
                </a:tc>
                <a:tc>
                  <a:txBody>
                    <a:bodyPr/>
                    <a:lstStyle/>
                    <a:p>
                      <a:pPr algn="l" defTabSz="457200"/>
                      <a:r>
                        <a:rPr sz="1200"/>
                        <a:t>TBC</a:t>
                      </a:r>
                    </a:p>
                  </a:txBody>
                  <a:tcPr marL="63500" marR="63500" marT="0" marB="0" anchor="ctr" anchorCtr="0" horzOverflow="overflow"/>
                </a:tc>
                <a:tc>
                  <a:txBody>
                    <a:bodyPr/>
                    <a:lstStyle/>
                    <a:p>
                      <a:pPr algn="l" defTabSz="457200">
                        <a:defRPr sz="1200"/>
                      </a:pP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Amphenol</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Proven SI. CN and TH-based production. Good conveyor experience opt’y if willing to be a long-term partner.</a:t>
                      </a:r>
                    </a:p>
                  </a:txBody>
                  <a:tcPr marL="63500" marR="63500" marT="0" marB="0" anchor="ctr" anchorCtr="0" horzOverflow="overflow"/>
                </a:tc>
                <a:tc>
                  <a:txBody>
                    <a:bodyPr/>
                    <a:lstStyle/>
                    <a:p>
                      <a:pPr algn="l" defTabSz="457200"/>
                      <a:r>
                        <a:rPr sz="1200"/>
                        <a:t>SeaSalt MP, iPad NPI, niche stations</a:t>
                      </a:r>
                    </a:p>
                  </a:txBody>
                  <a:tcPr marL="63500" marR="63500" marT="0" marB="0" anchor="ctr" anchorCtr="0" horzOverflow="overflow"/>
                </a:tc>
                <a:tc>
                  <a:txBody>
                    <a:bodyPr/>
                    <a:lstStyle/>
                    <a:p>
                      <a:pPr algn="l" defTabSz="457200"/>
                      <a:r>
                        <a:rPr sz="1200"/>
                        <a:t>Pad, Portables</a:t>
                      </a: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Cencorp</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algn="l" defTabSz="457200"/>
                      <a:r>
                        <a:rPr sz="1600"/>
                        <a:t>Proven conveyor SI. CN/VN support capability.</a:t>
                      </a:r>
                    </a:p>
                  </a:txBody>
                  <a:tcPr marL="63500" marR="63500" marT="0" marB="0" anchor="ctr" anchorCtr="0" horzOverflow="overflow"/>
                </a:tc>
                <a:tc>
                  <a:txBody>
                    <a:bodyPr/>
                    <a:lstStyle/>
                    <a:p>
                      <a:pPr algn="l" defTabSz="457200"/>
                      <a:r>
                        <a:rPr sz="1200"/>
                        <a:t>iPad NPI</a:t>
                      </a:r>
                    </a:p>
                  </a:txBody>
                  <a:tcPr marL="63500" marR="63500" marT="0" marB="0" anchor="ctr" anchorCtr="0" horzOverflow="overflow"/>
                </a:tc>
                <a:tc>
                  <a:txBody>
                    <a:bodyPr/>
                    <a:lstStyle/>
                    <a:p>
                      <a:pPr algn="l" defTabSz="457200"/>
                      <a:r>
                        <a:rPr sz="1200"/>
                        <a:t>Pad, Portables, Watch, Phone</a:t>
                      </a: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Pentamaster</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Strong automation. Apple ALS module TE equipment experience. Near complete MP project through EIH.</a:t>
                      </a:r>
                    </a:p>
                  </a:txBody>
                  <a:tcPr marL="63500" marR="63500" marT="0" marB="0" anchor="ctr" anchorCtr="0" horzOverflow="overflow"/>
                </a:tc>
                <a:tc>
                  <a:txBody>
                    <a:bodyPr/>
                    <a:lstStyle/>
                    <a:p>
                      <a:pPr algn="l" defTabSz="457200"/>
                      <a:r>
                        <a:rPr sz="1200"/>
                        <a:t>SeaSalt, V7x ALS-P, V7y MP. Simple NPI station</a:t>
                      </a:r>
                    </a:p>
                  </a:txBody>
                  <a:tcPr marL="63500" marR="63500" marT="0" marB="0" anchor="ctr" anchorCtr="0" horzOverflow="overflow"/>
                </a:tc>
                <a:tc gridSpan="2" rowSpan="2">
                  <a:txBody>
                    <a:bodyPr/>
                    <a:lstStyle/>
                    <a:p>
                      <a:pPr algn="l" defTabSz="457200"/>
                      <a:r>
                        <a:rPr sz="1200"/>
                        <a:t>Primary allocation to JLK/Hyvision/Amphenol1 of 3 qualified to support following 2026 push. Support remainder of MP/NPI, roll in if one of top 3 falls out.</a:t>
                      </a:r>
                    </a:p>
                  </a:txBody>
                  <a:tcPr marL="63500" marR="63500" marT="0" marB="0" anchor="ctr" anchorCtr="0" horzOverflow="overflow"/>
                </a:tc>
                <a:tc rowSpan="2" hMerge="1">
                  <a:tcPr/>
                </a:tc>
              </a:tr>
              <a:tr h="273274">
                <a:tc>
                  <a:txBody>
                    <a:bodyPr/>
                    <a:lstStyle/>
                    <a:p>
                      <a:pPr algn="l" defTabSz="457200"/>
                      <a:r>
                        <a:rPr sz="1600"/>
                        <a:t>SPEA</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Strong technical, previous Apple experience. Pricing, TH facility capability/readiness for MP TBC.</a:t>
                      </a:r>
                    </a:p>
                  </a:txBody>
                  <a:tcPr marL="63500" marR="63500" marT="0" marB="0" anchor="ctr" anchorCtr="0" horzOverflow="overflow"/>
                </a:tc>
                <a:tc>
                  <a:txBody>
                    <a:bodyPr/>
                    <a:lstStyle/>
                    <a:p>
                      <a:pPr algn="l" defTabSz="457200"/>
                      <a:r>
                        <a:rPr sz="1200"/>
                        <a:t>SeaSalt MP, Helios SS, iPad NPI.</a:t>
                      </a:r>
                    </a:p>
                  </a:txBody>
                  <a:tcPr marL="63500" marR="63500" marT="0" marB="0" anchor="ctr" anchorCtr="0" horzOverflow="overflow"/>
                </a:tc>
                <a:tc gridSpan="2" vMerge="1">
                  <a:tcPr/>
                </a:tc>
                <a:tc hMerge="1" vMerge="1">
                  <a:tcPr/>
                </a:tc>
              </a:tr>
            </a:tbl>
          </a:graphicData>
        </a:graphic>
      </p:graphicFrame>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SI Capacity Management | Scorecard - Q181 POC Conveyors - ALS/Mesa"/>
          <p:cNvSpPr txBox="1"/>
          <p:nvPr/>
        </p:nvSpPr>
        <p:spPr>
          <a:xfrm>
            <a:off x="130137" y="330277"/>
            <a:ext cx="18436655" cy="736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indent="317500" defTabSz="825500">
              <a:lnSpc>
                <a:spcPct val="100000"/>
              </a:lnSpc>
              <a:spcBef>
                <a:spcPts val="0"/>
              </a:spcBef>
              <a:defRPr sz="4200">
                <a:solidFill>
                  <a:srgbClr val="0096FF"/>
                </a:solidFill>
                <a:latin typeface="SF Hello Regular"/>
                <a:ea typeface="SF Hello Regular"/>
                <a:cs typeface="SF Hello Regular"/>
                <a:sym typeface="SF Hello Regular"/>
              </a:defRPr>
            </a:pPr>
            <a:r>
              <a:t>SI Capacity Management </a:t>
            </a:r>
            <a:r>
              <a:rPr>
                <a:solidFill>
                  <a:srgbClr val="444444"/>
                </a:solidFill>
                <a:latin typeface="Helvetica Neue UltraLight"/>
                <a:ea typeface="Helvetica Neue UltraLight"/>
                <a:cs typeface="Helvetica Neue UltraLight"/>
                <a:sym typeface="Helvetica Neue UltraLight"/>
              </a:rPr>
              <a:t>| </a:t>
            </a:r>
            <a:r>
              <a:rPr b="1">
                <a:solidFill>
                  <a:srgbClr val="000000"/>
                </a:solidFill>
                <a:latin typeface="Helvetica"/>
                <a:ea typeface="Helvetica"/>
                <a:cs typeface="Helvetica"/>
                <a:sym typeface="Helvetica"/>
              </a:rPr>
              <a:t>Scorecard - Q181 POC Conveyors - ALS/Mesa</a:t>
            </a:r>
          </a:p>
        </p:txBody>
      </p:sp>
      <p:graphicFrame>
        <p:nvGraphicFramePr>
          <p:cNvPr id="216" name="Table 1-1-1-1-1-1"/>
          <p:cNvGraphicFramePr/>
          <p:nvPr/>
        </p:nvGraphicFramePr>
        <p:xfrm>
          <a:off x="19700065" y="3246374"/>
          <a:ext cx="4430459" cy="63347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208879"/>
                <a:gridCol w="2208879"/>
              </a:tblGrid>
              <a:tr h="310388">
                <a:tc>
                  <a:txBody>
                    <a:bodyPr/>
                    <a:lstStyle/>
                    <a:p>
                      <a:pPr defTabSz="457200"/>
                      <a:r>
                        <a:rPr sz="2000"/>
                        <a:t>Pass</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53AC79"/>
                    </a:solidFill>
                  </a:tcPr>
                </a:tc>
                <a:tc>
                  <a:txBody>
                    <a:bodyPr/>
                    <a:lstStyle/>
                    <a:p>
                      <a:pPr defTabSz="457200"/>
                      <a:r>
                        <a:rPr sz="2000">
                          <a:solidFill>
                            <a:srgbClr val="929292"/>
                          </a:solidFill>
                        </a:rPr>
                        <a:t>Conditional Pass</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FEF0D6"/>
                    </a:solidFill>
                  </a:tcPr>
                </a:tc>
              </a:tr>
              <a:tr h="310388">
                <a:tc>
                  <a:txBody>
                    <a:bodyPr/>
                    <a:lstStyle/>
                    <a:p>
                      <a:pPr defTabSz="457200"/>
                      <a:r>
                        <a:rPr sz="2000">
                          <a:solidFill>
                            <a:srgbClr val="929292"/>
                          </a:solidFill>
                        </a:rPr>
                        <a:t>Does not Meet</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D5D5D5"/>
                    </a:solidFill>
                  </a:tcPr>
                </a:tc>
                <a:tc>
                  <a:txBody>
                    <a:bodyPr/>
                    <a:lstStyle/>
                    <a:p>
                      <a:pPr defTabSz="457200"/>
                      <a:r>
                        <a:rPr sz="2000">
                          <a:solidFill>
                            <a:srgbClr val="929292"/>
                          </a:solidFill>
                        </a:rPr>
                        <a:t>TBC/NA</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tcPr>
                </a:tc>
              </a:tr>
            </a:tbl>
          </a:graphicData>
        </a:graphic>
      </p:graphicFrame>
      <p:sp>
        <p:nvSpPr>
          <p:cNvPr id="217" name="iPad programs are CN/VN only —&gt; no global SI requirement…"/>
          <p:cNvSpPr txBox="1"/>
          <p:nvPr/>
        </p:nvSpPr>
        <p:spPr>
          <a:xfrm>
            <a:off x="1708572" y="1272539"/>
            <a:ext cx="22064964" cy="11379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iPad programs are CN/VN only —&gt; no global SI requirement</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Common module from Cencorp Portables —&gt; tech preference to leverage Cencorp learnings during NPI</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Metrology risk medium high - Mesa probe grounding design and ALS EOP work distance still open and challenging —&gt; prefer to leverage Cencorp lessons learned to finalize</a:t>
            </a:r>
          </a:p>
        </p:txBody>
      </p:sp>
      <p:sp>
        <p:nvSpPr>
          <p:cNvPr id="218" name="Thesis"/>
          <p:cNvSpPr/>
          <p:nvPr/>
        </p:nvSpPr>
        <p:spPr>
          <a:xfrm>
            <a:off x="264846" y="1336039"/>
            <a:ext cx="1270001" cy="2593607"/>
          </a:xfrm>
          <a:prstGeom prst="roundRect">
            <a:avLst>
              <a:gd name="adj" fmla="val 15000"/>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latin typeface="Helvetica Neue Medium"/>
                <a:ea typeface="Helvetica Neue Medium"/>
                <a:cs typeface="Helvetica Neue Medium"/>
                <a:sym typeface="Helvetica Neue Medium"/>
              </a:defRPr>
            </a:lvl1pPr>
          </a:lstStyle>
          <a:p>
            <a:pPr/>
            <a:r>
              <a:t>Thesis</a:t>
            </a:r>
          </a:p>
        </p:txBody>
      </p:sp>
      <p:sp>
        <p:nvSpPr>
          <p:cNvPr id="219" name="Short List"/>
          <p:cNvSpPr/>
          <p:nvPr/>
        </p:nvSpPr>
        <p:spPr>
          <a:xfrm>
            <a:off x="252146" y="11520091"/>
            <a:ext cx="1270001" cy="2025214"/>
          </a:xfrm>
          <a:prstGeom prst="roundRect">
            <a:avLst>
              <a:gd name="adj" fmla="val 15000"/>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latin typeface="Helvetica Neue Medium"/>
                <a:ea typeface="Helvetica Neue Medium"/>
                <a:cs typeface="Helvetica Neue Medium"/>
                <a:sym typeface="Helvetica Neue Medium"/>
              </a:defRPr>
            </a:lvl1pPr>
          </a:lstStyle>
          <a:p>
            <a:pPr/>
            <a:r>
              <a:t>Short List</a:t>
            </a:r>
          </a:p>
        </p:txBody>
      </p:sp>
      <p:graphicFrame>
        <p:nvGraphicFramePr>
          <p:cNvPr id="220" name="Table 1-1"/>
          <p:cNvGraphicFramePr/>
          <p:nvPr/>
        </p:nvGraphicFramePr>
        <p:xfrm>
          <a:off x="1622519" y="11576236"/>
          <a:ext cx="22496686" cy="192562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530229"/>
                <a:gridCol w="908825"/>
                <a:gridCol w="908825"/>
                <a:gridCol w="908825"/>
                <a:gridCol w="908825"/>
                <a:gridCol w="908825"/>
                <a:gridCol w="908825"/>
                <a:gridCol w="15500804"/>
              </a:tblGrid>
              <a:tr h="273274">
                <a:tc rowSpan="2">
                  <a:txBody>
                    <a:bodyPr/>
                    <a:lstStyle/>
                    <a:p>
                      <a:pPr algn="l" defTabSz="457200"/>
                      <a:r>
                        <a:rPr b="1" sz="1600"/>
                        <a:t>Name</a:t>
                      </a:r>
                    </a:p>
                  </a:txBody>
                  <a:tcPr marL="63500" marR="63500" marT="0" marB="0" anchor="ctr" anchorCtr="0" horzOverflow="overflow"/>
                </a:tc>
                <a:tc gridSpan="3">
                  <a:txBody>
                    <a:bodyPr/>
                    <a:lstStyle/>
                    <a:p>
                      <a:pPr defTabSz="457200"/>
                      <a:r>
                        <a:rPr b="1" sz="1600"/>
                        <a:t>Go-No Go - POC/NPI</a:t>
                      </a:r>
                    </a:p>
                  </a:txBody>
                  <a:tcPr marL="63500" marR="63500" marT="0" marB="0" anchor="ctr" anchorCtr="0" horzOverflow="overflow"/>
                </a:tc>
                <a:tc hMerge="1">
                  <a:tcPr/>
                </a:tc>
                <a:tc hMerge="1">
                  <a:tcPr/>
                </a:tc>
                <a:tc gridSpan="3">
                  <a:txBody>
                    <a:bodyPr/>
                    <a:lstStyle/>
                    <a:p>
                      <a:pPr defTabSz="457200"/>
                      <a:r>
                        <a:rPr b="1" sz="1600"/>
                        <a:t>Go-No Go - MP</a:t>
                      </a:r>
                    </a:p>
                  </a:txBody>
                  <a:tcPr marL="63500" marR="63500" marT="0" marB="0" anchor="ctr" anchorCtr="0" horzOverflow="overflow"/>
                </a:tc>
                <a:tc hMerge="1">
                  <a:tcPr/>
                </a:tc>
                <a:tc hMerge="1">
                  <a:tcPr/>
                </a:tc>
                <a:tc rowSpan="2">
                  <a:txBody>
                    <a:bodyPr/>
                    <a:lstStyle/>
                    <a:p>
                      <a:pPr algn="l" defTabSz="457200"/>
                      <a:r>
                        <a:rPr b="1" sz="1600"/>
                        <a:t>Rationale</a:t>
                      </a:r>
                    </a:p>
                  </a:txBody>
                  <a:tcPr marL="63500" marR="63500" marT="0" marB="0" anchor="ctr" anchorCtr="0" horzOverflow="overflow"/>
                </a:tc>
              </a:tr>
              <a:tr h="273274">
                <a:tc vMerge="1">
                  <a:tcPr/>
                </a:tc>
                <a:tc>
                  <a:txBody>
                    <a:bodyPr/>
                    <a:lstStyle/>
                    <a:p>
                      <a:pPr defTabSz="457200"/>
                      <a:r>
                        <a:rPr sz="1300"/>
                        <a:t>GSSM</a:t>
                      </a:r>
                    </a:p>
                  </a:txBody>
                  <a:tcPr marL="63500" marR="63500" marT="0" marB="0" anchor="ctr" anchorCtr="0" horzOverflow="overflow"/>
                </a:tc>
                <a:tc>
                  <a:txBody>
                    <a:bodyPr/>
                    <a:lstStyle/>
                    <a:p>
                      <a:pPr defTabSz="457200"/>
                      <a:r>
                        <a:rPr sz="1300"/>
                        <a:t>HWTE</a:t>
                      </a:r>
                    </a:p>
                  </a:txBody>
                  <a:tcPr marL="63500" marR="63500" marT="0" marB="0" anchor="ctr" anchorCtr="0" horzOverflow="overflow"/>
                </a:tc>
                <a:tc>
                  <a:txBody>
                    <a:bodyPr/>
                    <a:lstStyle/>
                    <a:p>
                      <a:pPr defTabSz="457200"/>
                      <a:r>
                        <a:rPr sz="1300"/>
                        <a:t>OpsTE</a:t>
                      </a:r>
                    </a:p>
                  </a:txBody>
                  <a:tcPr marL="63500" marR="63500" marT="0" marB="0" anchor="ctr" anchorCtr="0" horzOverflow="overflow"/>
                </a:tc>
                <a:tc>
                  <a:txBody>
                    <a:bodyPr/>
                    <a:lstStyle/>
                    <a:p>
                      <a:pPr defTabSz="457200"/>
                      <a:r>
                        <a:rPr sz="1300"/>
                        <a:t>GSSM</a:t>
                      </a:r>
                    </a:p>
                  </a:txBody>
                  <a:tcPr marL="63500" marR="63500" marT="0" marB="0" anchor="ctr" anchorCtr="0" horzOverflow="overflow"/>
                </a:tc>
                <a:tc>
                  <a:txBody>
                    <a:bodyPr/>
                    <a:lstStyle/>
                    <a:p>
                      <a:pPr defTabSz="457200"/>
                      <a:r>
                        <a:rPr sz="1300"/>
                        <a:t>HWTE</a:t>
                      </a:r>
                    </a:p>
                  </a:txBody>
                  <a:tcPr marL="63500" marR="63500" marT="0" marB="0" anchor="ctr" anchorCtr="0" horzOverflow="overflow"/>
                </a:tc>
                <a:tc>
                  <a:txBody>
                    <a:bodyPr/>
                    <a:lstStyle/>
                    <a:p>
                      <a:pPr defTabSz="457200"/>
                      <a:r>
                        <a:rPr sz="1300"/>
                        <a:t>OpsTE</a:t>
                      </a:r>
                    </a:p>
                  </a:txBody>
                  <a:tcPr marL="63500" marR="63500" marT="0" marB="0" anchor="ctr" anchorCtr="0" horzOverflow="overflow"/>
                </a:tc>
                <a:tc vMerge="1">
                  <a:tcPr/>
                </a:tc>
              </a:tr>
              <a:tr h="273274">
                <a:tc>
                  <a:txBody>
                    <a:bodyPr/>
                    <a:lstStyle/>
                    <a:p>
                      <a:pPr algn="l" defTabSz="457200"/>
                      <a:r>
                        <a:rPr sz="1600"/>
                        <a:t>Cencorp</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algn="l" defTabSz="457200"/>
                      <a:r>
                        <a:rPr sz="1500"/>
                        <a:t>NPI - incumbent designer, HWTE preferred so we can focus on tech challenges. </a:t>
                      </a:r>
                    </a:p>
                  </a:txBody>
                  <a:tcPr marL="63500" marR="63500" marT="0" marB="0" anchor="ctr" anchorCtr="0" horzOverflow="overflow"/>
                </a:tc>
              </a:tr>
              <a:tr h="273274">
                <a:tc>
                  <a:txBody>
                    <a:bodyPr/>
                    <a:lstStyle/>
                    <a:p>
                      <a:pPr algn="l" defTabSz="457200"/>
                      <a:r>
                        <a:rPr sz="1600"/>
                        <a:t>Amphenol</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NPI - conditional: Proven SI but lacks conveyor qualification. Need to understand capability to address major design opens as part of RFP.</a:t>
                      </a:r>
                    </a:p>
                  </a:txBody>
                  <a:tcPr marL="63500" marR="63500" marT="0" marB="0" anchor="ctr" anchorCtr="0" horzOverflow="overflow"/>
                </a:tc>
              </a:tr>
              <a:tr h="273274">
                <a:tc>
                  <a:txBody>
                    <a:bodyPr/>
                    <a:lstStyle/>
                    <a:p>
                      <a:pPr algn="l" defTabSz="457200"/>
                      <a:r>
                        <a:rPr sz="1600"/>
                        <a:t>SPEA</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iPhone Shadow set + MP option - Strong technical, previous Apple experience. Pricing, TH facility capability/readiness for MP TBC.</a:t>
                      </a:r>
                    </a:p>
                  </a:txBody>
                  <a:tcPr marL="63500" marR="63500" marT="0" marB="0" anchor="ctr" anchorCtr="0" horzOverflow="overflow"/>
                </a:tc>
              </a:tr>
              <a:tr h="273274">
                <a:tc>
                  <a:txBody>
                    <a:bodyPr/>
                    <a:lstStyle/>
                    <a:p>
                      <a:pPr algn="l" defTabSz="457200"/>
                      <a:r>
                        <a:rPr sz="1600"/>
                        <a:t>IVD</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rowSpan="2">
                  <a:txBody>
                    <a:bodyPr/>
                    <a:lstStyle/>
                    <a:p>
                      <a:pPr algn="l" defTabSz="457200"/>
                      <a:r>
                        <a:rPr sz="1500"/>
                        <a:t>iPhone Shadow set + MP option - good opportunity to learn, can support WW (FACT/VENT architecture present on all LOBs)</a:t>
                      </a:r>
                    </a:p>
                  </a:txBody>
                  <a:tcPr marL="63500" marR="63500" marT="0" marB="0" anchor="ctr" anchorCtr="0" horzOverflow="overflow"/>
                </a:tc>
              </a:tr>
              <a:tr h="273274">
                <a:tc>
                  <a:txBody>
                    <a:bodyPr/>
                    <a:lstStyle/>
                    <a:p>
                      <a:pPr algn="l" defTabSz="457200"/>
                      <a:r>
                        <a:rPr sz="1600"/>
                        <a:t>Pentamaster</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vMerge="1">
                  <a:tcPr/>
                </a:tc>
              </a:tr>
            </a:tbl>
          </a:graphicData>
        </a:graphic>
      </p:graphicFrame>
      <p:graphicFrame>
        <p:nvGraphicFramePr>
          <p:cNvPr id="221" name="Table 1"/>
          <p:cNvGraphicFramePr/>
          <p:nvPr/>
        </p:nvGraphicFramePr>
        <p:xfrm>
          <a:off x="261539" y="4079162"/>
          <a:ext cx="23803973" cy="10107492"/>
        </p:xfrm>
        <a:graphic xmlns:a="http://schemas.openxmlformats.org/drawingml/2006/main">
          <a:graphicData uri="http://schemas.openxmlformats.org/drawingml/2006/table">
            <a:tbl>
              <a:tblPr firstCol="1" firstRow="0" lastCol="0" lastRow="0" bandCol="0" bandRow="0" rtl="0">
                <a:tableStyleId>{4C3C2611-4C71-4FC5-86AE-919BDF0F9419}</a:tableStyleId>
              </a:tblPr>
              <a:tblGrid>
                <a:gridCol w="1230947"/>
                <a:gridCol w="766078"/>
                <a:gridCol w="766078"/>
                <a:gridCol w="766078"/>
                <a:gridCol w="766078"/>
                <a:gridCol w="766078"/>
                <a:gridCol w="766078"/>
                <a:gridCol w="766078"/>
                <a:gridCol w="766078"/>
                <a:gridCol w="766078"/>
                <a:gridCol w="786933"/>
                <a:gridCol w="663146"/>
                <a:gridCol w="848155"/>
                <a:gridCol w="766078"/>
                <a:gridCol w="858823"/>
                <a:gridCol w="858823"/>
                <a:gridCol w="858823"/>
                <a:gridCol w="858823"/>
                <a:gridCol w="640868"/>
                <a:gridCol w="656081"/>
                <a:gridCol w="690258"/>
                <a:gridCol w="1017979"/>
                <a:gridCol w="631900"/>
                <a:gridCol w="586722"/>
                <a:gridCol w="620823"/>
                <a:gridCol w="4391026"/>
              </a:tblGrid>
              <a:tr h="348978">
                <a:tc rowSpan="2">
                  <a:txBody>
                    <a:bodyPr/>
                    <a:lstStyle/>
                    <a:p>
                      <a:pPr defTabSz="914400">
                        <a:tabLst>
                          <a:tab pos="1663700" algn="l"/>
                        </a:tabLst>
                        <a:defRPr b="0"/>
                      </a:pPr>
                      <a:r>
                        <a:rPr b="1" sz="1600"/>
                        <a:t>Criteria</a:t>
                      </a:r>
                    </a:p>
                  </a:txBody>
                  <a:tcPr marL="50800" marR="50800" marT="50800" marB="50800" anchor="ctr" anchorCtr="0" horzOverflow="overflow">
                    <a:lnR w="12700">
                      <a:solidFill>
                        <a:srgbClr val="000000"/>
                      </a:solidFill>
                      <a:miter lim="400000"/>
                    </a:lnR>
                  </a:tcPr>
                </a:tc>
                <a:tc gridSpan="2">
                  <a:txBody>
                    <a:bodyPr/>
                    <a:lstStyle/>
                    <a:p>
                      <a:pPr defTabSz="914400">
                        <a:tabLst>
                          <a:tab pos="1663700" algn="l"/>
                        </a:tabLst>
                      </a:pPr>
                      <a:r>
                        <a:rPr b="1" sz="1600"/>
                        <a:t>OK2 Engage?</a:t>
                      </a:r>
                    </a:p>
                  </a:txBody>
                  <a:tcPr marL="50800" marR="50800" marT="50800" marB="50800" anchor="ctr" anchorCtr="0" horzOverflow="overflow">
                    <a:lnL w="12700">
                      <a:solidFill>
                        <a:srgbClr val="000000"/>
                      </a:solidFill>
                      <a:miter lim="400000"/>
                    </a:lnL>
                  </a:tcPr>
                </a:tc>
                <a:tc hMerge="1">
                  <a:tcPr/>
                </a:tc>
                <a:tc gridSpan="4">
                  <a:txBody>
                    <a:bodyPr/>
                    <a:lstStyle/>
                    <a:p>
                      <a:pPr defTabSz="914400">
                        <a:tabLst>
                          <a:tab pos="1663700" algn="l"/>
                        </a:tabLst>
                      </a:pPr>
                      <a:r>
                        <a:rPr b="1" sz="1300"/>
                        <a:t>Legal/Commercial Operations OK</a:t>
                      </a:r>
                    </a:p>
                  </a:txBody>
                  <a:tcPr marL="50800" marR="50800" marT="50800" marB="50800" anchor="ctr" anchorCtr="0" horzOverflow="overflow"/>
                </a:tc>
                <a:tc hMerge="1">
                  <a:tcPr/>
                </a:tc>
                <a:tc hMerge="1">
                  <a:tcPr/>
                </a:tc>
                <a:tc hMerge="1">
                  <a:tcPr/>
                </a:tc>
                <a:tc gridSpan="3">
                  <a:txBody>
                    <a:bodyPr/>
                    <a:lstStyle/>
                    <a:p>
                      <a:pPr defTabSz="914400">
                        <a:tabLst>
                          <a:tab pos="1663700" algn="l"/>
                        </a:tabLst>
                      </a:pPr>
                      <a:r>
                        <a:rPr b="1" sz="1600"/>
                        <a:t>Infrastructure Audit</a:t>
                      </a:r>
                    </a:p>
                  </a:txBody>
                  <a:tcPr marL="50800" marR="50800" marT="50800" marB="50800" anchor="ctr" anchorCtr="0" horzOverflow="overflow"/>
                </a:tc>
                <a:tc hMerge="1">
                  <a:tcPr/>
                </a:tc>
                <a:tc hMerge="1">
                  <a:tcPr/>
                </a:tc>
                <a:tc>
                  <a:txBody>
                    <a:bodyPr/>
                    <a:lstStyle/>
                    <a:p>
                      <a:pPr defTabSz="914400">
                        <a:tabLst>
                          <a:tab pos="1663700" algn="l"/>
                        </a:tabLst>
                      </a:pPr>
                      <a:r>
                        <a:rPr b="1" sz="900"/>
                        <a:t>Experience</a:t>
                      </a:r>
                    </a:p>
                  </a:txBody>
                  <a:tcPr marL="50800" marR="50800" marT="50800" marB="50800" anchor="ctr" anchorCtr="0" horzOverflow="overflow"/>
                </a:tc>
                <a:tc gridSpan="2">
                  <a:txBody>
                    <a:bodyPr/>
                    <a:lstStyle/>
                    <a:p>
                      <a:pPr defTabSz="914400">
                        <a:tabLst>
                          <a:tab pos="1663700" algn="l"/>
                        </a:tabLst>
                      </a:pPr>
                      <a:r>
                        <a:rPr b="1" sz="1600"/>
                        <a:t>SI Capacity</a:t>
                      </a:r>
                    </a:p>
                  </a:txBody>
                  <a:tcPr marL="50800" marR="50800" marT="50800" marB="50800" anchor="ctr" anchorCtr="0" horzOverflow="overflow"/>
                </a:tc>
                <a:tc hMerge="1">
                  <a:tcPr/>
                </a:tc>
                <a:tc gridSpan="5">
                  <a:txBody>
                    <a:bodyPr/>
                    <a:lstStyle/>
                    <a:p>
                      <a:pPr defTabSz="914400">
                        <a:tabLst>
                          <a:tab pos="1663700" algn="l"/>
                        </a:tabLst>
                      </a:pPr>
                      <a:r>
                        <a:rPr b="1" sz="1600"/>
                        <a:t>Blockers, TTM</a:t>
                      </a:r>
                    </a:p>
                  </a:txBody>
                  <a:tcPr marL="50800" marR="50800" marT="50800" marB="50800" anchor="ctr" anchorCtr="0" horzOverflow="overflow"/>
                </a:tc>
                <a:tc hMerge="1">
                  <a:tcPr/>
                </a:tc>
                <a:tc hMerge="1">
                  <a:tcPr/>
                </a:tc>
                <a:tc hMerge="1">
                  <a:tcPr/>
                </a:tc>
                <a:tc hMerge="1">
                  <a:tcPr/>
                </a:tc>
                <a:tc gridSpan="3">
                  <a:txBody>
                    <a:bodyPr/>
                    <a:lstStyle/>
                    <a:p>
                      <a:pPr defTabSz="914400">
                        <a:tabLst>
                          <a:tab pos="1663700" algn="l"/>
                        </a:tabLst>
                      </a:pPr>
                      <a:r>
                        <a:rPr b="1" sz="1600"/>
                        <a:t>Top SI Potential</a:t>
                      </a:r>
                    </a:p>
                  </a:txBody>
                  <a:tcPr marL="50800" marR="50800" marT="50800" marB="50800" anchor="ctr" anchorCtr="0" horzOverflow="overflow"/>
                </a:tc>
                <a:tc hMerge="1">
                  <a:tcPr/>
                </a:tc>
                <a:tc hMerge="1">
                  <a:tcPr/>
                </a:tc>
                <a:tc rowSpan="4">
                  <a:txBody>
                    <a:bodyPr/>
                    <a:lstStyle/>
                    <a:p>
                      <a:pPr defTabSz="914400">
                        <a:tabLst>
                          <a:tab pos="1663700" algn="l"/>
                        </a:tabLst>
                        <a:defRPr b="1" sz="1400"/>
                      </a:pPr>
                      <a:r>
                        <a:t>Forced Rank </a:t>
                      </a:r>
                    </a:p>
                    <a:p>
                      <a:pPr defTabSz="914400">
                        <a:tabLst>
                          <a:tab pos="1663700" algn="l"/>
                        </a:tabLst>
                        <a:defRPr b="1" sz="1400"/>
                      </a:pPr>
                      <a:r>
                        <a:rPr i="1" sz="1200"/>
                        <a:t>(Un-weighted)</a:t>
                      </a:r>
                    </a:p>
                  </a:txBody>
                  <a:tcPr marL="50800" marR="50800" marT="50800" marB="50800" anchor="ctr" anchorCtr="0" horzOverflow="overflow"/>
                </a:tc>
                <a:tc gridSpan="4">
                  <a:txBody>
                    <a:bodyPr/>
                    <a:lstStyle/>
                    <a:p>
                      <a:pPr defTabSz="914400">
                        <a:tabLst>
                          <a:tab pos="1663700" algn="l"/>
                        </a:tabLst>
                      </a:pPr>
                      <a:r>
                        <a:rPr b="1" sz="1600"/>
                        <a:t>Go-No Go Rating + Rationale</a:t>
                      </a:r>
                    </a:p>
                  </a:txBody>
                  <a:tcPr marL="50800" marR="50800" marT="50800" marB="50800" anchor="ctr" anchorCtr="0" horzOverflow="overflow"/>
                </a:tc>
                <a:tc hMerge="1">
                  <a:tcPr/>
                </a:tc>
                <a:tc hMerge="1">
                  <a:tcPr/>
                </a:tc>
                <a:tc hMerge="1">
                  <a:tcPr/>
                </a:tc>
              </a:tr>
              <a:tr h="492180">
                <a:tc vMerge="1">
                  <a:tcPr/>
                </a:tc>
                <a:tc>
                  <a:txBody>
                    <a:bodyPr/>
                    <a:lstStyle/>
                    <a:p>
                      <a:pPr defTabSz="914400">
                        <a:tabLst>
                          <a:tab pos="1663700" algn="l"/>
                        </a:tabLst>
                      </a:pPr>
                      <a:r>
                        <a:rPr sz="1400"/>
                        <a:t>Legal</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pPr>
                      <a:r>
                        <a:rPr sz="1200"/>
                        <a:t>Commercial</a:t>
                      </a:r>
                    </a:p>
                  </a:txBody>
                  <a:tcPr marL="50800" marR="50800" marT="50800" marB="50800" anchor="ctr" anchorCtr="0" horzOverflow="overflow"/>
                </a:tc>
                <a:tc>
                  <a:txBody>
                    <a:bodyPr/>
                    <a:lstStyle/>
                    <a:p>
                      <a:pPr defTabSz="914400">
                        <a:tabLst>
                          <a:tab pos="1663700" algn="l"/>
                        </a:tabLst>
                      </a:pPr>
                      <a:r>
                        <a:rPr sz="1200"/>
                        <a:t>Non PRC HQ</a:t>
                      </a:r>
                    </a:p>
                  </a:txBody>
                  <a:tcPr marL="50800" marR="50800" marT="50800" marB="50800" anchor="ctr" anchorCtr="0" horzOverflow="overflow"/>
                </a:tc>
                <a:tc>
                  <a:txBody>
                    <a:bodyPr/>
                    <a:lstStyle/>
                    <a:p>
                      <a:pPr defTabSz="914400">
                        <a:tabLst>
                          <a:tab pos="1663700" algn="l"/>
                        </a:tabLst>
                      </a:pPr>
                      <a:r>
                        <a:rPr sz="1400"/>
                        <a:t>IN</a:t>
                      </a:r>
                    </a:p>
                  </a:txBody>
                  <a:tcPr marL="50800" marR="50800" marT="50800" marB="50800" anchor="ctr" anchorCtr="0" horzOverflow="overflow"/>
                </a:tc>
                <a:tc>
                  <a:txBody>
                    <a:bodyPr/>
                    <a:lstStyle/>
                    <a:p>
                      <a:pPr defTabSz="914400">
                        <a:tabLst>
                          <a:tab pos="1663700" algn="l"/>
                        </a:tabLst>
                      </a:pPr>
                      <a:r>
                        <a:rPr sz="1400"/>
                        <a:t>CN</a:t>
                      </a:r>
                    </a:p>
                  </a:txBody>
                  <a:tcPr marL="50800" marR="50800" marT="50800" marB="50800" anchor="ctr" anchorCtr="0" horzOverflow="overflow"/>
                </a:tc>
                <a:tc>
                  <a:txBody>
                    <a:bodyPr/>
                    <a:lstStyle/>
                    <a:p>
                      <a:pPr defTabSz="914400">
                        <a:tabLst>
                          <a:tab pos="1663700" algn="l"/>
                        </a:tabLst>
                      </a:pPr>
                      <a:r>
                        <a:rPr sz="1400"/>
                        <a:t>Other Geo</a:t>
                      </a:r>
                    </a:p>
                  </a:txBody>
                  <a:tcPr marL="50800" marR="50800" marT="50800" marB="50800" anchor="ctr" anchorCtr="0" horzOverflow="overflow"/>
                </a:tc>
                <a:tc>
                  <a:txBody>
                    <a:bodyPr/>
                    <a:lstStyle/>
                    <a:p>
                      <a:pPr defTabSz="914400">
                        <a:tabLst>
                          <a:tab pos="1663700" algn="l"/>
                        </a:tabLst>
                      </a:pPr>
                      <a:r>
                        <a:rPr sz="1400"/>
                        <a:t>CN</a:t>
                      </a:r>
                    </a:p>
                  </a:txBody>
                  <a:tcPr marL="50800" marR="50800" marT="50800" marB="50800" anchor="ctr" anchorCtr="0" horzOverflow="overflow"/>
                </a:tc>
                <a:tc>
                  <a:txBody>
                    <a:bodyPr/>
                    <a:lstStyle/>
                    <a:p>
                      <a:pPr defTabSz="914400">
                        <a:tabLst>
                          <a:tab pos="1663700" algn="l"/>
                        </a:tabLst>
                      </a:pPr>
                      <a:r>
                        <a:rPr sz="1400"/>
                        <a:t>IN</a:t>
                      </a:r>
                    </a:p>
                  </a:txBody>
                  <a:tcPr marL="50800" marR="50800" marT="50800" marB="50800" anchor="ctr" anchorCtr="0" horzOverflow="overflow"/>
                </a:tc>
                <a:tc>
                  <a:txBody>
                    <a:bodyPr/>
                    <a:lstStyle/>
                    <a:p>
                      <a:pPr defTabSz="914400">
                        <a:tabLst>
                          <a:tab pos="1663700" algn="l"/>
                        </a:tabLst>
                      </a:pPr>
                      <a:r>
                        <a:rPr sz="1400"/>
                        <a:t>Other</a:t>
                      </a:r>
                    </a:p>
                  </a:txBody>
                  <a:tcPr marL="50800" marR="50800" marT="50800" marB="50800" anchor="ctr" anchorCtr="0" horzOverflow="overflow"/>
                </a:tc>
                <a:tc>
                  <a:txBody>
                    <a:bodyPr/>
                    <a:lstStyle/>
                    <a:p>
                      <a:pPr defTabSz="914400">
                        <a:tabLst>
                          <a:tab pos="1663700" algn="l"/>
                        </a:tabLst>
                      </a:pPr>
                      <a:r>
                        <a:rPr sz="1400"/>
                        <a:t>Qual done?</a:t>
                      </a:r>
                    </a:p>
                  </a:txBody>
                  <a:tcPr marL="50800" marR="50800" marT="50800" marB="50800" anchor="ctr" anchorCtr="0" horzOverflow="overflow"/>
                </a:tc>
                <a:tc>
                  <a:txBody>
                    <a:bodyPr/>
                    <a:lstStyle/>
                    <a:p>
                      <a:pPr defTabSz="914400">
                        <a:tabLst>
                          <a:tab pos="1663700" algn="l"/>
                        </a:tabLst>
                      </a:pPr>
                      <a:r>
                        <a:rPr sz="1400"/>
                        <a:t>MP</a:t>
                      </a:r>
                    </a:p>
                  </a:txBody>
                  <a:tcPr marL="50800" marR="50800" marT="50800" marB="50800" anchor="ctr" anchorCtr="0" horzOverflow="overflow"/>
                </a:tc>
                <a:tc>
                  <a:txBody>
                    <a:bodyPr/>
                    <a:lstStyle/>
                    <a:p>
                      <a:pPr defTabSz="914400">
                        <a:tabLst>
                          <a:tab pos="1663700" algn="l"/>
                        </a:tabLst>
                      </a:pPr>
                      <a:r>
                        <a:rPr sz="1200"/>
                        <a:t>Eng Team available?</a:t>
                      </a:r>
                    </a:p>
                  </a:txBody>
                  <a:tcPr marL="50800" marR="50800" marT="50800" marB="50800" anchor="ctr" anchorCtr="0" horzOverflow="overflow"/>
                </a:tc>
                <a:tc>
                  <a:txBody>
                    <a:bodyPr/>
                    <a:lstStyle/>
                    <a:p>
                      <a:pPr defTabSz="914400">
                        <a:tabLst>
                          <a:tab pos="1663700" algn="l"/>
                        </a:tabLst>
                      </a:pPr>
                      <a:r>
                        <a:rPr sz="1400"/>
                        <a:t>Build</a:t>
                      </a:r>
                    </a:p>
                  </a:txBody>
                  <a:tcPr marL="50800" marR="50800" marT="50800" marB="50800" anchor="ctr" anchorCtr="0" horzOverflow="overflow"/>
                </a:tc>
                <a:tc>
                  <a:txBody>
                    <a:bodyPr/>
                    <a:lstStyle/>
                    <a:p>
                      <a:pPr defTabSz="914400">
                        <a:tabLst>
                          <a:tab pos="1663700" algn="l"/>
                        </a:tabLst>
                      </a:pPr>
                      <a:r>
                        <a:rPr sz="1200"/>
                        <a:t>Test Readiness</a:t>
                      </a:r>
                    </a:p>
                  </a:txBody>
                  <a:tcPr marL="50800" marR="50800" marT="50800" marB="50800" anchor="ctr" anchorCtr="0" horzOverflow="overflow"/>
                </a:tc>
                <a:tc>
                  <a:txBody>
                    <a:bodyPr/>
                    <a:lstStyle/>
                    <a:p>
                      <a:pPr defTabSz="914400">
                        <a:tabLst>
                          <a:tab pos="1663700" algn="l"/>
                        </a:tabLst>
                      </a:pPr>
                      <a:r>
                        <a:rPr sz="1400"/>
                        <a:t>EIH</a:t>
                      </a:r>
                    </a:p>
                  </a:txBody>
                  <a:tcPr marL="50800" marR="50800" marT="50800" marB="50800" anchor="ctr" anchorCtr="0" horzOverflow="overflow"/>
                </a:tc>
                <a:tc>
                  <a:txBody>
                    <a:bodyPr/>
                    <a:lstStyle/>
                    <a:p>
                      <a:pPr defTabSz="914400">
                        <a:tabLst>
                          <a:tab pos="1663700" algn="l"/>
                        </a:tabLst>
                      </a:pPr>
                      <a:r>
                        <a:rPr sz="1400"/>
                        <a:t>Design Lock</a:t>
                      </a:r>
                    </a:p>
                  </a:txBody>
                  <a:tcPr marL="50800" marR="50800" marT="50800" marB="50800" anchor="ctr" anchorCtr="0" horzOverflow="overflow"/>
                </a:tc>
                <a:tc>
                  <a:txBody>
                    <a:bodyPr/>
                    <a:lstStyle/>
                    <a:p>
                      <a:pPr defTabSz="914400">
                        <a:tabLst>
                          <a:tab pos="1663700" algn="l"/>
                        </a:tabLst>
                      </a:pPr>
                      <a:r>
                        <a:rPr sz="1400"/>
                        <a:t>Near Misses</a:t>
                      </a:r>
                    </a:p>
                  </a:txBody>
                  <a:tcPr marL="50800" marR="50800" marT="50800" marB="50800" anchor="ctr" anchorCtr="0" horzOverflow="overflow"/>
                </a:tc>
                <a:tc rowSpan="2">
                  <a:txBody>
                    <a:bodyPr/>
                    <a:lstStyle/>
                    <a:p>
                      <a:pPr defTabSz="914400">
                        <a:tabLst>
                          <a:tab pos="1663700" algn="l"/>
                        </a:tabLst>
                      </a:pPr>
                      <a:r>
                        <a:rPr sz="1400"/>
                        <a:t>GSSM</a:t>
                      </a:r>
                    </a:p>
                  </a:txBody>
                  <a:tcPr marL="50800" marR="50800" marT="50800" marB="50800" anchor="ctr" anchorCtr="0" horzOverflow="overflow"/>
                </a:tc>
                <a:tc rowSpan="2">
                  <a:txBody>
                    <a:bodyPr/>
                    <a:lstStyle/>
                    <a:p>
                      <a:pPr defTabSz="914400">
                        <a:tabLst>
                          <a:tab pos="1663700" algn="l"/>
                        </a:tabLst>
                      </a:pPr>
                      <a:r>
                        <a:rPr sz="1400"/>
                        <a:t>HWTE</a:t>
                      </a:r>
                    </a:p>
                  </a:txBody>
                  <a:tcPr marL="50800" marR="50800" marT="50800" marB="50800" anchor="ctr" anchorCtr="0" horzOverflow="overflow"/>
                </a:tc>
                <a:tc rowSpan="2">
                  <a:txBody>
                    <a:bodyPr/>
                    <a:lstStyle/>
                    <a:p>
                      <a:pPr defTabSz="914400">
                        <a:tabLst>
                          <a:tab pos="1663700" algn="l"/>
                        </a:tabLst>
                      </a:pPr>
                      <a:r>
                        <a:rPr sz="1400"/>
                        <a:t>OpsTE</a:t>
                      </a:r>
                    </a:p>
                  </a:txBody>
                  <a:tcPr marL="50800" marR="50800" marT="50800" marB="50800" anchor="ctr" anchorCtr="0" horzOverflow="overflow"/>
                </a:tc>
                <a:tc vMerge="1">
                  <a:tcPr/>
                </a:tc>
                <a:tc rowSpan="3">
                  <a:txBody>
                    <a:bodyPr/>
                    <a:lstStyle/>
                    <a:p>
                      <a:pPr defTabSz="914400">
                        <a:tabLst>
                          <a:tab pos="1663700" algn="l"/>
                        </a:tabLst>
                      </a:pPr>
                      <a:r>
                        <a:rPr sz="1300"/>
                        <a:t>GSM</a:t>
                      </a:r>
                    </a:p>
                  </a:txBody>
                  <a:tcPr marL="50800" marR="50800" marT="50800" marB="50800" anchor="ctr" anchorCtr="0" horzOverflow="overflow"/>
                </a:tc>
                <a:tc rowSpan="3">
                  <a:txBody>
                    <a:bodyPr/>
                    <a:lstStyle/>
                    <a:p>
                      <a:pPr defTabSz="914400">
                        <a:tabLst>
                          <a:tab pos="1663700" algn="l"/>
                        </a:tabLst>
                      </a:pPr>
                      <a:r>
                        <a:rPr sz="1300"/>
                        <a:t>HWTE</a:t>
                      </a:r>
                    </a:p>
                  </a:txBody>
                  <a:tcPr marL="50800" marR="50800" marT="50800" marB="50800" anchor="ctr" anchorCtr="0" horzOverflow="overflow"/>
                </a:tc>
                <a:tc rowSpan="3">
                  <a:txBody>
                    <a:bodyPr/>
                    <a:lstStyle/>
                    <a:p>
                      <a:pPr defTabSz="914400">
                        <a:tabLst>
                          <a:tab pos="1663700" algn="l"/>
                        </a:tabLst>
                      </a:pPr>
                      <a:r>
                        <a:rPr sz="1300"/>
                        <a:t>OpsTE</a:t>
                      </a:r>
                    </a:p>
                  </a:txBody>
                  <a:tcPr marL="50800" marR="50800" marT="50800" marB="50800" anchor="ctr" anchorCtr="0" horzOverflow="overflow"/>
                </a:tc>
                <a:tc rowSpan="3">
                  <a:txBody>
                    <a:bodyPr/>
                    <a:lstStyle/>
                    <a:p>
                      <a:pPr defTabSz="914400">
                        <a:tabLst>
                          <a:tab pos="1663700" algn="l"/>
                        </a:tabLst>
                      </a:pPr>
                      <a:r>
                        <a:rPr sz="1600"/>
                        <a:t>Summary</a:t>
                      </a:r>
                    </a:p>
                  </a:txBody>
                  <a:tcPr marL="50800" marR="50800" marT="50800" marB="50800" anchor="ctr" anchorCtr="0" horzOverflow="overflow"/>
                </a:tc>
              </a:tr>
              <a:tr h="333742">
                <a:tc>
                  <a:txBody>
                    <a:bodyPr/>
                    <a:lstStyle/>
                    <a:p>
                      <a:pPr defTabSz="914400">
                        <a:tabLst>
                          <a:tab pos="1663700" algn="l"/>
                        </a:tabLst>
                        <a:defRPr b="0"/>
                      </a:pPr>
                      <a:r>
                        <a:rPr b="1" sz="1600"/>
                        <a:t>DRI</a:t>
                      </a:r>
                    </a:p>
                  </a:txBody>
                  <a:tcPr marL="50800" marR="50800" marT="50800" marB="50800" anchor="ctr" anchorCtr="0" horzOverflow="overflow">
                    <a:lnR w="12700">
                      <a:solidFill>
                        <a:srgbClr val="000000"/>
                      </a:solidFill>
                      <a:miter lim="400000"/>
                    </a:lnR>
                  </a:tcPr>
                </a:tc>
                <a:tc>
                  <a:txBody>
                    <a:bodyPr/>
                    <a:lstStyle/>
                    <a:p>
                      <a:pPr defTabSz="914400">
                        <a:tabLst>
                          <a:tab pos="1663700" algn="l"/>
                        </a:tabLst>
                      </a:pPr>
                      <a:r>
                        <a:rPr sz="1400"/>
                        <a:t>GSM</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gridSpan="5">
                  <a:txBody>
                    <a:bodyPr/>
                    <a:lstStyle/>
                    <a:p>
                      <a:pPr defTabSz="914400">
                        <a:tabLst>
                          <a:tab pos="1663700" algn="l"/>
                        </a:tabLst>
                      </a:pPr>
                      <a:r>
                        <a:rPr sz="1400"/>
                        <a:t>All (GSM, HWTE, OpsTE, Capex)</a:t>
                      </a:r>
                    </a:p>
                  </a:txBody>
                  <a:tcPr marL="50800" marR="50800" marT="50800" marB="50800" anchor="ctr" anchorCtr="0" horzOverflow="overflow"/>
                </a:tc>
                <a:tc hMerge="1">
                  <a:tcPr/>
                </a:tc>
                <a:tc hMerge="1">
                  <a:tcPr/>
                </a:tc>
                <a:tc hMerge="1">
                  <a:tcPr/>
                </a:tc>
                <a:tc hMerge="1">
                  <a:tcPr/>
                </a:tc>
                <a:tc vMerge="1">
                  <a:tcPr/>
                </a:tc>
                <a:tc vMerge="1">
                  <a:tcPr/>
                </a:tc>
                <a:tc vMerge="1">
                  <a:tcPr/>
                </a:tc>
                <a:tc vMerge="1">
                  <a:tcPr/>
                </a:tc>
                <a:tc vMerge="1">
                  <a:tcPr/>
                </a:tc>
                <a:tc vMerge="1">
                  <a:tcPr/>
                </a:tc>
                <a:tc vMerge="1">
                  <a:tcPr/>
                </a:tc>
                <a:tc vMerge="1">
                  <a:tcPr/>
                </a:tc>
              </a:tr>
              <a:tr h="333742">
                <a:tc>
                  <a:txBody>
                    <a:bodyPr/>
                    <a:lstStyle/>
                    <a:p>
                      <a:pPr defTabSz="914400">
                        <a:tabLst>
                          <a:tab pos="1663700" algn="l"/>
                        </a:tabLst>
                        <a:defRPr b="0"/>
                      </a:pPr>
                      <a:r>
                        <a:rPr b="1" sz="1600"/>
                        <a:t>MH/NTH</a:t>
                      </a:r>
                    </a:p>
                  </a:txBody>
                  <a:tcPr marL="50800" marR="50800" marT="50800" marB="50800" anchor="ctr" anchorCtr="0" horzOverflow="overflow">
                    <a:lnR w="12700">
                      <a:solidFill>
                        <a:srgbClr val="000000"/>
                      </a:solidFill>
                      <a:miter lim="400000"/>
                    </a:lnR>
                  </a:tcPr>
                </a:tc>
                <a:tc gridSpan="11">
                  <a:txBody>
                    <a:bodyPr/>
                    <a:lstStyle/>
                    <a:p>
                      <a:pPr defTabSz="914400">
                        <a:tabLst>
                          <a:tab pos="1663700" algn="l"/>
                        </a:tabLst>
                      </a:pPr>
                      <a:r>
                        <a:rPr sz="1400"/>
                        <a:t>Must Have</a:t>
                      </a:r>
                    </a:p>
                  </a:txBody>
                  <a:tcPr marL="50800" marR="50800" marT="50800" marB="50800" anchor="ctr" anchorCtr="0" horzOverflow="overflow">
                    <a:lnL w="12700">
                      <a:solidFill>
                        <a:srgbClr val="000000"/>
                      </a:solidFill>
                      <a:miter lim="400000"/>
                    </a:lnL>
                  </a:tcPr>
                </a:tc>
                <a:tc hMerge="1">
                  <a:tcPr/>
                </a:tc>
                <a:tc hMerge="1">
                  <a:tcPr/>
                </a:tc>
                <a:tc hMerge="1">
                  <a:tcPr/>
                </a:tc>
                <a:tc hMerge="1">
                  <a:tcPr/>
                </a:tc>
                <a:tc hMerge="1">
                  <a:tcPr/>
                </a:tc>
                <a:tc hMerge="1">
                  <a:tcPr/>
                </a:tc>
                <a:tc hMerge="1">
                  <a:tcPr/>
                </a:tc>
                <a:tc hMerge="1">
                  <a:tcPr/>
                </a:tc>
                <a:tc hMerge="1">
                  <a:tcPr/>
                </a:tc>
                <a:tc hMerge="1">
                  <a:tcPr/>
                </a:tc>
                <a:tc gridSpan="9">
                  <a:txBody>
                    <a:bodyPr/>
                    <a:lstStyle/>
                    <a:p>
                      <a:pPr defTabSz="914400">
                        <a:tabLst>
                          <a:tab pos="1663700" algn="l"/>
                        </a:tabLst>
                      </a:pPr>
                      <a:r>
                        <a:rPr sz="1400"/>
                        <a:t>Nice to Have</a:t>
                      </a:r>
                    </a:p>
                  </a:txBody>
                  <a:tcPr marL="50800" marR="50800" marT="50800" marB="50800" anchor="ctr" anchorCtr="0" horzOverflow="overflow"/>
                </a:tc>
                <a:tc hMerge="1">
                  <a:tcPr/>
                </a:tc>
                <a:tc hMerge="1">
                  <a:tcPr/>
                </a:tc>
                <a:tc hMerge="1">
                  <a:tcPr/>
                </a:tc>
                <a:tc hMerge="1">
                  <a:tcPr/>
                </a:tc>
                <a:tc hMerge="1">
                  <a:tcPr/>
                </a:tc>
                <a:tc hMerge="1">
                  <a:tcPr/>
                </a:tc>
                <a:tc hMerge="1">
                  <a:tcPr/>
                </a:tc>
                <a:tc hMerge="1">
                  <a:tcPr/>
                </a:tc>
                <a:tc vMerge="1">
                  <a:tcPr/>
                </a:tc>
                <a:tc vMerge="1">
                  <a:tcPr/>
                </a:tc>
                <a:tc vMerge="1">
                  <a:tcPr/>
                </a:tc>
                <a:tc vMerge="1">
                  <a:tcPr/>
                </a:tc>
                <a:tc vMerge="1">
                  <a:tcPr/>
                </a:tc>
              </a:tr>
              <a:tr h="298255">
                <a:tc>
                  <a:txBody>
                    <a:bodyPr/>
                    <a:lstStyle/>
                    <a:p>
                      <a:pPr algn="l" defTabSz="457200">
                        <a:defRPr b="0"/>
                      </a:pPr>
                      <a:r>
                        <a:rPr sz="1400"/>
                        <a:t>Amphenol</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17.25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Capable vendor that needs conveyor experience.</a:t>
                      </a:r>
                    </a:p>
                  </a:txBody>
                  <a:tcPr marL="50800" marR="50800" marT="50800" marB="50800" anchor="ctr" anchorCtr="0" horzOverflow="overflow"/>
                </a:tc>
              </a:tr>
              <a:tr h="310420">
                <a:tc>
                  <a:txBody>
                    <a:bodyPr/>
                    <a:lstStyle/>
                    <a:p>
                      <a:pPr algn="l" defTabSz="457200">
                        <a:defRPr b="0"/>
                      </a:pPr>
                      <a:r>
                        <a:rPr sz="1400"/>
                        <a:t>Averna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17</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SI phased out - Can’t meet MP price targets</a:t>
                      </a:r>
                    </a:p>
                  </a:txBody>
                  <a:tcPr marL="50800" marR="50800" marT="50800" marB="50800" anchor="ctr" anchorCtr="0" horzOverflow="overflow"/>
                </a:tc>
              </a:tr>
              <a:tr h="310420">
                <a:tc>
                  <a:txBody>
                    <a:bodyPr/>
                    <a:lstStyle/>
                    <a:p>
                      <a:pPr algn="l" defTabSz="457200">
                        <a:defRPr b="0"/>
                      </a:pPr>
                      <a:r>
                        <a:rPr sz="1400"/>
                        <a:t>SPEA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15.75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Previous HWTE SI, strong technical, scaling TBC.</a:t>
                      </a:r>
                    </a:p>
                  </a:txBody>
                  <a:tcPr marL="50800" marR="50800" marT="50800" marB="50800" anchor="ctr" anchorCtr="0" horzOverflow="overflow"/>
                </a:tc>
              </a:tr>
              <a:tr h="298255">
                <a:tc>
                  <a:txBody>
                    <a:bodyPr/>
                    <a:lstStyle/>
                    <a:p>
                      <a:pPr algn="l" defTabSz="457200">
                        <a:defRPr b="0"/>
                      </a:pPr>
                      <a:r>
                        <a:rPr sz="1400"/>
                        <a:t>HVS</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Not NPI qualified, focused on B798. Save BW for IN.</a:t>
                      </a:r>
                    </a:p>
                  </a:txBody>
                  <a:tcPr marL="50800" marR="50800" marT="50800" marB="50800" anchor="ctr" anchorCtr="0" horzOverflow="overflow"/>
                </a:tc>
              </a:tr>
              <a:tr h="298255">
                <a:tc>
                  <a:txBody>
                    <a:bodyPr/>
                    <a:lstStyle/>
                    <a:p>
                      <a:pPr algn="l" defTabSz="457200">
                        <a:defRPr b="0"/>
                      </a:pPr>
                      <a:r>
                        <a:rPr sz="1400"/>
                        <a:t>JLK</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Bandwidth issues, but capable if no options.</a:t>
                      </a:r>
                    </a:p>
                  </a:txBody>
                  <a:tcPr marL="50800" marR="50800" marT="50800" marB="50800" anchor="ctr" anchorCtr="0" horzOverflow="overflow"/>
                </a:tc>
              </a:tr>
              <a:tr h="294367">
                <a:tc>
                  <a:txBody>
                    <a:bodyPr/>
                    <a:lstStyle/>
                    <a:p>
                      <a:pPr algn="l" defTabSz="457200">
                        <a:defRPr b="0"/>
                      </a:pPr>
                      <a:r>
                        <a:rPr sz="1400"/>
                        <a:t>PRM</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Conveyor experience, but lower potential (IN)</a:t>
                      </a:r>
                    </a:p>
                  </a:txBody>
                  <a:tcPr marL="50800" marR="50800" marT="50800" marB="50800" anchor="ctr" anchorCtr="0" horzOverflow="overflow"/>
                </a:tc>
              </a:tr>
              <a:tr h="298255">
                <a:tc>
                  <a:txBody>
                    <a:bodyPr/>
                    <a:lstStyle/>
                    <a:p>
                      <a:pPr algn="l" defTabSz="457200">
                        <a:defRPr b="0"/>
                      </a:pPr>
                      <a:r>
                        <a:rPr sz="1400"/>
                        <a:t>Cencorp</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13.75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Incumbent, but lower potential (IN)</a:t>
                      </a:r>
                    </a:p>
                  </a:txBody>
                  <a:tcPr marL="50800" marR="50800" marT="50800" marB="50800" anchor="ctr" anchorCtr="0" horzOverflow="overflow"/>
                </a:tc>
              </a:tr>
              <a:tr h="294367">
                <a:tc>
                  <a:txBody>
                    <a:bodyPr/>
                    <a:lstStyle/>
                    <a:p>
                      <a:pPr algn="l" defTabSz="457200">
                        <a:defRPr b="0"/>
                      </a:pPr>
                      <a:r>
                        <a:rPr sz="1400"/>
                        <a:t>Innorev</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11.75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Bandwidth/performance issues, skip for now</a:t>
                      </a:r>
                    </a:p>
                  </a:txBody>
                  <a:tcPr marL="50800" marR="50800" marT="50800" marB="50800" anchor="ctr" anchorCtr="0" horzOverflow="overflow"/>
                </a:tc>
              </a:tr>
              <a:tr h="310420">
                <a:tc>
                  <a:txBody>
                    <a:bodyPr/>
                    <a:lstStyle/>
                    <a:p>
                      <a:pPr algn="l" defTabSz="457200">
                        <a:defRPr b="0"/>
                      </a:pPr>
                      <a:r>
                        <a:rPr sz="1400"/>
                        <a:t>Pentamaster</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11.5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Not qualified for NPI, needs a shadow set</a:t>
                      </a:r>
                    </a:p>
                  </a:txBody>
                  <a:tcPr marL="50800" marR="50800" marT="50800" marB="50800" anchor="ctr" anchorCtr="0" horzOverflow="overflow"/>
                </a:tc>
              </a:tr>
              <a:tr h="321622">
                <a:tc>
                  <a:txBody>
                    <a:bodyPr/>
                    <a:lstStyle/>
                    <a:p>
                      <a:pPr algn="l" defTabSz="457200">
                        <a:defRPr b="0"/>
                      </a:pPr>
                      <a:r>
                        <a:rPr sz="1400"/>
                        <a:t>IVD</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10.25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Not qualified for NPI, needs a shadow set</a:t>
                      </a:r>
                    </a:p>
                  </a:txBody>
                  <a:tcPr marL="50800" marR="50800" marT="50800" marB="50800" anchor="ctr" anchorCtr="0" horzOverflow="overflow"/>
                </a:tc>
              </a:tr>
              <a:tr h="321622">
                <a:tc>
                  <a:txBody>
                    <a:bodyPr/>
                    <a:lstStyle/>
                    <a:p>
                      <a:pPr algn="l" defTabSz="457200">
                        <a:defRPr b="0"/>
                      </a:pPr>
                      <a:r>
                        <a:rPr sz="1400"/>
                        <a:t>VVDN</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9.5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Needs shadow set to qualify. limited IN opp’y for this. </a:t>
                      </a:r>
                    </a:p>
                  </a:txBody>
                  <a:tcPr marL="50800" marR="50800" marT="50800" marB="50800" anchor="ctr" anchorCtr="0" horzOverflow="overflow"/>
                </a:tc>
              </a:tr>
              <a:tr h="294367">
                <a:tc>
                  <a:txBody>
                    <a:bodyPr/>
                    <a:lstStyle/>
                    <a:p>
                      <a:pPr algn="l" defTabSz="457200">
                        <a:defRPr b="0"/>
                      </a:pPr>
                      <a:r>
                        <a:rPr sz="1400"/>
                        <a:t>Accurate</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8</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Not a conveyor-capable SI</a:t>
                      </a:r>
                    </a:p>
                  </a:txBody>
                  <a:tcPr marL="50800" marR="50800" marT="50800" marB="50800" anchor="ctr" anchorCtr="0" horzOverflow="overflow"/>
                </a:tc>
              </a:tr>
              <a:tr h="321622">
                <a:tc>
                  <a:txBody>
                    <a:bodyPr/>
                    <a:lstStyle/>
                    <a:p>
                      <a:pPr algn="l" defTabSz="457200">
                        <a:defRPr b="0"/>
                      </a:pPr>
                      <a:r>
                        <a:rPr sz="1400"/>
                        <a:t>SFO</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7</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TTM NPI performance —&gt; limited eng learnings BW</a:t>
                      </a:r>
                    </a:p>
                  </a:txBody>
                  <a:tcPr marL="50800" marR="50800" marT="50800" marB="50800" anchor="ctr" anchorCtr="0" horzOverflow="overflow"/>
                </a:tc>
              </a:tr>
              <a:tr h="310420">
                <a:tc>
                  <a:txBody>
                    <a:bodyPr/>
                    <a:lstStyle/>
                    <a:p>
                      <a:pPr algn="l" defTabSz="457200">
                        <a:defRPr b="0"/>
                      </a:pPr>
                      <a:r>
                        <a:rPr sz="1400"/>
                        <a:t>Anora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6</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Low priority, can revisit if other choices drop</a:t>
                      </a:r>
                    </a:p>
                  </a:txBody>
                  <a:tcPr marL="50800" marR="50800" marT="50800" marB="50800" anchor="ctr" anchorCtr="0" horzOverflow="overflow"/>
                </a:tc>
              </a:tr>
              <a:tr h="294367">
                <a:tc>
                  <a:txBody>
                    <a:bodyPr/>
                    <a:lstStyle/>
                    <a:p>
                      <a:pPr algn="l" defTabSz="457200">
                        <a:defRPr b="0"/>
                      </a:pPr>
                      <a:r>
                        <a:rPr sz="1400"/>
                        <a:t>Stiwa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5.5</a:t>
                      </a:r>
                    </a:p>
                  </a:txBody>
                  <a:tcPr marL="63500" marR="63500" marT="0" marB="0" anchor="ctr" anchorCtr="0" horzOverflow="overflow"/>
                </a:tc>
                <a:tc>
                  <a:txBody>
                    <a:bodyPr/>
                    <a:lstStyle/>
                    <a:p>
                      <a:pPr defTabSz="457200">
                        <a:defRPr sz="1600">
                          <a:latin typeface="Helvetica"/>
                          <a:ea typeface="Helvetica"/>
                          <a:cs typeface="Helvetica"/>
                          <a:sym typeface="Helvetica"/>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Occupied on AE projects; declining RFPs</a:t>
                      </a:r>
                    </a:p>
                  </a:txBody>
                  <a:tcPr marL="50800" marR="50800" marT="50800" marB="50800" anchor="ctr" anchorCtr="0" horzOverflow="overflow"/>
                </a:tc>
              </a:tr>
              <a:tr h="310420">
                <a:tc>
                  <a:txBody>
                    <a:bodyPr/>
                    <a:lstStyle/>
                    <a:p>
                      <a:pPr algn="l" defTabSz="457200">
                        <a:defRPr b="0"/>
                      </a:pPr>
                      <a:r>
                        <a:rPr sz="1400"/>
                        <a:t>Zeiss</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5</a:t>
                      </a:r>
                    </a:p>
                  </a:txBody>
                  <a:tcPr marL="63500" marR="63500" marT="0" marB="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Engaged on VG; Commercially not competitive</a:t>
                      </a:r>
                    </a:p>
                  </a:txBody>
                  <a:tcPr marL="50800" marR="50800" marT="50800" marB="50800" anchor="ctr" anchorCtr="0" horzOverflow="overflow"/>
                </a:tc>
              </a:tr>
              <a:tr h="294367">
                <a:tc>
                  <a:txBody>
                    <a:bodyPr/>
                    <a:lstStyle/>
                    <a:p>
                      <a:pPr algn="l" defTabSz="457200">
                        <a:defRPr b="0"/>
                      </a:pPr>
                      <a:r>
                        <a:rPr sz="1400"/>
                        <a:t>ATS</a:t>
                      </a:r>
                    </a:p>
                  </a:txBody>
                  <a:tcPr marL="63500" marR="63500" marT="0" marB="0" anchor="ctr" anchorCtr="0" horzOverflow="overflow">
                    <a:lnR w="12700">
                      <a:solidFill>
                        <a:srgbClr val="000000"/>
                      </a:solidFill>
                      <a:miter lim="400000"/>
                    </a:lnR>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lnL w="12700">
                      <a:solidFill>
                        <a:srgbClr val="000000"/>
                      </a:solidFill>
                      <a:miter lim="400000"/>
                    </a:ln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defTabSz="914400">
                        <a:defRPr sz="1600"/>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Gated by GSM OK2Engage feedback</a:t>
                      </a:r>
                    </a:p>
                  </a:txBody>
                  <a:tcPr marL="50800" marR="50800" marT="50800" marB="50800" anchor="ctr" anchorCtr="0" horzOverflow="overflow"/>
                </a:tc>
              </a:tr>
              <a:tr h="310420">
                <a:tc>
                  <a:txBody>
                    <a:bodyPr/>
                    <a:lstStyle/>
                    <a:p>
                      <a:pPr algn="l" defTabSz="457200">
                        <a:defRPr b="0"/>
                      </a:pPr>
                      <a:r>
                        <a:rPr sz="1400"/>
                        <a:t>AIR</a:t>
                      </a:r>
                    </a:p>
                  </a:txBody>
                  <a:tcPr marL="63500" marR="63500" marT="0" marB="0" anchor="ctr" anchorCtr="0" horzOverflow="overflow">
                    <a:lnR w="12700">
                      <a:solidFill>
                        <a:srgbClr val="000000"/>
                      </a:solidFill>
                      <a:miter lim="400000"/>
                    </a:lnR>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lnL w="12700">
                      <a:solidFill>
                        <a:srgbClr val="000000"/>
                      </a:solidFill>
                      <a:miter lim="400000"/>
                    </a:lnL>
                    <a:solidFill>
                      <a:srgbClr val="D5D5D5"/>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Currently refusing to sign EDPA</a:t>
                      </a:r>
                    </a:p>
                  </a:txBody>
                  <a:tcPr marL="50800" marR="50800" marT="50800" marB="50800" anchor="ctr" anchorCtr="0" horzOverflow="overflow"/>
                </a:tc>
              </a:tr>
              <a:tr h="310420">
                <a:tc>
                  <a:txBody>
                    <a:bodyPr/>
                    <a:lstStyle/>
                    <a:p>
                      <a:pPr algn="l" defTabSz="457200">
                        <a:defRPr b="0"/>
                      </a:pPr>
                      <a:r>
                        <a:rPr sz="1400"/>
                        <a:t>Zetwerk</a:t>
                      </a:r>
                    </a:p>
                  </a:txBody>
                  <a:tcPr marL="63500" marR="63500" marT="0" marB="0" anchor="ctr" anchorCtr="0" horzOverflow="overflow">
                    <a:lnR w="12700">
                      <a:solidFill>
                        <a:srgbClr val="000000"/>
                      </a:solidFill>
                      <a:miter lim="400000"/>
                    </a:lnR>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lnL w="12700">
                      <a:solidFill>
                        <a:srgbClr val="000000"/>
                      </a:solidFill>
                      <a:miter lim="400000"/>
                    </a:ln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Legal docs still under discussion</a:t>
                      </a:r>
                    </a:p>
                  </a:txBody>
                  <a:tcPr marL="50800" marR="50800" marT="50800" marB="50800" anchor="ctr" anchorCtr="0" horzOverflow="overflow"/>
                </a:tc>
              </a:tr>
            </a:tbl>
          </a:graphicData>
        </a:graphic>
      </p:graphicFrame>
      <p:graphicFrame>
        <p:nvGraphicFramePr>
          <p:cNvPr id="222" name="Table 1-1-1"/>
          <p:cNvGraphicFramePr/>
          <p:nvPr/>
        </p:nvGraphicFramePr>
        <p:xfrm>
          <a:off x="1622519" y="14402765"/>
          <a:ext cx="22496686" cy="192562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325892"/>
                <a:gridCol w="670198"/>
                <a:gridCol w="670198"/>
                <a:gridCol w="670198"/>
                <a:gridCol w="10173872"/>
                <a:gridCol w="3506958"/>
                <a:gridCol w="2777778"/>
                <a:gridCol w="2688886"/>
              </a:tblGrid>
              <a:tr h="273274">
                <a:tc rowSpan="2">
                  <a:txBody>
                    <a:bodyPr/>
                    <a:lstStyle/>
                    <a:p>
                      <a:pPr algn="l" defTabSz="457200"/>
                      <a:r>
                        <a:rPr b="1" sz="1600"/>
                        <a:t>Name</a:t>
                      </a:r>
                    </a:p>
                  </a:txBody>
                  <a:tcPr marL="63500" marR="63500" marT="0" marB="0" anchor="ctr" anchorCtr="0" horzOverflow="overflow"/>
                </a:tc>
                <a:tc gridSpan="3">
                  <a:txBody>
                    <a:bodyPr/>
                    <a:lstStyle/>
                    <a:p>
                      <a:pPr defTabSz="457200"/>
                      <a:r>
                        <a:rPr b="1" sz="1600"/>
                        <a:t>Go - No Go Rating</a:t>
                      </a:r>
                    </a:p>
                  </a:txBody>
                  <a:tcPr marL="63500" marR="63500" marT="0" marB="0" anchor="ctr" anchorCtr="0" horzOverflow="overflow"/>
                </a:tc>
                <a:tc hMerge="1">
                  <a:tcPr/>
                </a:tc>
                <a:tc hMerge="1">
                  <a:tcPr/>
                </a:tc>
                <a:tc rowSpan="2">
                  <a:txBody>
                    <a:bodyPr/>
                    <a:lstStyle/>
                    <a:p>
                      <a:pPr algn="l" defTabSz="457200"/>
                      <a:r>
                        <a:rPr b="1" sz="1600"/>
                        <a:t>Rationale</a:t>
                      </a:r>
                    </a:p>
                  </a:txBody>
                  <a:tcPr marL="63500" marR="63500" marT="0" marB="0" anchor="ctr" anchorCtr="0" horzOverflow="overflow"/>
                </a:tc>
                <a:tc gridSpan="3">
                  <a:txBody>
                    <a:bodyPr/>
                    <a:lstStyle/>
                    <a:p>
                      <a:pPr defTabSz="457200"/>
                      <a:r>
                        <a:rPr b="1" sz="1600"/>
                        <a:t>Long-Term SI Direction (Draft, subject to change. 2026 Qual sets may be)</a:t>
                      </a:r>
                    </a:p>
                  </a:txBody>
                  <a:tcPr marL="63500" marR="63500" marT="0" marB="0" anchor="ctr" anchorCtr="0" horzOverflow="overflow"/>
                </a:tc>
                <a:tc hMerge="1">
                  <a:tcPr/>
                </a:tc>
                <a:tc hMerge="1">
                  <a:tcPr/>
                </a:tc>
              </a:tr>
              <a:tr h="273274">
                <a:tc vMerge="1">
                  <a:tcPr/>
                </a:tc>
                <a:tc>
                  <a:txBody>
                    <a:bodyPr/>
                    <a:lstStyle/>
                    <a:p>
                      <a:pPr defTabSz="457200"/>
                      <a:r>
                        <a:rPr sz="1300"/>
                        <a:t>GSSM</a:t>
                      </a:r>
                    </a:p>
                  </a:txBody>
                  <a:tcPr marL="63500" marR="63500" marT="0" marB="0" anchor="ctr" anchorCtr="0" horzOverflow="overflow"/>
                </a:tc>
                <a:tc>
                  <a:txBody>
                    <a:bodyPr/>
                    <a:lstStyle/>
                    <a:p>
                      <a:pPr defTabSz="457200"/>
                      <a:r>
                        <a:rPr sz="1300"/>
                        <a:t>HWTE</a:t>
                      </a:r>
                    </a:p>
                  </a:txBody>
                  <a:tcPr marL="63500" marR="63500" marT="0" marB="0" anchor="ctr" anchorCtr="0" horzOverflow="overflow"/>
                </a:tc>
                <a:tc>
                  <a:txBody>
                    <a:bodyPr/>
                    <a:lstStyle/>
                    <a:p>
                      <a:pPr defTabSz="457200"/>
                      <a:r>
                        <a:rPr sz="1300"/>
                        <a:t>OpsTE</a:t>
                      </a:r>
                    </a:p>
                  </a:txBody>
                  <a:tcPr marL="63500" marR="63500" marT="0" marB="0" anchor="ctr" anchorCtr="0" horzOverflow="overflow"/>
                </a:tc>
                <a:tc vMerge="1">
                  <a:tcPr/>
                </a:tc>
                <a:tc>
                  <a:txBody>
                    <a:bodyPr/>
                    <a:lstStyle/>
                    <a:p>
                      <a:pPr defTabSz="457200"/>
                      <a:r>
                        <a:rPr b="1" sz="1600"/>
                        <a:t>2026</a:t>
                      </a:r>
                    </a:p>
                  </a:txBody>
                  <a:tcPr marL="63500" marR="63500" marT="0" marB="0" anchor="ctr" anchorCtr="0" horzOverflow="overflow"/>
                </a:tc>
                <a:tc>
                  <a:txBody>
                    <a:bodyPr/>
                    <a:lstStyle/>
                    <a:p>
                      <a:pPr defTabSz="457200"/>
                      <a:r>
                        <a:rPr b="1" sz="1600"/>
                        <a:t>2027</a:t>
                      </a:r>
                    </a:p>
                  </a:txBody>
                  <a:tcPr marL="63500" marR="63500" marT="0" marB="0" anchor="ctr" anchorCtr="0" horzOverflow="overflow"/>
                </a:tc>
                <a:tc>
                  <a:txBody>
                    <a:bodyPr/>
                    <a:lstStyle/>
                    <a:p>
                      <a:pPr defTabSz="457200"/>
                      <a:r>
                        <a:rPr b="1" sz="1600"/>
                        <a:t>2028</a:t>
                      </a:r>
                    </a:p>
                  </a:txBody>
                  <a:tcPr marL="63500" marR="63500" marT="0" marB="0" anchor="ctr" anchorCtr="0" horzOverflow="overflow"/>
                </a:tc>
              </a:tr>
              <a:tr h="273274">
                <a:tc>
                  <a:txBody>
                    <a:bodyPr/>
                    <a:lstStyle/>
                    <a:p>
                      <a:pPr algn="l" defTabSz="457200"/>
                      <a:r>
                        <a:rPr sz="1600"/>
                        <a:t>PRM</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algn="l" defTabSz="457200"/>
                      <a:r>
                        <a:rPr sz="1600"/>
                        <a:t>Deep FACT/VENT conveyor experience, design not mature. Knows NPI dev but some scaling concerns.</a:t>
                      </a:r>
                    </a:p>
                  </a:txBody>
                  <a:tcPr marL="63500" marR="63500" marT="0" marB="0" anchor="ctr" anchorCtr="0" horzOverflow="overflow"/>
                </a:tc>
                <a:tc>
                  <a:txBody>
                    <a:bodyPr/>
                    <a:lstStyle/>
                    <a:p>
                      <a:pPr algn="l" defTabSz="457200"/>
                      <a:r>
                        <a:rPr sz="1200"/>
                        <a:t>TBC</a:t>
                      </a:r>
                    </a:p>
                  </a:txBody>
                  <a:tcPr marL="63500" marR="63500" marT="0" marB="0" anchor="ctr" anchorCtr="0" horzOverflow="overflow"/>
                </a:tc>
                <a:tc>
                  <a:txBody>
                    <a:bodyPr/>
                    <a:lstStyle/>
                    <a:p>
                      <a:pPr algn="l" defTabSz="457200">
                        <a:defRPr sz="1200"/>
                      </a:pP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Amphenol</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Proven SI. CN and TH-based production. Good conveyor experience opt’y if willing to be a long-term partner.</a:t>
                      </a:r>
                    </a:p>
                  </a:txBody>
                  <a:tcPr marL="63500" marR="63500" marT="0" marB="0" anchor="ctr" anchorCtr="0" horzOverflow="overflow"/>
                </a:tc>
                <a:tc>
                  <a:txBody>
                    <a:bodyPr/>
                    <a:lstStyle/>
                    <a:p>
                      <a:pPr algn="l" defTabSz="457200"/>
                      <a:r>
                        <a:rPr sz="1200"/>
                        <a:t>SeaSalt MP, iPad NPI, niche stations</a:t>
                      </a:r>
                    </a:p>
                  </a:txBody>
                  <a:tcPr marL="63500" marR="63500" marT="0" marB="0" anchor="ctr" anchorCtr="0" horzOverflow="overflow"/>
                </a:tc>
                <a:tc>
                  <a:txBody>
                    <a:bodyPr/>
                    <a:lstStyle/>
                    <a:p>
                      <a:pPr algn="l" defTabSz="457200"/>
                      <a:r>
                        <a:rPr sz="1200"/>
                        <a:t>Pad, Portables</a:t>
                      </a: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Cencorp</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algn="l" defTabSz="457200"/>
                      <a:r>
                        <a:rPr sz="1600"/>
                        <a:t>Proven conveyor SI. CN/VN support capability.</a:t>
                      </a:r>
                    </a:p>
                  </a:txBody>
                  <a:tcPr marL="63500" marR="63500" marT="0" marB="0" anchor="ctr" anchorCtr="0" horzOverflow="overflow"/>
                </a:tc>
                <a:tc>
                  <a:txBody>
                    <a:bodyPr/>
                    <a:lstStyle/>
                    <a:p>
                      <a:pPr algn="l" defTabSz="457200"/>
                      <a:r>
                        <a:rPr sz="1200"/>
                        <a:t>iPad NPI</a:t>
                      </a:r>
                    </a:p>
                  </a:txBody>
                  <a:tcPr marL="63500" marR="63500" marT="0" marB="0" anchor="ctr" anchorCtr="0" horzOverflow="overflow"/>
                </a:tc>
                <a:tc>
                  <a:txBody>
                    <a:bodyPr/>
                    <a:lstStyle/>
                    <a:p>
                      <a:pPr algn="l" defTabSz="457200"/>
                      <a:r>
                        <a:rPr sz="1200"/>
                        <a:t>Pad, Portables, Watch, Phone</a:t>
                      </a: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Pentamaster</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Strong automation. Apple ALS module TE equipment experience. Near complete MP project through EIH.</a:t>
                      </a:r>
                    </a:p>
                  </a:txBody>
                  <a:tcPr marL="63500" marR="63500" marT="0" marB="0" anchor="ctr" anchorCtr="0" horzOverflow="overflow"/>
                </a:tc>
                <a:tc>
                  <a:txBody>
                    <a:bodyPr/>
                    <a:lstStyle/>
                    <a:p>
                      <a:pPr algn="l" defTabSz="457200"/>
                      <a:r>
                        <a:rPr sz="1200"/>
                        <a:t>SeaSalt, V7x ALS-P, V7y MP. Simple NPI station</a:t>
                      </a:r>
                    </a:p>
                  </a:txBody>
                  <a:tcPr marL="63500" marR="63500" marT="0" marB="0" anchor="ctr" anchorCtr="0" horzOverflow="overflow"/>
                </a:tc>
                <a:tc gridSpan="2" rowSpan="2">
                  <a:txBody>
                    <a:bodyPr/>
                    <a:lstStyle/>
                    <a:p>
                      <a:pPr algn="l" defTabSz="457200"/>
                      <a:r>
                        <a:rPr sz="1200"/>
                        <a:t>Primary allocation to JLK/Hyvision/Amphenol1 of 3 qualified to support following 2026 push. Support remainder of MP/NPI, roll in if one of top 3 falls out.</a:t>
                      </a:r>
                    </a:p>
                  </a:txBody>
                  <a:tcPr marL="63500" marR="63500" marT="0" marB="0" anchor="ctr" anchorCtr="0" horzOverflow="overflow"/>
                </a:tc>
                <a:tc rowSpan="2" hMerge="1">
                  <a:tcPr/>
                </a:tc>
              </a:tr>
              <a:tr h="273274">
                <a:tc>
                  <a:txBody>
                    <a:bodyPr/>
                    <a:lstStyle/>
                    <a:p>
                      <a:pPr algn="l" defTabSz="457200"/>
                      <a:r>
                        <a:rPr sz="1600"/>
                        <a:t>SPEA</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Strong technical, previous Apple experience. Pricing, TH facility capability/readiness for MP TBC.</a:t>
                      </a:r>
                    </a:p>
                  </a:txBody>
                  <a:tcPr marL="63500" marR="63500" marT="0" marB="0" anchor="ctr" anchorCtr="0" horzOverflow="overflow"/>
                </a:tc>
                <a:tc>
                  <a:txBody>
                    <a:bodyPr/>
                    <a:lstStyle/>
                    <a:p>
                      <a:pPr algn="l" defTabSz="457200"/>
                      <a:r>
                        <a:rPr sz="1200"/>
                        <a:t>SeaSalt MP, Helios SS, iPad NPI.</a:t>
                      </a:r>
                    </a:p>
                  </a:txBody>
                  <a:tcPr marL="63500" marR="63500" marT="0" marB="0" anchor="ctr" anchorCtr="0" horzOverflow="overflow"/>
                </a:tc>
                <a:tc gridSpan="2" vMerge="1">
                  <a:tcPr/>
                </a:tc>
                <a:tc hMerge="1" vMerge="1">
                  <a:tcPr/>
                </a:tc>
              </a:tr>
            </a:tbl>
          </a:graphicData>
        </a:graphic>
      </p:graphicFrame>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SI Capacity Management | Scorecard - Q181 POC Conveyors - IMU"/>
          <p:cNvSpPr txBox="1"/>
          <p:nvPr/>
        </p:nvSpPr>
        <p:spPr>
          <a:xfrm>
            <a:off x="1531256" y="480060"/>
            <a:ext cx="16884639" cy="736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indent="317500" defTabSz="825500">
              <a:lnSpc>
                <a:spcPct val="100000"/>
              </a:lnSpc>
              <a:spcBef>
                <a:spcPts val="0"/>
              </a:spcBef>
              <a:defRPr sz="4200">
                <a:solidFill>
                  <a:srgbClr val="0096FF"/>
                </a:solidFill>
                <a:latin typeface="SF Hello Regular"/>
                <a:ea typeface="SF Hello Regular"/>
                <a:cs typeface="SF Hello Regular"/>
                <a:sym typeface="SF Hello Regular"/>
              </a:defRPr>
            </a:pPr>
            <a:r>
              <a:t>SI Capacity Management </a:t>
            </a:r>
            <a:r>
              <a:rPr>
                <a:solidFill>
                  <a:srgbClr val="444444"/>
                </a:solidFill>
                <a:latin typeface="Helvetica Neue UltraLight"/>
                <a:ea typeface="Helvetica Neue UltraLight"/>
                <a:cs typeface="Helvetica Neue UltraLight"/>
                <a:sym typeface="Helvetica Neue UltraLight"/>
              </a:rPr>
              <a:t>| </a:t>
            </a:r>
            <a:r>
              <a:rPr b="1">
                <a:solidFill>
                  <a:srgbClr val="000000"/>
                </a:solidFill>
                <a:latin typeface="Helvetica"/>
                <a:ea typeface="Helvetica"/>
                <a:cs typeface="Helvetica"/>
                <a:sym typeface="Helvetica"/>
              </a:rPr>
              <a:t>Scorecard - Q181 POC Conveyors - IMU</a:t>
            </a:r>
          </a:p>
        </p:txBody>
      </p:sp>
      <p:graphicFrame>
        <p:nvGraphicFramePr>
          <p:cNvPr id="227" name="Table 1-1-1-1-1-1"/>
          <p:cNvGraphicFramePr/>
          <p:nvPr/>
        </p:nvGraphicFramePr>
        <p:xfrm>
          <a:off x="19700065" y="3246374"/>
          <a:ext cx="4430459" cy="63347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208879"/>
                <a:gridCol w="2208879"/>
              </a:tblGrid>
              <a:tr h="310388">
                <a:tc>
                  <a:txBody>
                    <a:bodyPr/>
                    <a:lstStyle/>
                    <a:p>
                      <a:pPr defTabSz="457200"/>
                      <a:r>
                        <a:rPr sz="2000"/>
                        <a:t>Pass</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53AC79"/>
                    </a:solidFill>
                  </a:tcPr>
                </a:tc>
                <a:tc>
                  <a:txBody>
                    <a:bodyPr/>
                    <a:lstStyle/>
                    <a:p>
                      <a:pPr defTabSz="457200"/>
                      <a:r>
                        <a:rPr sz="2000">
                          <a:solidFill>
                            <a:srgbClr val="929292"/>
                          </a:solidFill>
                        </a:rPr>
                        <a:t>Conditional Pass</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FEF0D6"/>
                    </a:solidFill>
                  </a:tcPr>
                </a:tc>
              </a:tr>
              <a:tr h="310388">
                <a:tc>
                  <a:txBody>
                    <a:bodyPr/>
                    <a:lstStyle/>
                    <a:p>
                      <a:pPr defTabSz="457200"/>
                      <a:r>
                        <a:rPr sz="2000">
                          <a:solidFill>
                            <a:srgbClr val="929292"/>
                          </a:solidFill>
                        </a:rPr>
                        <a:t>Does not Meet</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D5D5D5"/>
                    </a:solidFill>
                  </a:tcPr>
                </a:tc>
                <a:tc>
                  <a:txBody>
                    <a:bodyPr/>
                    <a:lstStyle/>
                    <a:p>
                      <a:pPr defTabSz="457200"/>
                      <a:r>
                        <a:rPr sz="2000">
                          <a:solidFill>
                            <a:srgbClr val="929292"/>
                          </a:solidFill>
                        </a:rPr>
                        <a:t>TBC/NA</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tcPr>
                </a:tc>
              </a:tr>
            </a:tbl>
          </a:graphicData>
        </a:graphic>
      </p:graphicFrame>
      <p:sp>
        <p:nvSpPr>
          <p:cNvPr id="228" name="iPad programs are CN/VN only —&gt; no global SI requirement…"/>
          <p:cNvSpPr txBox="1"/>
          <p:nvPr/>
        </p:nvSpPr>
        <p:spPr>
          <a:xfrm>
            <a:off x="1708572" y="1272539"/>
            <a:ext cx="22064964" cy="150368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iPad programs are CN/VN only —&gt; no global SI requirement</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IMU will has MP (and potentially NPI) in future IN phone programs —&gt; Nice to have a Global SI preparing on this technology early</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Leveraging Scarlet architecture —&gt; learnings would be relevant to future IN support</a:t>
            </a:r>
          </a:p>
          <a:p>
            <a:pPr marL="228600" indent="-228600" defTabSz="457200">
              <a:lnSpc>
                <a:spcPct val="120000"/>
              </a:lnSpc>
              <a:spcBef>
                <a:spcPts val="0"/>
              </a:spcBef>
              <a:buSzPct val="100000"/>
              <a:buChar char="•"/>
              <a:defRPr sz="2000">
                <a:latin typeface="SF Hello Regular"/>
                <a:ea typeface="SF Hello Regular"/>
                <a:cs typeface="SF Hello Regular"/>
                <a:sym typeface="SF Hello Regular"/>
              </a:defRPr>
            </a:pPr>
            <a:r>
              <a:t>Metrology risk medium high</a:t>
            </a:r>
          </a:p>
        </p:txBody>
      </p:sp>
      <p:sp>
        <p:nvSpPr>
          <p:cNvPr id="229" name="Thesis"/>
          <p:cNvSpPr/>
          <p:nvPr/>
        </p:nvSpPr>
        <p:spPr>
          <a:xfrm>
            <a:off x="264846" y="1336039"/>
            <a:ext cx="1270001" cy="2593607"/>
          </a:xfrm>
          <a:prstGeom prst="roundRect">
            <a:avLst>
              <a:gd name="adj" fmla="val 15000"/>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latin typeface="Helvetica Neue Medium"/>
                <a:ea typeface="Helvetica Neue Medium"/>
                <a:cs typeface="Helvetica Neue Medium"/>
                <a:sym typeface="Helvetica Neue Medium"/>
              </a:defRPr>
            </a:lvl1pPr>
          </a:lstStyle>
          <a:p>
            <a:pPr/>
            <a:r>
              <a:t>Thesis</a:t>
            </a:r>
          </a:p>
        </p:txBody>
      </p:sp>
      <p:sp>
        <p:nvSpPr>
          <p:cNvPr id="230" name="Short List"/>
          <p:cNvSpPr/>
          <p:nvPr/>
        </p:nvSpPr>
        <p:spPr>
          <a:xfrm>
            <a:off x="252146" y="11520091"/>
            <a:ext cx="1270001" cy="2025214"/>
          </a:xfrm>
          <a:prstGeom prst="roundRect">
            <a:avLst>
              <a:gd name="adj" fmla="val 15000"/>
            </a:avLst>
          </a:prstGeom>
          <a:solidFill>
            <a:srgbClr val="000000"/>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sz="2400">
                <a:solidFill>
                  <a:srgbClr val="FFFFFF"/>
                </a:solidFill>
                <a:latin typeface="Helvetica Neue Medium"/>
                <a:ea typeface="Helvetica Neue Medium"/>
                <a:cs typeface="Helvetica Neue Medium"/>
                <a:sym typeface="Helvetica Neue Medium"/>
              </a:defRPr>
            </a:lvl1pPr>
          </a:lstStyle>
          <a:p>
            <a:pPr/>
            <a:r>
              <a:t>Short List</a:t>
            </a:r>
          </a:p>
        </p:txBody>
      </p:sp>
      <p:graphicFrame>
        <p:nvGraphicFramePr>
          <p:cNvPr id="231" name="Table 1-1-1"/>
          <p:cNvGraphicFramePr/>
          <p:nvPr/>
        </p:nvGraphicFramePr>
        <p:xfrm>
          <a:off x="1622519" y="14402765"/>
          <a:ext cx="22496686" cy="192562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325892"/>
                <a:gridCol w="670198"/>
                <a:gridCol w="670198"/>
                <a:gridCol w="670198"/>
                <a:gridCol w="10173872"/>
                <a:gridCol w="3506958"/>
                <a:gridCol w="2777778"/>
                <a:gridCol w="2688886"/>
              </a:tblGrid>
              <a:tr h="273274">
                <a:tc rowSpan="2">
                  <a:txBody>
                    <a:bodyPr/>
                    <a:lstStyle/>
                    <a:p>
                      <a:pPr algn="l" defTabSz="457200"/>
                      <a:r>
                        <a:rPr b="1" sz="1600"/>
                        <a:t>Name</a:t>
                      </a:r>
                    </a:p>
                  </a:txBody>
                  <a:tcPr marL="63500" marR="63500" marT="0" marB="0" anchor="ctr" anchorCtr="0" horzOverflow="overflow"/>
                </a:tc>
                <a:tc gridSpan="3">
                  <a:txBody>
                    <a:bodyPr/>
                    <a:lstStyle/>
                    <a:p>
                      <a:pPr defTabSz="457200"/>
                      <a:r>
                        <a:rPr b="1" sz="1600"/>
                        <a:t>Go - No Go Rating</a:t>
                      </a:r>
                    </a:p>
                  </a:txBody>
                  <a:tcPr marL="63500" marR="63500" marT="0" marB="0" anchor="ctr" anchorCtr="0" horzOverflow="overflow"/>
                </a:tc>
                <a:tc hMerge="1">
                  <a:tcPr/>
                </a:tc>
                <a:tc hMerge="1">
                  <a:tcPr/>
                </a:tc>
                <a:tc rowSpan="2">
                  <a:txBody>
                    <a:bodyPr/>
                    <a:lstStyle/>
                    <a:p>
                      <a:pPr algn="l" defTabSz="457200"/>
                      <a:r>
                        <a:rPr b="1" sz="1600"/>
                        <a:t>Rationale</a:t>
                      </a:r>
                    </a:p>
                  </a:txBody>
                  <a:tcPr marL="63500" marR="63500" marT="0" marB="0" anchor="ctr" anchorCtr="0" horzOverflow="overflow"/>
                </a:tc>
                <a:tc gridSpan="3">
                  <a:txBody>
                    <a:bodyPr/>
                    <a:lstStyle/>
                    <a:p>
                      <a:pPr defTabSz="457200"/>
                      <a:r>
                        <a:rPr b="1" sz="1600"/>
                        <a:t>Long-Term SI Direction (Draft, subject to change. 2026 Qual sets may be)</a:t>
                      </a:r>
                    </a:p>
                  </a:txBody>
                  <a:tcPr marL="63500" marR="63500" marT="0" marB="0" anchor="ctr" anchorCtr="0" horzOverflow="overflow"/>
                </a:tc>
                <a:tc hMerge="1">
                  <a:tcPr/>
                </a:tc>
                <a:tc hMerge="1">
                  <a:tcPr/>
                </a:tc>
              </a:tr>
              <a:tr h="273274">
                <a:tc vMerge="1">
                  <a:tcPr/>
                </a:tc>
                <a:tc>
                  <a:txBody>
                    <a:bodyPr/>
                    <a:lstStyle/>
                    <a:p>
                      <a:pPr defTabSz="457200"/>
                      <a:r>
                        <a:rPr sz="1300"/>
                        <a:t>GSSM</a:t>
                      </a:r>
                    </a:p>
                  </a:txBody>
                  <a:tcPr marL="63500" marR="63500" marT="0" marB="0" anchor="ctr" anchorCtr="0" horzOverflow="overflow"/>
                </a:tc>
                <a:tc>
                  <a:txBody>
                    <a:bodyPr/>
                    <a:lstStyle/>
                    <a:p>
                      <a:pPr defTabSz="457200"/>
                      <a:r>
                        <a:rPr sz="1300"/>
                        <a:t>HWTE</a:t>
                      </a:r>
                    </a:p>
                  </a:txBody>
                  <a:tcPr marL="63500" marR="63500" marT="0" marB="0" anchor="ctr" anchorCtr="0" horzOverflow="overflow"/>
                </a:tc>
                <a:tc>
                  <a:txBody>
                    <a:bodyPr/>
                    <a:lstStyle/>
                    <a:p>
                      <a:pPr defTabSz="457200"/>
                      <a:r>
                        <a:rPr sz="1300"/>
                        <a:t>OpsTE</a:t>
                      </a:r>
                    </a:p>
                  </a:txBody>
                  <a:tcPr marL="63500" marR="63500" marT="0" marB="0" anchor="ctr" anchorCtr="0" horzOverflow="overflow"/>
                </a:tc>
                <a:tc vMerge="1">
                  <a:tcPr/>
                </a:tc>
                <a:tc>
                  <a:txBody>
                    <a:bodyPr/>
                    <a:lstStyle/>
                    <a:p>
                      <a:pPr defTabSz="457200"/>
                      <a:r>
                        <a:rPr b="1" sz="1600"/>
                        <a:t>2026</a:t>
                      </a:r>
                    </a:p>
                  </a:txBody>
                  <a:tcPr marL="63500" marR="63500" marT="0" marB="0" anchor="ctr" anchorCtr="0" horzOverflow="overflow"/>
                </a:tc>
                <a:tc>
                  <a:txBody>
                    <a:bodyPr/>
                    <a:lstStyle/>
                    <a:p>
                      <a:pPr defTabSz="457200"/>
                      <a:r>
                        <a:rPr b="1" sz="1600"/>
                        <a:t>2027</a:t>
                      </a:r>
                    </a:p>
                  </a:txBody>
                  <a:tcPr marL="63500" marR="63500" marT="0" marB="0" anchor="ctr" anchorCtr="0" horzOverflow="overflow"/>
                </a:tc>
                <a:tc>
                  <a:txBody>
                    <a:bodyPr/>
                    <a:lstStyle/>
                    <a:p>
                      <a:pPr defTabSz="457200"/>
                      <a:r>
                        <a:rPr b="1" sz="1600"/>
                        <a:t>2028</a:t>
                      </a:r>
                    </a:p>
                  </a:txBody>
                  <a:tcPr marL="63500" marR="63500" marT="0" marB="0" anchor="ctr" anchorCtr="0" horzOverflow="overflow"/>
                </a:tc>
              </a:tr>
              <a:tr h="273274">
                <a:tc>
                  <a:txBody>
                    <a:bodyPr/>
                    <a:lstStyle/>
                    <a:p>
                      <a:pPr algn="l" defTabSz="457200"/>
                      <a:r>
                        <a:rPr sz="1600"/>
                        <a:t>PRM</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algn="l" defTabSz="457200"/>
                      <a:r>
                        <a:rPr sz="1600"/>
                        <a:t>Deep FACT/VENT conveyor experience, design not mature. Knows NPI dev but some scaling concerns.</a:t>
                      </a:r>
                    </a:p>
                  </a:txBody>
                  <a:tcPr marL="63500" marR="63500" marT="0" marB="0" anchor="ctr" anchorCtr="0" horzOverflow="overflow"/>
                </a:tc>
                <a:tc>
                  <a:txBody>
                    <a:bodyPr/>
                    <a:lstStyle/>
                    <a:p>
                      <a:pPr algn="l" defTabSz="457200"/>
                      <a:r>
                        <a:rPr sz="1200"/>
                        <a:t>TBC</a:t>
                      </a:r>
                    </a:p>
                  </a:txBody>
                  <a:tcPr marL="63500" marR="63500" marT="0" marB="0" anchor="ctr" anchorCtr="0" horzOverflow="overflow"/>
                </a:tc>
                <a:tc>
                  <a:txBody>
                    <a:bodyPr/>
                    <a:lstStyle/>
                    <a:p>
                      <a:pPr algn="l" defTabSz="457200">
                        <a:defRPr sz="1200"/>
                      </a:pP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Amphenol</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Proven SI. CN and TH-based production. Good conveyor experience opt’y if willing to be a long-term partner.</a:t>
                      </a:r>
                    </a:p>
                  </a:txBody>
                  <a:tcPr marL="63500" marR="63500" marT="0" marB="0" anchor="ctr" anchorCtr="0" horzOverflow="overflow"/>
                </a:tc>
                <a:tc>
                  <a:txBody>
                    <a:bodyPr/>
                    <a:lstStyle/>
                    <a:p>
                      <a:pPr algn="l" defTabSz="457200"/>
                      <a:r>
                        <a:rPr sz="1200"/>
                        <a:t>SeaSalt MP, iPad NPI, niche stations</a:t>
                      </a:r>
                    </a:p>
                  </a:txBody>
                  <a:tcPr marL="63500" marR="63500" marT="0" marB="0" anchor="ctr" anchorCtr="0" horzOverflow="overflow"/>
                </a:tc>
                <a:tc>
                  <a:txBody>
                    <a:bodyPr/>
                    <a:lstStyle/>
                    <a:p>
                      <a:pPr algn="l" defTabSz="457200"/>
                      <a:r>
                        <a:rPr sz="1200"/>
                        <a:t>Pad, Portables</a:t>
                      </a: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Cencorp</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algn="l" defTabSz="457200"/>
                      <a:r>
                        <a:rPr sz="1600"/>
                        <a:t>Proven conveyor SI. CN/VN support capability.</a:t>
                      </a:r>
                    </a:p>
                  </a:txBody>
                  <a:tcPr marL="63500" marR="63500" marT="0" marB="0" anchor="ctr" anchorCtr="0" horzOverflow="overflow"/>
                </a:tc>
                <a:tc>
                  <a:txBody>
                    <a:bodyPr/>
                    <a:lstStyle/>
                    <a:p>
                      <a:pPr algn="l" defTabSz="457200"/>
                      <a:r>
                        <a:rPr sz="1200"/>
                        <a:t>iPad NPI</a:t>
                      </a:r>
                    </a:p>
                  </a:txBody>
                  <a:tcPr marL="63500" marR="63500" marT="0" marB="0" anchor="ctr" anchorCtr="0" horzOverflow="overflow"/>
                </a:tc>
                <a:tc>
                  <a:txBody>
                    <a:bodyPr/>
                    <a:lstStyle/>
                    <a:p>
                      <a:pPr algn="l" defTabSz="457200"/>
                      <a:r>
                        <a:rPr sz="1200"/>
                        <a:t>Pad, Portables, Watch, Phone</a:t>
                      </a: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Pentamaster</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Strong automation. Apple ALS module TE equipment experience. Near complete MP project through EIH.</a:t>
                      </a:r>
                    </a:p>
                  </a:txBody>
                  <a:tcPr marL="63500" marR="63500" marT="0" marB="0" anchor="ctr" anchorCtr="0" horzOverflow="overflow"/>
                </a:tc>
                <a:tc>
                  <a:txBody>
                    <a:bodyPr/>
                    <a:lstStyle/>
                    <a:p>
                      <a:pPr algn="l" defTabSz="457200"/>
                      <a:r>
                        <a:rPr sz="1200"/>
                        <a:t>SeaSalt, V7x ALS-P, V7y MP. Simple NPI station</a:t>
                      </a:r>
                    </a:p>
                  </a:txBody>
                  <a:tcPr marL="63500" marR="63500" marT="0" marB="0" anchor="ctr" anchorCtr="0" horzOverflow="overflow"/>
                </a:tc>
                <a:tc gridSpan="2" rowSpan="2">
                  <a:txBody>
                    <a:bodyPr/>
                    <a:lstStyle/>
                    <a:p>
                      <a:pPr algn="l" defTabSz="457200"/>
                      <a:r>
                        <a:rPr sz="1200"/>
                        <a:t>Primary allocation to JLK/Hyvision/Amphenol1 of 3 qualified to support following 2026 push. Support remainder of MP/NPI, roll in if one of top 3 falls out.</a:t>
                      </a:r>
                    </a:p>
                  </a:txBody>
                  <a:tcPr marL="63500" marR="63500" marT="0" marB="0" anchor="ctr" anchorCtr="0" horzOverflow="overflow"/>
                </a:tc>
                <a:tc rowSpan="2" hMerge="1">
                  <a:tcPr/>
                </a:tc>
              </a:tr>
              <a:tr h="273274">
                <a:tc>
                  <a:txBody>
                    <a:bodyPr/>
                    <a:lstStyle/>
                    <a:p>
                      <a:pPr algn="l" defTabSz="457200"/>
                      <a:r>
                        <a:rPr sz="1600"/>
                        <a:t>SPEA</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Strong technical, previous Apple experience. Pricing, TH facility capability/readiness for MP TBC.</a:t>
                      </a:r>
                    </a:p>
                  </a:txBody>
                  <a:tcPr marL="63500" marR="63500" marT="0" marB="0" anchor="ctr" anchorCtr="0" horzOverflow="overflow"/>
                </a:tc>
                <a:tc>
                  <a:txBody>
                    <a:bodyPr/>
                    <a:lstStyle/>
                    <a:p>
                      <a:pPr algn="l" defTabSz="457200"/>
                      <a:r>
                        <a:rPr sz="1200"/>
                        <a:t>SeaSalt MP, Helios SS, iPad NPI.</a:t>
                      </a:r>
                    </a:p>
                  </a:txBody>
                  <a:tcPr marL="63500" marR="63500" marT="0" marB="0" anchor="ctr" anchorCtr="0" horzOverflow="overflow"/>
                </a:tc>
                <a:tc gridSpan="2" vMerge="1">
                  <a:tcPr/>
                </a:tc>
                <a:tc hMerge="1" vMerge="1">
                  <a:tcPr/>
                </a:tc>
              </a:tr>
            </a:tbl>
          </a:graphicData>
        </a:graphic>
      </p:graphicFrame>
      <p:graphicFrame>
        <p:nvGraphicFramePr>
          <p:cNvPr id="232" name="Table 1-1"/>
          <p:cNvGraphicFramePr/>
          <p:nvPr/>
        </p:nvGraphicFramePr>
        <p:xfrm>
          <a:off x="1622519" y="11576236"/>
          <a:ext cx="22496686" cy="192562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530229"/>
                <a:gridCol w="908825"/>
                <a:gridCol w="908825"/>
                <a:gridCol w="908825"/>
                <a:gridCol w="908825"/>
                <a:gridCol w="908825"/>
                <a:gridCol w="908825"/>
                <a:gridCol w="15500804"/>
              </a:tblGrid>
              <a:tr h="212546">
                <a:tc rowSpan="2">
                  <a:txBody>
                    <a:bodyPr/>
                    <a:lstStyle/>
                    <a:p>
                      <a:pPr algn="l" defTabSz="457200"/>
                      <a:r>
                        <a:rPr b="1" sz="1600"/>
                        <a:t>Name</a:t>
                      </a:r>
                    </a:p>
                  </a:txBody>
                  <a:tcPr marL="63500" marR="63500" marT="0" marB="0" anchor="ctr" anchorCtr="0" horzOverflow="overflow"/>
                </a:tc>
                <a:tc gridSpan="3">
                  <a:txBody>
                    <a:bodyPr/>
                    <a:lstStyle/>
                    <a:p>
                      <a:pPr defTabSz="457200"/>
                      <a:r>
                        <a:rPr b="1" sz="1600"/>
                        <a:t>Go-No Go - POC/NPI</a:t>
                      </a:r>
                    </a:p>
                  </a:txBody>
                  <a:tcPr marL="63500" marR="63500" marT="0" marB="0" anchor="ctr" anchorCtr="0" horzOverflow="overflow"/>
                </a:tc>
                <a:tc hMerge="1">
                  <a:tcPr/>
                </a:tc>
                <a:tc hMerge="1">
                  <a:tcPr/>
                </a:tc>
                <a:tc gridSpan="3">
                  <a:txBody>
                    <a:bodyPr/>
                    <a:lstStyle/>
                    <a:p>
                      <a:pPr defTabSz="457200"/>
                      <a:r>
                        <a:rPr b="1" sz="1600"/>
                        <a:t>Go-No Go - MP</a:t>
                      </a:r>
                    </a:p>
                  </a:txBody>
                  <a:tcPr marL="63500" marR="63500" marT="0" marB="0" anchor="ctr" anchorCtr="0" horzOverflow="overflow"/>
                </a:tc>
                <a:tc hMerge="1">
                  <a:tcPr/>
                </a:tc>
                <a:tc hMerge="1">
                  <a:tcPr/>
                </a:tc>
                <a:tc rowSpan="2">
                  <a:txBody>
                    <a:bodyPr/>
                    <a:lstStyle/>
                    <a:p>
                      <a:pPr algn="l" defTabSz="457200"/>
                      <a:r>
                        <a:rPr b="1" sz="1600"/>
                        <a:t>Rationale</a:t>
                      </a:r>
                    </a:p>
                  </a:txBody>
                  <a:tcPr marL="63500" marR="63500" marT="0" marB="0" anchor="ctr" anchorCtr="0" horzOverflow="overflow"/>
                </a:tc>
              </a:tr>
              <a:tr h="212546">
                <a:tc vMerge="1">
                  <a:tcPr/>
                </a:tc>
                <a:tc>
                  <a:txBody>
                    <a:bodyPr/>
                    <a:lstStyle/>
                    <a:p>
                      <a:pPr defTabSz="457200"/>
                      <a:r>
                        <a:rPr sz="1300"/>
                        <a:t>GSSM</a:t>
                      </a:r>
                    </a:p>
                  </a:txBody>
                  <a:tcPr marL="63500" marR="63500" marT="0" marB="0" anchor="ctr" anchorCtr="0" horzOverflow="overflow"/>
                </a:tc>
                <a:tc>
                  <a:txBody>
                    <a:bodyPr/>
                    <a:lstStyle/>
                    <a:p>
                      <a:pPr defTabSz="457200"/>
                      <a:r>
                        <a:rPr sz="1300"/>
                        <a:t>HWTE</a:t>
                      </a:r>
                    </a:p>
                  </a:txBody>
                  <a:tcPr marL="63500" marR="63500" marT="0" marB="0" anchor="ctr" anchorCtr="0" horzOverflow="overflow"/>
                </a:tc>
                <a:tc>
                  <a:txBody>
                    <a:bodyPr/>
                    <a:lstStyle/>
                    <a:p>
                      <a:pPr defTabSz="457200"/>
                      <a:r>
                        <a:rPr sz="1300"/>
                        <a:t>OpsTE</a:t>
                      </a:r>
                    </a:p>
                  </a:txBody>
                  <a:tcPr marL="63500" marR="63500" marT="0" marB="0" anchor="ctr" anchorCtr="0" horzOverflow="overflow"/>
                </a:tc>
                <a:tc>
                  <a:txBody>
                    <a:bodyPr/>
                    <a:lstStyle/>
                    <a:p>
                      <a:pPr defTabSz="457200"/>
                      <a:r>
                        <a:rPr sz="1300"/>
                        <a:t>GSSM</a:t>
                      </a:r>
                    </a:p>
                  </a:txBody>
                  <a:tcPr marL="63500" marR="63500" marT="0" marB="0" anchor="ctr" anchorCtr="0" horzOverflow="overflow"/>
                </a:tc>
                <a:tc>
                  <a:txBody>
                    <a:bodyPr/>
                    <a:lstStyle/>
                    <a:p>
                      <a:pPr defTabSz="457200"/>
                      <a:r>
                        <a:rPr sz="1300"/>
                        <a:t>HWTE</a:t>
                      </a:r>
                    </a:p>
                  </a:txBody>
                  <a:tcPr marL="63500" marR="63500" marT="0" marB="0" anchor="ctr" anchorCtr="0" horzOverflow="overflow"/>
                </a:tc>
                <a:tc>
                  <a:txBody>
                    <a:bodyPr/>
                    <a:lstStyle/>
                    <a:p>
                      <a:pPr defTabSz="457200"/>
                      <a:r>
                        <a:rPr sz="1300"/>
                        <a:t>OpsTE</a:t>
                      </a:r>
                    </a:p>
                  </a:txBody>
                  <a:tcPr marL="63500" marR="63500" marT="0" marB="0" anchor="ctr" anchorCtr="0" horzOverflow="overflow"/>
                </a:tc>
                <a:tc vMerge="1">
                  <a:tcPr/>
                </a:tc>
              </a:tr>
              <a:tr h="212546">
                <a:tc>
                  <a:txBody>
                    <a:bodyPr/>
                    <a:lstStyle/>
                    <a:p>
                      <a:pPr algn="l" defTabSz="457200"/>
                      <a:r>
                        <a:rPr sz="1600"/>
                        <a:t>Innorev</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algn="l" defTabSz="457200"/>
                      <a:r>
                        <a:rPr sz="1500"/>
                        <a:t>NPI - incumbent designer. Significant bandwidth challenges but assuming the IMU team can continue this is much easier for HWTE.</a:t>
                      </a:r>
                    </a:p>
                  </a:txBody>
                  <a:tcPr marL="63500" marR="63500" marT="0" marB="0" anchor="ctr" anchorCtr="0" horzOverflow="overflow"/>
                </a:tc>
              </a:tr>
              <a:tr h="212546">
                <a:tc>
                  <a:txBody>
                    <a:bodyPr/>
                    <a:lstStyle/>
                    <a:p>
                      <a:pPr algn="l" defTabSz="457200"/>
                      <a:r>
                        <a:rPr sz="1600"/>
                        <a:t>Cencorp</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NPI - conveyor expert. Understands enough about non-IMU challenges that they can take on IMU-specifics.</a:t>
                      </a:r>
                    </a:p>
                  </a:txBody>
                  <a:tcPr marL="63500" marR="63500" marT="0" marB="0" anchor="ctr" anchorCtr="0" horzOverflow="overflow"/>
                </a:tc>
              </a:tr>
              <a:tr h="212546">
                <a:tc>
                  <a:txBody>
                    <a:bodyPr/>
                    <a:lstStyle/>
                    <a:p>
                      <a:pPr algn="l" defTabSz="457200"/>
                      <a:r>
                        <a:rPr sz="1600"/>
                        <a:t>Amphenol</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NPI - conditional: Proven SI but lacks conveyor qualification. Need to understand capability to address major design opens as part of RFP.</a:t>
                      </a:r>
                    </a:p>
                  </a:txBody>
                  <a:tcPr marL="63500" marR="63500" marT="0" marB="0" anchor="ctr" anchorCtr="0" horzOverflow="overflow"/>
                </a:tc>
              </a:tr>
              <a:tr h="212546">
                <a:tc>
                  <a:txBody>
                    <a:bodyPr/>
                    <a:lstStyle/>
                    <a:p>
                      <a:pPr algn="l" defTabSz="457200"/>
                      <a:r>
                        <a:rPr sz="1600"/>
                        <a:t>Hyvision</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MP option - assuming they complete B798, they’d be a strong technical SI to support (IMU experience). Can layer in some mini shadow set exercises pre-official KO.</a:t>
                      </a:r>
                    </a:p>
                  </a:txBody>
                  <a:tcPr marL="63500" marR="63500" marT="0" marB="0" anchor="ctr" anchorCtr="0" horzOverflow="overflow"/>
                </a:tc>
              </a:tr>
              <a:tr h="212546">
                <a:tc>
                  <a:txBody>
                    <a:bodyPr/>
                    <a:lstStyle/>
                    <a:p>
                      <a:pPr algn="l" defTabSz="457200"/>
                      <a:r>
                        <a:rPr sz="1600"/>
                        <a:t>SPEA</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500"/>
                        <a:t>iPhone Shadow set + MP option - Strong technical, previous Apple experience. Pricing, TH facility capability/readiness for MP TBC.</a:t>
                      </a:r>
                    </a:p>
                  </a:txBody>
                  <a:tcPr marL="63500" marR="63500" marT="0" marB="0" anchor="ctr" anchorCtr="0" horzOverflow="overflow"/>
                </a:tc>
              </a:tr>
              <a:tr h="212546">
                <a:tc>
                  <a:txBody>
                    <a:bodyPr/>
                    <a:lstStyle/>
                    <a:p>
                      <a:pPr algn="l" defTabSz="457200"/>
                      <a:r>
                        <a:rPr sz="1600"/>
                        <a:t>IVD</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rowSpan="2">
                  <a:txBody>
                    <a:bodyPr/>
                    <a:lstStyle/>
                    <a:p>
                      <a:pPr algn="l" defTabSz="457200"/>
                      <a:r>
                        <a:rPr sz="1500"/>
                        <a:t>iPhone Shadow set + MP option - good opportunity to learn, can support WW (FACT/VENT architecture present on all LOBs)</a:t>
                      </a:r>
                    </a:p>
                  </a:txBody>
                  <a:tcPr marL="63500" marR="63500" marT="0" marB="0" anchor="ctr" anchorCtr="0" horzOverflow="overflow"/>
                </a:tc>
              </a:tr>
              <a:tr h="212546">
                <a:tc>
                  <a:txBody>
                    <a:bodyPr/>
                    <a:lstStyle/>
                    <a:p>
                      <a:pPr algn="l" defTabSz="457200"/>
                      <a:r>
                        <a:rPr sz="1600"/>
                        <a:t>Pentamaster</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vMerge="1">
                  <a:tcPr/>
                </a:tc>
              </a:tr>
            </a:tbl>
          </a:graphicData>
        </a:graphic>
      </p:graphicFrame>
      <p:graphicFrame>
        <p:nvGraphicFramePr>
          <p:cNvPr id="233" name="Table 1"/>
          <p:cNvGraphicFramePr/>
          <p:nvPr/>
        </p:nvGraphicFramePr>
        <p:xfrm>
          <a:off x="261539" y="4079162"/>
          <a:ext cx="23803973" cy="10107492"/>
        </p:xfrm>
        <a:graphic xmlns:a="http://schemas.openxmlformats.org/drawingml/2006/main">
          <a:graphicData uri="http://schemas.openxmlformats.org/drawingml/2006/table">
            <a:tbl>
              <a:tblPr firstCol="1" firstRow="0" lastCol="0" lastRow="0" bandCol="0" bandRow="0" rtl="0">
                <a:tableStyleId>{4C3C2611-4C71-4FC5-86AE-919BDF0F9419}</a:tableStyleId>
              </a:tblPr>
              <a:tblGrid>
                <a:gridCol w="1230947"/>
                <a:gridCol w="766078"/>
                <a:gridCol w="766078"/>
                <a:gridCol w="766078"/>
                <a:gridCol w="766078"/>
                <a:gridCol w="766078"/>
                <a:gridCol w="766078"/>
                <a:gridCol w="766078"/>
                <a:gridCol w="766078"/>
                <a:gridCol w="766078"/>
                <a:gridCol w="786933"/>
                <a:gridCol w="663146"/>
                <a:gridCol w="848155"/>
                <a:gridCol w="766078"/>
                <a:gridCol w="858823"/>
                <a:gridCol w="858823"/>
                <a:gridCol w="858823"/>
                <a:gridCol w="858823"/>
                <a:gridCol w="640868"/>
                <a:gridCol w="656081"/>
                <a:gridCol w="690258"/>
                <a:gridCol w="1017979"/>
                <a:gridCol w="631900"/>
                <a:gridCol w="586722"/>
                <a:gridCol w="620823"/>
                <a:gridCol w="4391026"/>
              </a:tblGrid>
              <a:tr h="348978">
                <a:tc rowSpan="2">
                  <a:txBody>
                    <a:bodyPr/>
                    <a:lstStyle/>
                    <a:p>
                      <a:pPr defTabSz="914400">
                        <a:tabLst>
                          <a:tab pos="1663700" algn="l"/>
                        </a:tabLst>
                        <a:defRPr b="0"/>
                      </a:pPr>
                      <a:r>
                        <a:rPr b="1" sz="1600"/>
                        <a:t>Criteria</a:t>
                      </a:r>
                    </a:p>
                  </a:txBody>
                  <a:tcPr marL="50800" marR="50800" marT="50800" marB="50800" anchor="ctr" anchorCtr="0" horzOverflow="overflow">
                    <a:lnR w="12700">
                      <a:solidFill>
                        <a:srgbClr val="000000"/>
                      </a:solidFill>
                      <a:miter lim="400000"/>
                    </a:lnR>
                  </a:tcPr>
                </a:tc>
                <a:tc gridSpan="2">
                  <a:txBody>
                    <a:bodyPr/>
                    <a:lstStyle/>
                    <a:p>
                      <a:pPr defTabSz="914400">
                        <a:tabLst>
                          <a:tab pos="1663700" algn="l"/>
                        </a:tabLst>
                      </a:pPr>
                      <a:r>
                        <a:rPr b="1" sz="1600"/>
                        <a:t>OK2 Engage?</a:t>
                      </a:r>
                    </a:p>
                  </a:txBody>
                  <a:tcPr marL="50800" marR="50800" marT="50800" marB="50800" anchor="ctr" anchorCtr="0" horzOverflow="overflow">
                    <a:lnL w="12700">
                      <a:solidFill>
                        <a:srgbClr val="000000"/>
                      </a:solidFill>
                      <a:miter lim="400000"/>
                    </a:lnL>
                  </a:tcPr>
                </a:tc>
                <a:tc hMerge="1">
                  <a:tcPr/>
                </a:tc>
                <a:tc gridSpan="4">
                  <a:txBody>
                    <a:bodyPr/>
                    <a:lstStyle/>
                    <a:p>
                      <a:pPr defTabSz="914400">
                        <a:tabLst>
                          <a:tab pos="1663700" algn="l"/>
                        </a:tabLst>
                      </a:pPr>
                      <a:r>
                        <a:rPr b="1" sz="1300"/>
                        <a:t>Legal/Commercial Operations OK</a:t>
                      </a:r>
                    </a:p>
                  </a:txBody>
                  <a:tcPr marL="50800" marR="50800" marT="50800" marB="50800" anchor="ctr" anchorCtr="0" horzOverflow="overflow"/>
                </a:tc>
                <a:tc hMerge="1">
                  <a:tcPr/>
                </a:tc>
                <a:tc hMerge="1">
                  <a:tcPr/>
                </a:tc>
                <a:tc hMerge="1">
                  <a:tcPr/>
                </a:tc>
                <a:tc gridSpan="3">
                  <a:txBody>
                    <a:bodyPr/>
                    <a:lstStyle/>
                    <a:p>
                      <a:pPr defTabSz="914400">
                        <a:tabLst>
                          <a:tab pos="1663700" algn="l"/>
                        </a:tabLst>
                      </a:pPr>
                      <a:r>
                        <a:rPr b="1" sz="1600"/>
                        <a:t>Infrastructure Audit</a:t>
                      </a:r>
                    </a:p>
                  </a:txBody>
                  <a:tcPr marL="50800" marR="50800" marT="50800" marB="50800" anchor="ctr" anchorCtr="0" horzOverflow="overflow"/>
                </a:tc>
                <a:tc hMerge="1">
                  <a:tcPr/>
                </a:tc>
                <a:tc hMerge="1">
                  <a:tcPr/>
                </a:tc>
                <a:tc>
                  <a:txBody>
                    <a:bodyPr/>
                    <a:lstStyle/>
                    <a:p>
                      <a:pPr defTabSz="914400">
                        <a:tabLst>
                          <a:tab pos="1663700" algn="l"/>
                        </a:tabLst>
                      </a:pPr>
                      <a:r>
                        <a:rPr b="1" sz="900"/>
                        <a:t>Experience</a:t>
                      </a:r>
                    </a:p>
                  </a:txBody>
                  <a:tcPr marL="50800" marR="50800" marT="50800" marB="50800" anchor="ctr" anchorCtr="0" horzOverflow="overflow"/>
                </a:tc>
                <a:tc gridSpan="2">
                  <a:txBody>
                    <a:bodyPr/>
                    <a:lstStyle/>
                    <a:p>
                      <a:pPr defTabSz="914400">
                        <a:tabLst>
                          <a:tab pos="1663700" algn="l"/>
                        </a:tabLst>
                      </a:pPr>
                      <a:r>
                        <a:rPr b="1" sz="1600"/>
                        <a:t>SI Capacity</a:t>
                      </a:r>
                    </a:p>
                  </a:txBody>
                  <a:tcPr marL="50800" marR="50800" marT="50800" marB="50800" anchor="ctr" anchorCtr="0" horzOverflow="overflow"/>
                </a:tc>
                <a:tc hMerge="1">
                  <a:tcPr/>
                </a:tc>
                <a:tc gridSpan="5">
                  <a:txBody>
                    <a:bodyPr/>
                    <a:lstStyle/>
                    <a:p>
                      <a:pPr defTabSz="914400">
                        <a:tabLst>
                          <a:tab pos="1663700" algn="l"/>
                        </a:tabLst>
                      </a:pPr>
                      <a:r>
                        <a:rPr b="1" sz="1600"/>
                        <a:t>Blockers, TTM</a:t>
                      </a:r>
                    </a:p>
                  </a:txBody>
                  <a:tcPr marL="50800" marR="50800" marT="50800" marB="50800" anchor="ctr" anchorCtr="0" horzOverflow="overflow"/>
                </a:tc>
                <a:tc hMerge="1">
                  <a:tcPr/>
                </a:tc>
                <a:tc hMerge="1">
                  <a:tcPr/>
                </a:tc>
                <a:tc hMerge="1">
                  <a:tcPr/>
                </a:tc>
                <a:tc hMerge="1">
                  <a:tcPr/>
                </a:tc>
                <a:tc gridSpan="3">
                  <a:txBody>
                    <a:bodyPr/>
                    <a:lstStyle/>
                    <a:p>
                      <a:pPr defTabSz="914400">
                        <a:tabLst>
                          <a:tab pos="1663700" algn="l"/>
                        </a:tabLst>
                      </a:pPr>
                      <a:r>
                        <a:rPr b="1" sz="1600"/>
                        <a:t>Top SI Potential</a:t>
                      </a:r>
                    </a:p>
                  </a:txBody>
                  <a:tcPr marL="50800" marR="50800" marT="50800" marB="50800" anchor="ctr" anchorCtr="0" horzOverflow="overflow"/>
                </a:tc>
                <a:tc hMerge="1">
                  <a:tcPr/>
                </a:tc>
                <a:tc hMerge="1">
                  <a:tcPr/>
                </a:tc>
                <a:tc rowSpan="4">
                  <a:txBody>
                    <a:bodyPr/>
                    <a:lstStyle/>
                    <a:p>
                      <a:pPr defTabSz="914400">
                        <a:tabLst>
                          <a:tab pos="1663700" algn="l"/>
                        </a:tabLst>
                        <a:defRPr b="1" sz="1400"/>
                      </a:pPr>
                      <a:r>
                        <a:t>Forced Rank </a:t>
                      </a:r>
                    </a:p>
                    <a:p>
                      <a:pPr defTabSz="914400">
                        <a:tabLst>
                          <a:tab pos="1663700" algn="l"/>
                        </a:tabLst>
                        <a:defRPr b="1" sz="1400"/>
                      </a:pPr>
                      <a:r>
                        <a:rPr i="1" sz="1200"/>
                        <a:t>(Un-weighted)</a:t>
                      </a:r>
                    </a:p>
                  </a:txBody>
                  <a:tcPr marL="50800" marR="50800" marT="50800" marB="50800" anchor="ctr" anchorCtr="0" horzOverflow="overflow"/>
                </a:tc>
                <a:tc gridSpan="4">
                  <a:txBody>
                    <a:bodyPr/>
                    <a:lstStyle/>
                    <a:p>
                      <a:pPr defTabSz="914400">
                        <a:tabLst>
                          <a:tab pos="1663700" algn="l"/>
                        </a:tabLst>
                      </a:pPr>
                      <a:r>
                        <a:rPr b="1" sz="1600"/>
                        <a:t>Go-No Go Rating + Rationale</a:t>
                      </a:r>
                    </a:p>
                  </a:txBody>
                  <a:tcPr marL="50800" marR="50800" marT="50800" marB="50800" anchor="ctr" anchorCtr="0" horzOverflow="overflow"/>
                </a:tc>
                <a:tc hMerge="1">
                  <a:tcPr/>
                </a:tc>
                <a:tc hMerge="1">
                  <a:tcPr/>
                </a:tc>
                <a:tc hMerge="1">
                  <a:tcPr/>
                </a:tc>
              </a:tr>
              <a:tr h="492180">
                <a:tc vMerge="1">
                  <a:tcPr/>
                </a:tc>
                <a:tc>
                  <a:txBody>
                    <a:bodyPr/>
                    <a:lstStyle/>
                    <a:p>
                      <a:pPr defTabSz="914400">
                        <a:tabLst>
                          <a:tab pos="1663700" algn="l"/>
                        </a:tabLst>
                      </a:pPr>
                      <a:r>
                        <a:rPr sz="1400"/>
                        <a:t>Legal</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pPr>
                      <a:r>
                        <a:rPr sz="1200"/>
                        <a:t>Commercial</a:t>
                      </a:r>
                    </a:p>
                  </a:txBody>
                  <a:tcPr marL="50800" marR="50800" marT="50800" marB="50800" anchor="ctr" anchorCtr="0" horzOverflow="overflow"/>
                </a:tc>
                <a:tc>
                  <a:txBody>
                    <a:bodyPr/>
                    <a:lstStyle/>
                    <a:p>
                      <a:pPr defTabSz="914400">
                        <a:tabLst>
                          <a:tab pos="1663700" algn="l"/>
                        </a:tabLst>
                      </a:pPr>
                      <a:r>
                        <a:rPr sz="1200"/>
                        <a:t>Non PRC HQ</a:t>
                      </a:r>
                    </a:p>
                  </a:txBody>
                  <a:tcPr marL="50800" marR="50800" marT="50800" marB="50800" anchor="ctr" anchorCtr="0" horzOverflow="overflow"/>
                </a:tc>
                <a:tc>
                  <a:txBody>
                    <a:bodyPr/>
                    <a:lstStyle/>
                    <a:p>
                      <a:pPr defTabSz="914400">
                        <a:tabLst>
                          <a:tab pos="1663700" algn="l"/>
                        </a:tabLst>
                      </a:pPr>
                      <a:r>
                        <a:rPr sz="1400"/>
                        <a:t>IN</a:t>
                      </a:r>
                    </a:p>
                  </a:txBody>
                  <a:tcPr marL="50800" marR="50800" marT="50800" marB="50800" anchor="ctr" anchorCtr="0" horzOverflow="overflow"/>
                </a:tc>
                <a:tc>
                  <a:txBody>
                    <a:bodyPr/>
                    <a:lstStyle/>
                    <a:p>
                      <a:pPr defTabSz="914400">
                        <a:tabLst>
                          <a:tab pos="1663700" algn="l"/>
                        </a:tabLst>
                      </a:pPr>
                      <a:r>
                        <a:rPr sz="1400"/>
                        <a:t>CN</a:t>
                      </a:r>
                    </a:p>
                  </a:txBody>
                  <a:tcPr marL="50800" marR="50800" marT="50800" marB="50800" anchor="ctr" anchorCtr="0" horzOverflow="overflow"/>
                </a:tc>
                <a:tc>
                  <a:txBody>
                    <a:bodyPr/>
                    <a:lstStyle/>
                    <a:p>
                      <a:pPr defTabSz="914400">
                        <a:tabLst>
                          <a:tab pos="1663700" algn="l"/>
                        </a:tabLst>
                      </a:pPr>
                      <a:r>
                        <a:rPr sz="1400"/>
                        <a:t>Other Geo</a:t>
                      </a:r>
                    </a:p>
                  </a:txBody>
                  <a:tcPr marL="50800" marR="50800" marT="50800" marB="50800" anchor="ctr" anchorCtr="0" horzOverflow="overflow"/>
                </a:tc>
                <a:tc>
                  <a:txBody>
                    <a:bodyPr/>
                    <a:lstStyle/>
                    <a:p>
                      <a:pPr defTabSz="914400">
                        <a:tabLst>
                          <a:tab pos="1663700" algn="l"/>
                        </a:tabLst>
                      </a:pPr>
                      <a:r>
                        <a:rPr sz="1400"/>
                        <a:t>CN</a:t>
                      </a:r>
                    </a:p>
                  </a:txBody>
                  <a:tcPr marL="50800" marR="50800" marT="50800" marB="50800" anchor="ctr" anchorCtr="0" horzOverflow="overflow"/>
                </a:tc>
                <a:tc>
                  <a:txBody>
                    <a:bodyPr/>
                    <a:lstStyle/>
                    <a:p>
                      <a:pPr defTabSz="914400">
                        <a:tabLst>
                          <a:tab pos="1663700" algn="l"/>
                        </a:tabLst>
                      </a:pPr>
                      <a:r>
                        <a:rPr sz="1400"/>
                        <a:t>IN</a:t>
                      </a:r>
                    </a:p>
                  </a:txBody>
                  <a:tcPr marL="50800" marR="50800" marT="50800" marB="50800" anchor="ctr" anchorCtr="0" horzOverflow="overflow"/>
                </a:tc>
                <a:tc>
                  <a:txBody>
                    <a:bodyPr/>
                    <a:lstStyle/>
                    <a:p>
                      <a:pPr defTabSz="914400">
                        <a:tabLst>
                          <a:tab pos="1663700" algn="l"/>
                        </a:tabLst>
                      </a:pPr>
                      <a:r>
                        <a:rPr sz="1400"/>
                        <a:t>Other</a:t>
                      </a:r>
                    </a:p>
                  </a:txBody>
                  <a:tcPr marL="50800" marR="50800" marT="50800" marB="50800" anchor="ctr" anchorCtr="0" horzOverflow="overflow"/>
                </a:tc>
                <a:tc>
                  <a:txBody>
                    <a:bodyPr/>
                    <a:lstStyle/>
                    <a:p>
                      <a:pPr defTabSz="914400">
                        <a:tabLst>
                          <a:tab pos="1663700" algn="l"/>
                        </a:tabLst>
                      </a:pPr>
                      <a:r>
                        <a:rPr sz="1400"/>
                        <a:t>Qual done?</a:t>
                      </a:r>
                    </a:p>
                  </a:txBody>
                  <a:tcPr marL="50800" marR="50800" marT="50800" marB="50800" anchor="ctr" anchorCtr="0" horzOverflow="overflow"/>
                </a:tc>
                <a:tc>
                  <a:txBody>
                    <a:bodyPr/>
                    <a:lstStyle/>
                    <a:p>
                      <a:pPr defTabSz="914400">
                        <a:tabLst>
                          <a:tab pos="1663700" algn="l"/>
                        </a:tabLst>
                      </a:pPr>
                      <a:r>
                        <a:rPr sz="1400"/>
                        <a:t>MP</a:t>
                      </a:r>
                    </a:p>
                  </a:txBody>
                  <a:tcPr marL="50800" marR="50800" marT="50800" marB="50800" anchor="ctr" anchorCtr="0" horzOverflow="overflow"/>
                </a:tc>
                <a:tc>
                  <a:txBody>
                    <a:bodyPr/>
                    <a:lstStyle/>
                    <a:p>
                      <a:pPr defTabSz="914400">
                        <a:tabLst>
                          <a:tab pos="1663700" algn="l"/>
                        </a:tabLst>
                      </a:pPr>
                      <a:r>
                        <a:rPr sz="1200"/>
                        <a:t>Eng Team available?</a:t>
                      </a:r>
                    </a:p>
                  </a:txBody>
                  <a:tcPr marL="50800" marR="50800" marT="50800" marB="50800" anchor="ctr" anchorCtr="0" horzOverflow="overflow"/>
                </a:tc>
                <a:tc>
                  <a:txBody>
                    <a:bodyPr/>
                    <a:lstStyle/>
                    <a:p>
                      <a:pPr defTabSz="914400">
                        <a:tabLst>
                          <a:tab pos="1663700" algn="l"/>
                        </a:tabLst>
                      </a:pPr>
                      <a:r>
                        <a:rPr sz="1400"/>
                        <a:t>Build</a:t>
                      </a:r>
                    </a:p>
                  </a:txBody>
                  <a:tcPr marL="50800" marR="50800" marT="50800" marB="50800" anchor="ctr" anchorCtr="0" horzOverflow="overflow"/>
                </a:tc>
                <a:tc>
                  <a:txBody>
                    <a:bodyPr/>
                    <a:lstStyle/>
                    <a:p>
                      <a:pPr defTabSz="914400">
                        <a:tabLst>
                          <a:tab pos="1663700" algn="l"/>
                        </a:tabLst>
                      </a:pPr>
                      <a:r>
                        <a:rPr sz="1200"/>
                        <a:t>Test Readiness</a:t>
                      </a:r>
                    </a:p>
                  </a:txBody>
                  <a:tcPr marL="50800" marR="50800" marT="50800" marB="50800" anchor="ctr" anchorCtr="0" horzOverflow="overflow"/>
                </a:tc>
                <a:tc>
                  <a:txBody>
                    <a:bodyPr/>
                    <a:lstStyle/>
                    <a:p>
                      <a:pPr defTabSz="914400">
                        <a:tabLst>
                          <a:tab pos="1663700" algn="l"/>
                        </a:tabLst>
                      </a:pPr>
                      <a:r>
                        <a:rPr sz="1400"/>
                        <a:t>EIH</a:t>
                      </a:r>
                    </a:p>
                  </a:txBody>
                  <a:tcPr marL="50800" marR="50800" marT="50800" marB="50800" anchor="ctr" anchorCtr="0" horzOverflow="overflow"/>
                </a:tc>
                <a:tc>
                  <a:txBody>
                    <a:bodyPr/>
                    <a:lstStyle/>
                    <a:p>
                      <a:pPr defTabSz="914400">
                        <a:tabLst>
                          <a:tab pos="1663700" algn="l"/>
                        </a:tabLst>
                      </a:pPr>
                      <a:r>
                        <a:rPr sz="1400"/>
                        <a:t>Design Lock</a:t>
                      </a:r>
                    </a:p>
                  </a:txBody>
                  <a:tcPr marL="50800" marR="50800" marT="50800" marB="50800" anchor="ctr" anchorCtr="0" horzOverflow="overflow"/>
                </a:tc>
                <a:tc>
                  <a:txBody>
                    <a:bodyPr/>
                    <a:lstStyle/>
                    <a:p>
                      <a:pPr defTabSz="914400">
                        <a:tabLst>
                          <a:tab pos="1663700" algn="l"/>
                        </a:tabLst>
                      </a:pPr>
                      <a:r>
                        <a:rPr sz="1400"/>
                        <a:t>Near Misses</a:t>
                      </a:r>
                    </a:p>
                  </a:txBody>
                  <a:tcPr marL="50800" marR="50800" marT="50800" marB="50800" anchor="ctr" anchorCtr="0" horzOverflow="overflow"/>
                </a:tc>
                <a:tc rowSpan="2">
                  <a:txBody>
                    <a:bodyPr/>
                    <a:lstStyle/>
                    <a:p>
                      <a:pPr defTabSz="914400">
                        <a:tabLst>
                          <a:tab pos="1663700" algn="l"/>
                        </a:tabLst>
                      </a:pPr>
                      <a:r>
                        <a:rPr sz="1400"/>
                        <a:t>GSSM</a:t>
                      </a:r>
                    </a:p>
                  </a:txBody>
                  <a:tcPr marL="50800" marR="50800" marT="50800" marB="50800" anchor="ctr" anchorCtr="0" horzOverflow="overflow"/>
                </a:tc>
                <a:tc rowSpan="2">
                  <a:txBody>
                    <a:bodyPr/>
                    <a:lstStyle/>
                    <a:p>
                      <a:pPr defTabSz="914400">
                        <a:tabLst>
                          <a:tab pos="1663700" algn="l"/>
                        </a:tabLst>
                      </a:pPr>
                      <a:r>
                        <a:rPr sz="1400"/>
                        <a:t>HWTE</a:t>
                      </a:r>
                    </a:p>
                  </a:txBody>
                  <a:tcPr marL="50800" marR="50800" marT="50800" marB="50800" anchor="ctr" anchorCtr="0" horzOverflow="overflow"/>
                </a:tc>
                <a:tc rowSpan="2">
                  <a:txBody>
                    <a:bodyPr/>
                    <a:lstStyle/>
                    <a:p>
                      <a:pPr defTabSz="914400">
                        <a:tabLst>
                          <a:tab pos="1663700" algn="l"/>
                        </a:tabLst>
                      </a:pPr>
                      <a:r>
                        <a:rPr sz="1400"/>
                        <a:t>OpsTE</a:t>
                      </a:r>
                    </a:p>
                  </a:txBody>
                  <a:tcPr marL="50800" marR="50800" marT="50800" marB="50800" anchor="ctr" anchorCtr="0" horzOverflow="overflow"/>
                </a:tc>
                <a:tc vMerge="1">
                  <a:tcPr/>
                </a:tc>
                <a:tc rowSpan="3">
                  <a:txBody>
                    <a:bodyPr/>
                    <a:lstStyle/>
                    <a:p>
                      <a:pPr defTabSz="914400">
                        <a:tabLst>
                          <a:tab pos="1663700" algn="l"/>
                        </a:tabLst>
                      </a:pPr>
                      <a:r>
                        <a:rPr sz="1300"/>
                        <a:t>GSM</a:t>
                      </a:r>
                    </a:p>
                  </a:txBody>
                  <a:tcPr marL="50800" marR="50800" marT="50800" marB="50800" anchor="ctr" anchorCtr="0" horzOverflow="overflow"/>
                </a:tc>
                <a:tc rowSpan="3">
                  <a:txBody>
                    <a:bodyPr/>
                    <a:lstStyle/>
                    <a:p>
                      <a:pPr defTabSz="914400">
                        <a:tabLst>
                          <a:tab pos="1663700" algn="l"/>
                        </a:tabLst>
                      </a:pPr>
                      <a:r>
                        <a:rPr sz="1300"/>
                        <a:t>HWTE</a:t>
                      </a:r>
                    </a:p>
                  </a:txBody>
                  <a:tcPr marL="50800" marR="50800" marT="50800" marB="50800" anchor="ctr" anchorCtr="0" horzOverflow="overflow"/>
                </a:tc>
                <a:tc rowSpan="3">
                  <a:txBody>
                    <a:bodyPr/>
                    <a:lstStyle/>
                    <a:p>
                      <a:pPr defTabSz="914400">
                        <a:tabLst>
                          <a:tab pos="1663700" algn="l"/>
                        </a:tabLst>
                      </a:pPr>
                      <a:r>
                        <a:rPr sz="1300"/>
                        <a:t>OpsTE</a:t>
                      </a:r>
                    </a:p>
                  </a:txBody>
                  <a:tcPr marL="50800" marR="50800" marT="50800" marB="50800" anchor="ctr" anchorCtr="0" horzOverflow="overflow"/>
                </a:tc>
                <a:tc rowSpan="3">
                  <a:txBody>
                    <a:bodyPr/>
                    <a:lstStyle/>
                    <a:p>
                      <a:pPr defTabSz="914400">
                        <a:tabLst>
                          <a:tab pos="1663700" algn="l"/>
                        </a:tabLst>
                      </a:pPr>
                      <a:r>
                        <a:rPr sz="1600"/>
                        <a:t>Summary</a:t>
                      </a:r>
                    </a:p>
                  </a:txBody>
                  <a:tcPr marL="50800" marR="50800" marT="50800" marB="50800" anchor="ctr" anchorCtr="0" horzOverflow="overflow"/>
                </a:tc>
              </a:tr>
              <a:tr h="333742">
                <a:tc>
                  <a:txBody>
                    <a:bodyPr/>
                    <a:lstStyle/>
                    <a:p>
                      <a:pPr defTabSz="914400">
                        <a:tabLst>
                          <a:tab pos="1663700" algn="l"/>
                        </a:tabLst>
                        <a:defRPr b="0"/>
                      </a:pPr>
                      <a:r>
                        <a:rPr b="1" sz="1600"/>
                        <a:t>DRI</a:t>
                      </a:r>
                    </a:p>
                  </a:txBody>
                  <a:tcPr marL="50800" marR="50800" marT="50800" marB="50800" anchor="ctr" anchorCtr="0" horzOverflow="overflow">
                    <a:lnR w="12700">
                      <a:solidFill>
                        <a:srgbClr val="000000"/>
                      </a:solidFill>
                      <a:miter lim="400000"/>
                    </a:lnR>
                  </a:tcPr>
                </a:tc>
                <a:tc>
                  <a:txBody>
                    <a:bodyPr/>
                    <a:lstStyle/>
                    <a:p>
                      <a:pPr defTabSz="914400">
                        <a:tabLst>
                          <a:tab pos="1663700" algn="l"/>
                        </a:tabLst>
                      </a:pPr>
                      <a:r>
                        <a:rPr sz="1400"/>
                        <a:t>GSM</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gridSpan="5">
                  <a:txBody>
                    <a:bodyPr/>
                    <a:lstStyle/>
                    <a:p>
                      <a:pPr defTabSz="914400">
                        <a:tabLst>
                          <a:tab pos="1663700" algn="l"/>
                        </a:tabLst>
                      </a:pPr>
                      <a:r>
                        <a:rPr sz="1400"/>
                        <a:t>All (GSM, HWTE, OpsTE, Capex)</a:t>
                      </a:r>
                    </a:p>
                  </a:txBody>
                  <a:tcPr marL="50800" marR="50800" marT="50800" marB="50800" anchor="ctr" anchorCtr="0" horzOverflow="overflow"/>
                </a:tc>
                <a:tc hMerge="1">
                  <a:tcPr/>
                </a:tc>
                <a:tc hMerge="1">
                  <a:tcPr/>
                </a:tc>
                <a:tc hMerge="1">
                  <a:tcPr/>
                </a:tc>
                <a:tc hMerge="1">
                  <a:tcPr/>
                </a:tc>
                <a:tc vMerge="1">
                  <a:tcPr/>
                </a:tc>
                <a:tc vMerge="1">
                  <a:tcPr/>
                </a:tc>
                <a:tc vMerge="1">
                  <a:tcPr/>
                </a:tc>
                <a:tc vMerge="1">
                  <a:tcPr/>
                </a:tc>
                <a:tc vMerge="1">
                  <a:tcPr/>
                </a:tc>
                <a:tc vMerge="1">
                  <a:tcPr/>
                </a:tc>
                <a:tc vMerge="1">
                  <a:tcPr/>
                </a:tc>
                <a:tc vMerge="1">
                  <a:tcPr/>
                </a:tc>
              </a:tr>
              <a:tr h="333742">
                <a:tc>
                  <a:txBody>
                    <a:bodyPr/>
                    <a:lstStyle/>
                    <a:p>
                      <a:pPr defTabSz="914400">
                        <a:tabLst>
                          <a:tab pos="1663700" algn="l"/>
                        </a:tabLst>
                        <a:defRPr b="0"/>
                      </a:pPr>
                      <a:r>
                        <a:rPr b="1" sz="1600"/>
                        <a:t>MH/NTH</a:t>
                      </a:r>
                    </a:p>
                  </a:txBody>
                  <a:tcPr marL="50800" marR="50800" marT="50800" marB="50800" anchor="ctr" anchorCtr="0" horzOverflow="overflow">
                    <a:lnR w="12700">
                      <a:solidFill>
                        <a:srgbClr val="000000"/>
                      </a:solidFill>
                      <a:miter lim="400000"/>
                    </a:lnR>
                  </a:tcPr>
                </a:tc>
                <a:tc gridSpan="11">
                  <a:txBody>
                    <a:bodyPr/>
                    <a:lstStyle/>
                    <a:p>
                      <a:pPr defTabSz="914400">
                        <a:tabLst>
                          <a:tab pos="1663700" algn="l"/>
                        </a:tabLst>
                      </a:pPr>
                      <a:r>
                        <a:rPr sz="1400"/>
                        <a:t>Must Have</a:t>
                      </a:r>
                    </a:p>
                  </a:txBody>
                  <a:tcPr marL="50800" marR="50800" marT="50800" marB="50800" anchor="ctr" anchorCtr="0" horzOverflow="overflow">
                    <a:lnL w="12700">
                      <a:solidFill>
                        <a:srgbClr val="000000"/>
                      </a:solidFill>
                      <a:miter lim="400000"/>
                    </a:lnL>
                  </a:tcPr>
                </a:tc>
                <a:tc hMerge="1">
                  <a:tcPr/>
                </a:tc>
                <a:tc hMerge="1">
                  <a:tcPr/>
                </a:tc>
                <a:tc hMerge="1">
                  <a:tcPr/>
                </a:tc>
                <a:tc hMerge="1">
                  <a:tcPr/>
                </a:tc>
                <a:tc hMerge="1">
                  <a:tcPr/>
                </a:tc>
                <a:tc hMerge="1">
                  <a:tcPr/>
                </a:tc>
                <a:tc hMerge="1">
                  <a:tcPr/>
                </a:tc>
                <a:tc hMerge="1">
                  <a:tcPr/>
                </a:tc>
                <a:tc hMerge="1">
                  <a:tcPr/>
                </a:tc>
                <a:tc hMerge="1">
                  <a:tcPr/>
                </a:tc>
                <a:tc gridSpan="9">
                  <a:txBody>
                    <a:bodyPr/>
                    <a:lstStyle/>
                    <a:p>
                      <a:pPr defTabSz="914400">
                        <a:tabLst>
                          <a:tab pos="1663700" algn="l"/>
                        </a:tabLst>
                      </a:pPr>
                      <a:r>
                        <a:rPr sz="1400"/>
                        <a:t>Nice to Have</a:t>
                      </a:r>
                    </a:p>
                  </a:txBody>
                  <a:tcPr marL="50800" marR="50800" marT="50800" marB="50800" anchor="ctr" anchorCtr="0" horzOverflow="overflow"/>
                </a:tc>
                <a:tc hMerge="1">
                  <a:tcPr/>
                </a:tc>
                <a:tc hMerge="1">
                  <a:tcPr/>
                </a:tc>
                <a:tc hMerge="1">
                  <a:tcPr/>
                </a:tc>
                <a:tc hMerge="1">
                  <a:tcPr/>
                </a:tc>
                <a:tc hMerge="1">
                  <a:tcPr/>
                </a:tc>
                <a:tc hMerge="1">
                  <a:tcPr/>
                </a:tc>
                <a:tc hMerge="1">
                  <a:tcPr/>
                </a:tc>
                <a:tc hMerge="1">
                  <a:tcPr/>
                </a:tc>
                <a:tc vMerge="1">
                  <a:tcPr/>
                </a:tc>
                <a:tc vMerge="1">
                  <a:tcPr/>
                </a:tc>
                <a:tc vMerge="1">
                  <a:tcPr/>
                </a:tc>
                <a:tc vMerge="1">
                  <a:tcPr/>
                </a:tc>
                <a:tc vMerge="1">
                  <a:tcPr/>
                </a:tc>
              </a:tr>
              <a:tr h="298255">
                <a:tc>
                  <a:txBody>
                    <a:bodyPr/>
                    <a:lstStyle/>
                    <a:p>
                      <a:pPr algn="l" defTabSz="457200">
                        <a:defRPr b="0"/>
                      </a:pPr>
                      <a:r>
                        <a:rPr sz="1400"/>
                        <a:t>Amphenol</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17.25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Capable vendor that needs conveyor experience.</a:t>
                      </a:r>
                    </a:p>
                  </a:txBody>
                  <a:tcPr marL="50800" marR="50800" marT="50800" marB="50800" anchor="ctr" anchorCtr="0" horzOverflow="overflow"/>
                </a:tc>
              </a:tr>
              <a:tr h="310420">
                <a:tc>
                  <a:txBody>
                    <a:bodyPr/>
                    <a:lstStyle/>
                    <a:p>
                      <a:pPr algn="l" defTabSz="457200">
                        <a:defRPr b="0"/>
                      </a:pPr>
                      <a:r>
                        <a:rPr sz="1400"/>
                        <a:t>Averna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17</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SI phased out - Can’t meet MP price targets</a:t>
                      </a:r>
                    </a:p>
                  </a:txBody>
                  <a:tcPr marL="50800" marR="50800" marT="50800" marB="50800" anchor="ctr" anchorCtr="0" horzOverflow="overflow"/>
                </a:tc>
              </a:tr>
              <a:tr h="310420">
                <a:tc>
                  <a:txBody>
                    <a:bodyPr/>
                    <a:lstStyle/>
                    <a:p>
                      <a:pPr algn="l" defTabSz="457200">
                        <a:defRPr b="0"/>
                      </a:pPr>
                      <a:r>
                        <a:rPr sz="1400"/>
                        <a:t>SPEA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15.75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Previous HWTE SI, strong technical, scaling TBC.</a:t>
                      </a:r>
                    </a:p>
                  </a:txBody>
                  <a:tcPr marL="50800" marR="50800" marT="50800" marB="50800" anchor="ctr" anchorCtr="0" horzOverflow="overflow"/>
                </a:tc>
              </a:tr>
              <a:tr h="298255">
                <a:tc>
                  <a:txBody>
                    <a:bodyPr/>
                    <a:lstStyle/>
                    <a:p>
                      <a:pPr algn="l" defTabSz="457200">
                        <a:defRPr b="0"/>
                      </a:pPr>
                      <a:r>
                        <a:rPr sz="1400"/>
                        <a:t>HVS</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Not NPI qualified, focused on B798. Save BW for IN.</a:t>
                      </a:r>
                    </a:p>
                  </a:txBody>
                  <a:tcPr marL="50800" marR="50800" marT="50800" marB="50800" anchor="ctr" anchorCtr="0" horzOverflow="overflow"/>
                </a:tc>
              </a:tr>
              <a:tr h="298255">
                <a:tc>
                  <a:txBody>
                    <a:bodyPr/>
                    <a:lstStyle/>
                    <a:p>
                      <a:pPr algn="l" defTabSz="457200">
                        <a:defRPr b="0"/>
                      </a:pPr>
                      <a:r>
                        <a:rPr sz="1400"/>
                        <a:t>JLK</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Bandwidth issues, but capable if no options.</a:t>
                      </a:r>
                    </a:p>
                  </a:txBody>
                  <a:tcPr marL="50800" marR="50800" marT="50800" marB="50800" anchor="ctr" anchorCtr="0" horzOverflow="overflow"/>
                </a:tc>
              </a:tr>
              <a:tr h="294367">
                <a:tc>
                  <a:txBody>
                    <a:bodyPr/>
                    <a:lstStyle/>
                    <a:p>
                      <a:pPr algn="l" defTabSz="457200">
                        <a:defRPr b="0"/>
                      </a:pPr>
                      <a:r>
                        <a:rPr sz="1400"/>
                        <a:t>PRM</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Conveyor experience, but lower potential (IN)</a:t>
                      </a:r>
                    </a:p>
                  </a:txBody>
                  <a:tcPr marL="50800" marR="50800" marT="50800" marB="50800" anchor="ctr" anchorCtr="0" horzOverflow="overflow"/>
                </a:tc>
              </a:tr>
              <a:tr h="298255">
                <a:tc>
                  <a:txBody>
                    <a:bodyPr/>
                    <a:lstStyle/>
                    <a:p>
                      <a:pPr algn="l" defTabSz="457200">
                        <a:defRPr b="0"/>
                      </a:pPr>
                      <a:r>
                        <a:rPr sz="1400"/>
                        <a:t>Cencorp</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13.75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914400"/>
                      <a:r>
                        <a:rPr sz="1400"/>
                        <a:t>Incumbent, but lower potential (IN)</a:t>
                      </a:r>
                    </a:p>
                  </a:txBody>
                  <a:tcPr marL="50800" marR="50800" marT="50800" marB="50800" anchor="ctr" anchorCtr="0" horzOverflow="overflow"/>
                </a:tc>
              </a:tr>
              <a:tr h="294367">
                <a:tc>
                  <a:txBody>
                    <a:bodyPr/>
                    <a:lstStyle/>
                    <a:p>
                      <a:pPr algn="l" defTabSz="457200">
                        <a:defRPr b="0"/>
                      </a:pPr>
                      <a:r>
                        <a:rPr sz="1400"/>
                        <a:t>Innorev</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11.75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Bandwidth/performance issues, skip for now</a:t>
                      </a:r>
                    </a:p>
                  </a:txBody>
                  <a:tcPr marL="50800" marR="50800" marT="50800" marB="50800" anchor="ctr" anchorCtr="0" horzOverflow="overflow"/>
                </a:tc>
              </a:tr>
              <a:tr h="310420">
                <a:tc>
                  <a:txBody>
                    <a:bodyPr/>
                    <a:lstStyle/>
                    <a:p>
                      <a:pPr algn="l" defTabSz="457200">
                        <a:defRPr b="0"/>
                      </a:pPr>
                      <a:r>
                        <a:rPr sz="1400"/>
                        <a:t>Pentamaster</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11.5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Not qualified for NPI, needs a shadow set</a:t>
                      </a:r>
                    </a:p>
                  </a:txBody>
                  <a:tcPr marL="50800" marR="50800" marT="50800" marB="50800" anchor="ctr" anchorCtr="0" horzOverflow="overflow"/>
                </a:tc>
              </a:tr>
              <a:tr h="321622">
                <a:tc>
                  <a:txBody>
                    <a:bodyPr/>
                    <a:lstStyle/>
                    <a:p>
                      <a:pPr algn="l" defTabSz="457200">
                        <a:defRPr b="0"/>
                      </a:pPr>
                      <a:r>
                        <a:rPr sz="1400"/>
                        <a:t>IVD</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10.25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914400"/>
                      <a:r>
                        <a:rPr sz="1400"/>
                        <a:t>Not qualified for NPI, needs a shadow set</a:t>
                      </a:r>
                    </a:p>
                  </a:txBody>
                  <a:tcPr marL="50800" marR="50800" marT="50800" marB="50800" anchor="ctr" anchorCtr="0" horzOverflow="overflow"/>
                </a:tc>
              </a:tr>
              <a:tr h="321622">
                <a:tc>
                  <a:txBody>
                    <a:bodyPr/>
                    <a:lstStyle/>
                    <a:p>
                      <a:pPr algn="l" defTabSz="457200">
                        <a:defRPr b="0"/>
                      </a:pPr>
                      <a:r>
                        <a:rPr sz="1400"/>
                        <a:t>VVDN</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9.5</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Needs shadow set to qualify. limited IN opp’y for this. </a:t>
                      </a:r>
                    </a:p>
                  </a:txBody>
                  <a:tcPr marL="50800" marR="50800" marT="50800" marB="50800" anchor="ctr" anchorCtr="0" horzOverflow="overflow"/>
                </a:tc>
              </a:tr>
              <a:tr h="294367">
                <a:tc>
                  <a:txBody>
                    <a:bodyPr/>
                    <a:lstStyle/>
                    <a:p>
                      <a:pPr algn="l" defTabSz="457200">
                        <a:defRPr b="0"/>
                      </a:pPr>
                      <a:r>
                        <a:rPr sz="1400"/>
                        <a:t>Accurate</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8</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Not a conveyor-capable SI</a:t>
                      </a:r>
                    </a:p>
                  </a:txBody>
                  <a:tcPr marL="50800" marR="50800" marT="50800" marB="50800" anchor="ctr" anchorCtr="0" horzOverflow="overflow"/>
                </a:tc>
              </a:tr>
              <a:tr h="321622">
                <a:tc>
                  <a:txBody>
                    <a:bodyPr/>
                    <a:lstStyle/>
                    <a:p>
                      <a:pPr algn="l" defTabSz="457200">
                        <a:defRPr b="0"/>
                      </a:pPr>
                      <a:r>
                        <a:rPr sz="1400"/>
                        <a:t>SFO</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7</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TTM NPI performance —&gt; limited eng learnings BW</a:t>
                      </a:r>
                    </a:p>
                  </a:txBody>
                  <a:tcPr marL="50800" marR="50800" marT="50800" marB="50800" anchor="ctr" anchorCtr="0" horzOverflow="overflow"/>
                </a:tc>
              </a:tr>
              <a:tr h="310420">
                <a:tc>
                  <a:txBody>
                    <a:bodyPr/>
                    <a:lstStyle/>
                    <a:p>
                      <a:pPr algn="l" defTabSz="457200">
                        <a:defRPr b="0"/>
                      </a:pPr>
                      <a:r>
                        <a:rPr sz="1400"/>
                        <a:t>Anora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6</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Low priority, can revisit if other choices drop</a:t>
                      </a:r>
                    </a:p>
                  </a:txBody>
                  <a:tcPr marL="50800" marR="50800" marT="50800" marB="50800" anchor="ctr" anchorCtr="0" horzOverflow="overflow"/>
                </a:tc>
              </a:tr>
              <a:tr h="294367">
                <a:tc>
                  <a:txBody>
                    <a:bodyPr/>
                    <a:lstStyle/>
                    <a:p>
                      <a:pPr algn="l" defTabSz="457200">
                        <a:defRPr b="0"/>
                      </a:pPr>
                      <a:r>
                        <a:rPr sz="1400"/>
                        <a:t>Stiwa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5.5</a:t>
                      </a:r>
                    </a:p>
                  </a:txBody>
                  <a:tcPr marL="63500" marR="63500" marT="0" marB="0" anchor="ctr" anchorCtr="0" horzOverflow="overflow"/>
                </a:tc>
                <a:tc>
                  <a:txBody>
                    <a:bodyPr/>
                    <a:lstStyle/>
                    <a:p>
                      <a:pPr defTabSz="457200">
                        <a:defRPr sz="1600">
                          <a:latin typeface="Helvetica"/>
                          <a:ea typeface="Helvetica"/>
                          <a:cs typeface="Helvetica"/>
                          <a:sym typeface="Helvetica"/>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914400"/>
                      <a:r>
                        <a:rPr sz="1400"/>
                        <a:t>Occupied on AE projects; declining RFPs</a:t>
                      </a:r>
                    </a:p>
                  </a:txBody>
                  <a:tcPr marL="50800" marR="50800" marT="50800" marB="50800" anchor="ctr" anchorCtr="0" horzOverflow="overflow"/>
                </a:tc>
              </a:tr>
              <a:tr h="310420">
                <a:tc>
                  <a:txBody>
                    <a:bodyPr/>
                    <a:lstStyle/>
                    <a:p>
                      <a:pPr algn="l" defTabSz="457200">
                        <a:defRPr b="0"/>
                      </a:pPr>
                      <a:r>
                        <a:rPr sz="1400"/>
                        <a:t>Zeiss</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5</a:t>
                      </a:r>
                    </a:p>
                  </a:txBody>
                  <a:tcPr marL="63500" marR="63500" marT="0" marB="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Engaged on VG; Commercially not competitive</a:t>
                      </a:r>
                    </a:p>
                  </a:txBody>
                  <a:tcPr marL="50800" marR="50800" marT="50800" marB="50800" anchor="ctr" anchorCtr="0" horzOverflow="overflow"/>
                </a:tc>
              </a:tr>
              <a:tr h="294367">
                <a:tc>
                  <a:txBody>
                    <a:bodyPr/>
                    <a:lstStyle/>
                    <a:p>
                      <a:pPr algn="l" defTabSz="457200">
                        <a:defRPr b="0"/>
                      </a:pPr>
                      <a:r>
                        <a:rPr sz="1400"/>
                        <a:t>ATS</a:t>
                      </a:r>
                    </a:p>
                  </a:txBody>
                  <a:tcPr marL="63500" marR="63500" marT="0" marB="0" anchor="ctr" anchorCtr="0" horzOverflow="overflow">
                    <a:lnR w="12700">
                      <a:solidFill>
                        <a:srgbClr val="000000"/>
                      </a:solidFill>
                      <a:miter lim="400000"/>
                    </a:lnR>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lnL w="12700">
                      <a:solidFill>
                        <a:srgbClr val="000000"/>
                      </a:solidFill>
                      <a:miter lim="400000"/>
                    </a:ln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defTabSz="914400">
                        <a:defRPr sz="1600"/>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Gated by GSM OK2Engage feedback</a:t>
                      </a:r>
                    </a:p>
                  </a:txBody>
                  <a:tcPr marL="50800" marR="50800" marT="50800" marB="50800" anchor="ctr" anchorCtr="0" horzOverflow="overflow"/>
                </a:tc>
              </a:tr>
              <a:tr h="310420">
                <a:tc>
                  <a:txBody>
                    <a:bodyPr/>
                    <a:lstStyle/>
                    <a:p>
                      <a:pPr algn="l" defTabSz="457200">
                        <a:defRPr b="0"/>
                      </a:pPr>
                      <a:r>
                        <a:rPr sz="1400"/>
                        <a:t>AIR</a:t>
                      </a:r>
                    </a:p>
                  </a:txBody>
                  <a:tcPr marL="63500" marR="63500" marT="0" marB="0" anchor="ctr" anchorCtr="0" horzOverflow="overflow">
                    <a:lnR w="12700">
                      <a:solidFill>
                        <a:srgbClr val="000000"/>
                      </a:solidFill>
                      <a:miter lim="400000"/>
                    </a:lnR>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lnL w="12700">
                      <a:solidFill>
                        <a:srgbClr val="000000"/>
                      </a:solidFill>
                      <a:miter lim="400000"/>
                    </a:lnL>
                    <a:solidFill>
                      <a:srgbClr val="D5D5D5"/>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Currently refusing to sign EDPA</a:t>
                      </a:r>
                    </a:p>
                  </a:txBody>
                  <a:tcPr marL="50800" marR="50800" marT="50800" marB="50800" anchor="ctr" anchorCtr="0" horzOverflow="overflow"/>
                </a:tc>
              </a:tr>
              <a:tr h="310420">
                <a:tc>
                  <a:txBody>
                    <a:bodyPr/>
                    <a:lstStyle/>
                    <a:p>
                      <a:pPr algn="l" defTabSz="457200">
                        <a:defRPr b="0"/>
                      </a:pPr>
                      <a:r>
                        <a:rPr sz="1400"/>
                        <a:t>Zetwerk</a:t>
                      </a:r>
                    </a:p>
                  </a:txBody>
                  <a:tcPr marL="63500" marR="63500" marT="0" marB="0" anchor="ctr" anchorCtr="0" horzOverflow="overflow">
                    <a:lnR w="12700">
                      <a:solidFill>
                        <a:srgbClr val="000000"/>
                      </a:solidFill>
                      <a:miter lim="400000"/>
                    </a:lnR>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lnL w="12700">
                      <a:solidFill>
                        <a:srgbClr val="000000"/>
                      </a:solidFill>
                      <a:miter lim="400000"/>
                    </a:ln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Helvetica"/>
                          <a:ea typeface="Helvetica"/>
                          <a:cs typeface="Helvetica"/>
                          <a:sym typeface="Helvetica"/>
                        </a:defRPr>
                      </a:pPr>
                    </a:p>
                  </a:txBody>
                  <a:tcPr marL="50800" marR="50800" marT="50800" marB="50800" anchor="ctr" anchorCtr="0" horzOverflow="overflow"/>
                </a:tc>
                <a:tc>
                  <a:txBody>
                    <a:bodyPr/>
                    <a:lstStyle/>
                    <a:p>
                      <a:pPr defTabSz="914400">
                        <a:defRPr sz="1600"/>
                      </a:pPr>
                    </a:p>
                  </a:txBody>
                  <a:tcPr marL="50800" marR="50800" marT="50800" marB="50800" anchor="ctr" anchorCtr="0" horzOverflow="overflow"/>
                </a:tc>
                <a:tc>
                  <a:txBody>
                    <a:bodyPr/>
                    <a:lstStyle/>
                    <a:p>
                      <a:pPr defTabSz="914400"/>
                      <a:r>
                        <a:rPr sz="1400"/>
                        <a:t>Legal docs still under discussion</a:t>
                      </a:r>
                    </a:p>
                  </a:txBody>
                  <a:tcPr marL="50800" marR="50800" marT="50800" marB="50800" anchor="ctr" anchorCtr="0" horzOverflow="overflow"/>
                </a:tc>
              </a:tr>
            </a:tbl>
          </a:graphicData>
        </a:graphic>
      </p:graphicFrame>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SI Capacity Management | Active SI Ratings"/>
          <p:cNvSpPr txBox="1"/>
          <p:nvPr/>
        </p:nvSpPr>
        <p:spPr>
          <a:xfrm>
            <a:off x="130137" y="330277"/>
            <a:ext cx="10847240" cy="7366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lvl="1" indent="317500" defTabSz="825500">
              <a:lnSpc>
                <a:spcPct val="100000"/>
              </a:lnSpc>
              <a:spcBef>
                <a:spcPts val="0"/>
              </a:spcBef>
              <a:defRPr sz="4200">
                <a:solidFill>
                  <a:srgbClr val="0096FF"/>
                </a:solidFill>
                <a:latin typeface="SF Hello Regular"/>
                <a:ea typeface="SF Hello Regular"/>
                <a:cs typeface="SF Hello Regular"/>
                <a:sym typeface="SF Hello Regular"/>
              </a:defRPr>
            </a:pPr>
            <a:r>
              <a:t>SI Capacity Management </a:t>
            </a:r>
            <a:r>
              <a:rPr>
                <a:solidFill>
                  <a:srgbClr val="444444"/>
                </a:solidFill>
                <a:latin typeface="Helvetica Neue UltraLight"/>
                <a:ea typeface="Helvetica Neue UltraLight"/>
                <a:cs typeface="Helvetica Neue UltraLight"/>
                <a:sym typeface="Helvetica Neue UltraLight"/>
              </a:rPr>
              <a:t>| Active </a:t>
            </a:r>
            <a:r>
              <a:rPr b="1">
                <a:solidFill>
                  <a:srgbClr val="000000"/>
                </a:solidFill>
                <a:latin typeface="Helvetica"/>
                <a:ea typeface="Helvetica"/>
                <a:cs typeface="Helvetica"/>
                <a:sym typeface="Helvetica"/>
              </a:rPr>
              <a:t>SI Ratings</a:t>
            </a:r>
          </a:p>
        </p:txBody>
      </p:sp>
      <p:graphicFrame>
        <p:nvGraphicFramePr>
          <p:cNvPr id="238" name="Table 1-1-1-1-1-1"/>
          <p:cNvGraphicFramePr/>
          <p:nvPr/>
        </p:nvGraphicFramePr>
        <p:xfrm>
          <a:off x="19700065" y="1341374"/>
          <a:ext cx="4430459" cy="63347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208879"/>
                <a:gridCol w="2208879"/>
              </a:tblGrid>
              <a:tr h="310388">
                <a:tc>
                  <a:txBody>
                    <a:bodyPr/>
                    <a:lstStyle/>
                    <a:p>
                      <a:pPr defTabSz="457200"/>
                      <a:r>
                        <a:rPr sz="2000"/>
                        <a:t>Pass</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53AC79"/>
                    </a:solidFill>
                  </a:tcPr>
                </a:tc>
                <a:tc>
                  <a:txBody>
                    <a:bodyPr/>
                    <a:lstStyle/>
                    <a:p>
                      <a:pPr defTabSz="457200"/>
                      <a:r>
                        <a:rPr sz="2000">
                          <a:solidFill>
                            <a:srgbClr val="929292"/>
                          </a:solidFill>
                        </a:rPr>
                        <a:t>Conditional Pass</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FEF0D6"/>
                    </a:solidFill>
                  </a:tcPr>
                </a:tc>
              </a:tr>
              <a:tr h="310388">
                <a:tc>
                  <a:txBody>
                    <a:bodyPr/>
                    <a:lstStyle/>
                    <a:p>
                      <a:pPr defTabSz="457200"/>
                      <a:r>
                        <a:rPr sz="2000">
                          <a:solidFill>
                            <a:srgbClr val="929292"/>
                          </a:solidFill>
                        </a:rPr>
                        <a:t>Does not Meet</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solidFill>
                      <a:srgbClr val="D5D5D5"/>
                    </a:solidFill>
                  </a:tcPr>
                </a:tc>
                <a:tc>
                  <a:txBody>
                    <a:bodyPr/>
                    <a:lstStyle/>
                    <a:p>
                      <a:pPr defTabSz="457200"/>
                      <a:r>
                        <a:rPr sz="2000">
                          <a:solidFill>
                            <a:srgbClr val="929292"/>
                          </a:solidFill>
                        </a:rPr>
                        <a:t>TBC/NA</a:t>
                      </a:r>
                    </a:p>
                  </a:txBody>
                  <a:tcPr marL="63500" marR="63500" marT="0" marB="0" anchor="ctr" anchorCtr="0" horzOverflow="overflow">
                    <a:lnL w="12700">
                      <a:solidFill>
                        <a:srgbClr val="929292"/>
                      </a:solidFill>
                      <a:miter lim="400000"/>
                    </a:lnL>
                    <a:lnR w="12700">
                      <a:solidFill>
                        <a:srgbClr val="929292"/>
                      </a:solidFill>
                      <a:miter lim="400000"/>
                    </a:lnR>
                    <a:lnT w="12700">
                      <a:solidFill>
                        <a:srgbClr val="929292"/>
                      </a:solidFill>
                      <a:miter lim="400000"/>
                    </a:lnT>
                    <a:lnB w="12700">
                      <a:solidFill>
                        <a:srgbClr val="929292"/>
                      </a:solidFill>
                      <a:miter lim="400000"/>
                    </a:lnB>
                  </a:tcPr>
                </a:tc>
              </a:tr>
            </a:tbl>
          </a:graphicData>
        </a:graphic>
      </p:graphicFrame>
      <p:graphicFrame>
        <p:nvGraphicFramePr>
          <p:cNvPr id="239" name="Table 1-1-1"/>
          <p:cNvGraphicFramePr/>
          <p:nvPr/>
        </p:nvGraphicFramePr>
        <p:xfrm>
          <a:off x="1622519" y="14402765"/>
          <a:ext cx="22496686" cy="1925623"/>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325892"/>
                <a:gridCol w="670198"/>
                <a:gridCol w="670198"/>
                <a:gridCol w="670198"/>
                <a:gridCol w="10173872"/>
                <a:gridCol w="3506958"/>
                <a:gridCol w="2777778"/>
                <a:gridCol w="2688886"/>
              </a:tblGrid>
              <a:tr h="273274">
                <a:tc rowSpan="2">
                  <a:txBody>
                    <a:bodyPr/>
                    <a:lstStyle/>
                    <a:p>
                      <a:pPr algn="l" defTabSz="457200"/>
                      <a:r>
                        <a:rPr b="1" sz="1600"/>
                        <a:t>Name</a:t>
                      </a:r>
                    </a:p>
                  </a:txBody>
                  <a:tcPr marL="63500" marR="63500" marT="0" marB="0" anchor="ctr" anchorCtr="0" horzOverflow="overflow"/>
                </a:tc>
                <a:tc gridSpan="3">
                  <a:txBody>
                    <a:bodyPr/>
                    <a:lstStyle/>
                    <a:p>
                      <a:pPr defTabSz="457200"/>
                      <a:r>
                        <a:rPr b="1" sz="1600"/>
                        <a:t>Go - No Go Rating</a:t>
                      </a:r>
                    </a:p>
                  </a:txBody>
                  <a:tcPr marL="63500" marR="63500" marT="0" marB="0" anchor="ctr" anchorCtr="0" horzOverflow="overflow"/>
                </a:tc>
                <a:tc hMerge="1">
                  <a:tcPr/>
                </a:tc>
                <a:tc hMerge="1">
                  <a:tcPr/>
                </a:tc>
                <a:tc rowSpan="2">
                  <a:txBody>
                    <a:bodyPr/>
                    <a:lstStyle/>
                    <a:p>
                      <a:pPr algn="l" defTabSz="457200"/>
                      <a:r>
                        <a:rPr b="1" sz="1600"/>
                        <a:t>Rationale</a:t>
                      </a:r>
                    </a:p>
                  </a:txBody>
                  <a:tcPr marL="63500" marR="63500" marT="0" marB="0" anchor="ctr" anchorCtr="0" horzOverflow="overflow"/>
                </a:tc>
                <a:tc gridSpan="3">
                  <a:txBody>
                    <a:bodyPr/>
                    <a:lstStyle/>
                    <a:p>
                      <a:pPr defTabSz="457200"/>
                      <a:r>
                        <a:rPr b="1" sz="1600"/>
                        <a:t>Long-Term SI Direction (Draft, subject to change. 2026 Qual sets may be)</a:t>
                      </a:r>
                    </a:p>
                  </a:txBody>
                  <a:tcPr marL="63500" marR="63500" marT="0" marB="0" anchor="ctr" anchorCtr="0" horzOverflow="overflow"/>
                </a:tc>
                <a:tc hMerge="1">
                  <a:tcPr/>
                </a:tc>
                <a:tc hMerge="1">
                  <a:tcPr/>
                </a:tc>
              </a:tr>
              <a:tr h="273274">
                <a:tc vMerge="1">
                  <a:tcPr/>
                </a:tc>
                <a:tc>
                  <a:txBody>
                    <a:bodyPr/>
                    <a:lstStyle/>
                    <a:p>
                      <a:pPr defTabSz="457200"/>
                      <a:r>
                        <a:rPr sz="1300"/>
                        <a:t>GSSM</a:t>
                      </a:r>
                    </a:p>
                  </a:txBody>
                  <a:tcPr marL="63500" marR="63500" marT="0" marB="0" anchor="ctr" anchorCtr="0" horzOverflow="overflow"/>
                </a:tc>
                <a:tc>
                  <a:txBody>
                    <a:bodyPr/>
                    <a:lstStyle/>
                    <a:p>
                      <a:pPr defTabSz="457200"/>
                      <a:r>
                        <a:rPr sz="1300"/>
                        <a:t>HWTE</a:t>
                      </a:r>
                    </a:p>
                  </a:txBody>
                  <a:tcPr marL="63500" marR="63500" marT="0" marB="0" anchor="ctr" anchorCtr="0" horzOverflow="overflow"/>
                </a:tc>
                <a:tc>
                  <a:txBody>
                    <a:bodyPr/>
                    <a:lstStyle/>
                    <a:p>
                      <a:pPr defTabSz="457200"/>
                      <a:r>
                        <a:rPr sz="1300"/>
                        <a:t>OpsTE</a:t>
                      </a:r>
                    </a:p>
                  </a:txBody>
                  <a:tcPr marL="63500" marR="63500" marT="0" marB="0" anchor="ctr" anchorCtr="0" horzOverflow="overflow"/>
                </a:tc>
                <a:tc vMerge="1">
                  <a:tcPr/>
                </a:tc>
                <a:tc>
                  <a:txBody>
                    <a:bodyPr/>
                    <a:lstStyle/>
                    <a:p>
                      <a:pPr defTabSz="457200"/>
                      <a:r>
                        <a:rPr b="1" sz="1600"/>
                        <a:t>2026</a:t>
                      </a:r>
                    </a:p>
                  </a:txBody>
                  <a:tcPr marL="63500" marR="63500" marT="0" marB="0" anchor="ctr" anchorCtr="0" horzOverflow="overflow"/>
                </a:tc>
                <a:tc>
                  <a:txBody>
                    <a:bodyPr/>
                    <a:lstStyle/>
                    <a:p>
                      <a:pPr defTabSz="457200"/>
                      <a:r>
                        <a:rPr b="1" sz="1600"/>
                        <a:t>2027</a:t>
                      </a:r>
                    </a:p>
                  </a:txBody>
                  <a:tcPr marL="63500" marR="63500" marT="0" marB="0" anchor="ctr" anchorCtr="0" horzOverflow="overflow"/>
                </a:tc>
                <a:tc>
                  <a:txBody>
                    <a:bodyPr/>
                    <a:lstStyle/>
                    <a:p>
                      <a:pPr defTabSz="457200"/>
                      <a:r>
                        <a:rPr b="1" sz="1600"/>
                        <a:t>2028</a:t>
                      </a:r>
                    </a:p>
                  </a:txBody>
                  <a:tcPr marL="63500" marR="63500" marT="0" marB="0" anchor="ctr" anchorCtr="0" horzOverflow="overflow"/>
                </a:tc>
              </a:tr>
              <a:tr h="273274">
                <a:tc>
                  <a:txBody>
                    <a:bodyPr/>
                    <a:lstStyle/>
                    <a:p>
                      <a:pPr algn="l" defTabSz="457200"/>
                      <a:r>
                        <a:rPr sz="1600"/>
                        <a:t>PRM</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algn="l" defTabSz="457200"/>
                      <a:r>
                        <a:rPr sz="1600"/>
                        <a:t>Deep FACT/VENT conveyor experience, design not mature. Knows NPI dev but some scaling concerns.</a:t>
                      </a:r>
                    </a:p>
                  </a:txBody>
                  <a:tcPr marL="63500" marR="63500" marT="0" marB="0" anchor="ctr" anchorCtr="0" horzOverflow="overflow"/>
                </a:tc>
                <a:tc>
                  <a:txBody>
                    <a:bodyPr/>
                    <a:lstStyle/>
                    <a:p>
                      <a:pPr algn="l" defTabSz="457200"/>
                      <a:r>
                        <a:rPr sz="1200"/>
                        <a:t>TBC</a:t>
                      </a:r>
                    </a:p>
                  </a:txBody>
                  <a:tcPr marL="63500" marR="63500" marT="0" marB="0" anchor="ctr" anchorCtr="0" horzOverflow="overflow"/>
                </a:tc>
                <a:tc>
                  <a:txBody>
                    <a:bodyPr/>
                    <a:lstStyle/>
                    <a:p>
                      <a:pPr algn="l" defTabSz="457200">
                        <a:defRPr sz="1200"/>
                      </a:pP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Amphenol</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Proven SI. CN and TH-based production. Good conveyor experience opt’y if willing to be a long-term partner.</a:t>
                      </a:r>
                    </a:p>
                  </a:txBody>
                  <a:tcPr marL="63500" marR="63500" marT="0" marB="0" anchor="ctr" anchorCtr="0" horzOverflow="overflow"/>
                </a:tc>
                <a:tc>
                  <a:txBody>
                    <a:bodyPr/>
                    <a:lstStyle/>
                    <a:p>
                      <a:pPr algn="l" defTabSz="457200"/>
                      <a:r>
                        <a:rPr sz="1200"/>
                        <a:t>SeaSalt MP, iPad NPI, niche stations</a:t>
                      </a:r>
                    </a:p>
                  </a:txBody>
                  <a:tcPr marL="63500" marR="63500" marT="0" marB="0" anchor="ctr" anchorCtr="0" horzOverflow="overflow"/>
                </a:tc>
                <a:tc>
                  <a:txBody>
                    <a:bodyPr/>
                    <a:lstStyle/>
                    <a:p>
                      <a:pPr algn="l" defTabSz="457200"/>
                      <a:r>
                        <a:rPr sz="1200"/>
                        <a:t>Pad, Portables</a:t>
                      </a: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Cencorp</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algn="l" defTabSz="457200"/>
                      <a:r>
                        <a:rPr sz="1600"/>
                        <a:t>Proven conveyor SI. CN/VN support capability.</a:t>
                      </a:r>
                    </a:p>
                  </a:txBody>
                  <a:tcPr marL="63500" marR="63500" marT="0" marB="0" anchor="ctr" anchorCtr="0" horzOverflow="overflow"/>
                </a:tc>
                <a:tc>
                  <a:txBody>
                    <a:bodyPr/>
                    <a:lstStyle/>
                    <a:p>
                      <a:pPr algn="l" defTabSz="457200"/>
                      <a:r>
                        <a:rPr sz="1200"/>
                        <a:t>iPad NPI</a:t>
                      </a:r>
                    </a:p>
                  </a:txBody>
                  <a:tcPr marL="63500" marR="63500" marT="0" marB="0" anchor="ctr" anchorCtr="0" horzOverflow="overflow"/>
                </a:tc>
                <a:tc>
                  <a:txBody>
                    <a:bodyPr/>
                    <a:lstStyle/>
                    <a:p>
                      <a:pPr algn="l" defTabSz="457200"/>
                      <a:r>
                        <a:rPr sz="1200"/>
                        <a:t>Pad, Portables, Watch, Phone</a:t>
                      </a:r>
                    </a:p>
                  </a:txBody>
                  <a:tcPr marL="63500" marR="63500" marT="0" marB="0" anchor="ctr" anchorCtr="0" horzOverflow="overflow"/>
                </a:tc>
                <a:tc>
                  <a:txBody>
                    <a:bodyPr/>
                    <a:lstStyle/>
                    <a:p>
                      <a:pPr algn="l" defTabSz="457200">
                        <a:defRPr sz="1200"/>
                      </a:pPr>
                    </a:p>
                  </a:txBody>
                  <a:tcPr marL="63500" marR="63500" marT="0" marB="0" anchor="ctr" anchorCtr="0" horzOverflow="overflow"/>
                </a:tc>
              </a:tr>
              <a:tr h="273274">
                <a:tc>
                  <a:txBody>
                    <a:bodyPr/>
                    <a:lstStyle/>
                    <a:p>
                      <a:pPr algn="l" defTabSz="457200"/>
                      <a:r>
                        <a:rPr sz="1600"/>
                        <a:t>Pentamaster</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Strong automation. Apple ALS module TE equipment experience. Near complete MP project through EIH.</a:t>
                      </a:r>
                    </a:p>
                  </a:txBody>
                  <a:tcPr marL="63500" marR="63500" marT="0" marB="0" anchor="ctr" anchorCtr="0" horzOverflow="overflow"/>
                </a:tc>
                <a:tc>
                  <a:txBody>
                    <a:bodyPr/>
                    <a:lstStyle/>
                    <a:p>
                      <a:pPr algn="l" defTabSz="457200"/>
                      <a:r>
                        <a:rPr sz="1200"/>
                        <a:t>SeaSalt, V7x ALS-P, V7y MP. Simple NPI station</a:t>
                      </a:r>
                    </a:p>
                  </a:txBody>
                  <a:tcPr marL="63500" marR="63500" marT="0" marB="0" anchor="ctr" anchorCtr="0" horzOverflow="overflow"/>
                </a:tc>
                <a:tc gridSpan="2" rowSpan="2">
                  <a:txBody>
                    <a:bodyPr/>
                    <a:lstStyle/>
                    <a:p>
                      <a:pPr algn="l" defTabSz="457200"/>
                      <a:r>
                        <a:rPr sz="1200"/>
                        <a:t>Primary allocation to JLK/Hyvision/Amphenol1 of 3 qualified to support following 2026 push. Support remainder of MP/NPI, roll in if one of top 3 falls out.</a:t>
                      </a:r>
                    </a:p>
                  </a:txBody>
                  <a:tcPr marL="63500" marR="63500" marT="0" marB="0" anchor="ctr" anchorCtr="0" horzOverflow="overflow"/>
                </a:tc>
                <a:tc rowSpan="2" hMerge="1">
                  <a:tcPr/>
                </a:tc>
              </a:tr>
              <a:tr h="273274">
                <a:tc>
                  <a:txBody>
                    <a:bodyPr/>
                    <a:lstStyle/>
                    <a:p>
                      <a:pPr algn="l" defTabSz="457200"/>
                      <a:r>
                        <a:rPr sz="1600"/>
                        <a:t>SPEA</a:t>
                      </a:r>
                    </a:p>
                  </a:txBody>
                  <a:tcPr marL="63500" marR="63500" marT="0" marB="0" anchor="ctr" anchorCtr="0" horzOverflow="overflow"/>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53AC79"/>
                    </a:solidFill>
                  </a:tcPr>
                </a:tc>
                <a:tc>
                  <a:txBody>
                    <a:bodyPr/>
                    <a:lstStyle/>
                    <a:p>
                      <a:pPr defTabSz="457200">
                        <a:defRPr sz="1600">
                          <a:solidFill>
                            <a:srgbClr val="D5D5D5"/>
                          </a:solidFill>
                          <a:latin typeface="Helvetica Neue Thin"/>
                          <a:ea typeface="Helvetica Neue Thin"/>
                          <a:cs typeface="Helvetica Neue Thin"/>
                          <a:sym typeface="Helvetica Neue Thin"/>
                        </a:defRPr>
                      </a:pPr>
                    </a:p>
                  </a:txBody>
                  <a:tcPr marL="63500" marR="63500" marT="0" marB="0" anchor="ctr" anchorCtr="0" horzOverflow="overflow">
                    <a:solidFill>
                      <a:srgbClr val="FEF0D6"/>
                    </a:solidFill>
                  </a:tcPr>
                </a:tc>
                <a:tc>
                  <a:txBody>
                    <a:bodyPr/>
                    <a:lstStyle/>
                    <a:p>
                      <a:pPr algn="l" defTabSz="457200"/>
                      <a:r>
                        <a:rPr sz="1600"/>
                        <a:t>Strong technical, previous Apple experience. Pricing, TH facility capability/readiness for MP TBC.</a:t>
                      </a:r>
                    </a:p>
                  </a:txBody>
                  <a:tcPr marL="63500" marR="63500" marT="0" marB="0" anchor="ctr" anchorCtr="0" horzOverflow="overflow"/>
                </a:tc>
                <a:tc>
                  <a:txBody>
                    <a:bodyPr/>
                    <a:lstStyle/>
                    <a:p>
                      <a:pPr algn="l" defTabSz="457200"/>
                      <a:r>
                        <a:rPr sz="1200"/>
                        <a:t>SeaSalt MP, Helios SS, iPad NPI.</a:t>
                      </a:r>
                    </a:p>
                  </a:txBody>
                  <a:tcPr marL="63500" marR="63500" marT="0" marB="0" anchor="ctr" anchorCtr="0" horzOverflow="overflow"/>
                </a:tc>
                <a:tc gridSpan="2" vMerge="1">
                  <a:tcPr/>
                </a:tc>
                <a:tc hMerge="1" vMerge="1">
                  <a:tcPr/>
                </a:tc>
              </a:tr>
            </a:tbl>
          </a:graphicData>
        </a:graphic>
      </p:graphicFrame>
      <p:graphicFrame>
        <p:nvGraphicFramePr>
          <p:cNvPr id="240" name="Table 1"/>
          <p:cNvGraphicFramePr/>
          <p:nvPr/>
        </p:nvGraphicFramePr>
        <p:xfrm>
          <a:off x="261539" y="2174162"/>
          <a:ext cx="23803973" cy="10107492"/>
        </p:xfrm>
        <a:graphic xmlns:a="http://schemas.openxmlformats.org/drawingml/2006/main">
          <a:graphicData uri="http://schemas.openxmlformats.org/drawingml/2006/table">
            <a:tbl>
              <a:tblPr firstCol="1" firstRow="0" lastCol="0" lastRow="0" bandCol="0" bandRow="0" rtl="0">
                <a:tableStyleId>{4C3C2611-4C71-4FC5-86AE-919BDF0F9419}</a:tableStyleId>
              </a:tblPr>
              <a:tblGrid>
                <a:gridCol w="1665955"/>
                <a:gridCol w="1036804"/>
                <a:gridCol w="1036804"/>
                <a:gridCol w="1036804"/>
                <a:gridCol w="1036804"/>
                <a:gridCol w="1036804"/>
                <a:gridCol w="1036804"/>
                <a:gridCol w="1036804"/>
                <a:gridCol w="1036804"/>
                <a:gridCol w="1036804"/>
                <a:gridCol w="1065029"/>
                <a:gridCol w="897497"/>
                <a:gridCol w="1147887"/>
                <a:gridCol w="1036804"/>
                <a:gridCol w="1162325"/>
                <a:gridCol w="1162325"/>
                <a:gridCol w="1162325"/>
                <a:gridCol w="1162325"/>
                <a:gridCol w="867346"/>
                <a:gridCol w="887936"/>
                <a:gridCol w="934190"/>
                <a:gridCol w="1377725"/>
              </a:tblGrid>
              <a:tr h="333743">
                <a:tc rowSpan="2">
                  <a:txBody>
                    <a:bodyPr/>
                    <a:lstStyle/>
                    <a:p>
                      <a:pPr defTabSz="914400">
                        <a:tabLst>
                          <a:tab pos="1663700" algn="l"/>
                        </a:tabLst>
                        <a:defRPr b="0"/>
                      </a:pPr>
                      <a:r>
                        <a:rPr b="1" sz="1600"/>
                        <a:t>Criteria</a:t>
                      </a:r>
                    </a:p>
                  </a:txBody>
                  <a:tcPr marL="50800" marR="50800" marT="50800" marB="50800" anchor="ctr" anchorCtr="0" horzOverflow="overflow">
                    <a:lnR w="12700">
                      <a:solidFill>
                        <a:srgbClr val="000000"/>
                      </a:solidFill>
                      <a:miter lim="400000"/>
                    </a:lnR>
                  </a:tcPr>
                </a:tc>
                <a:tc gridSpan="2">
                  <a:txBody>
                    <a:bodyPr/>
                    <a:lstStyle/>
                    <a:p>
                      <a:pPr defTabSz="914400">
                        <a:tabLst>
                          <a:tab pos="1663700" algn="l"/>
                        </a:tabLst>
                      </a:pPr>
                      <a:r>
                        <a:rPr b="1" sz="1600"/>
                        <a:t>OK2 Engage?</a:t>
                      </a:r>
                    </a:p>
                  </a:txBody>
                  <a:tcPr marL="50800" marR="50800" marT="50800" marB="50800" anchor="ctr" anchorCtr="0" horzOverflow="overflow">
                    <a:lnL w="12700">
                      <a:solidFill>
                        <a:srgbClr val="000000"/>
                      </a:solidFill>
                      <a:miter lim="400000"/>
                    </a:lnL>
                  </a:tcPr>
                </a:tc>
                <a:tc hMerge="1">
                  <a:tcPr/>
                </a:tc>
                <a:tc gridSpan="4">
                  <a:txBody>
                    <a:bodyPr/>
                    <a:lstStyle/>
                    <a:p>
                      <a:pPr defTabSz="914400">
                        <a:tabLst>
                          <a:tab pos="1663700" algn="l"/>
                        </a:tabLst>
                      </a:pPr>
                      <a:r>
                        <a:rPr b="1" sz="1300"/>
                        <a:t>Legal/Commercial Operations OK</a:t>
                      </a:r>
                    </a:p>
                  </a:txBody>
                  <a:tcPr marL="50800" marR="50800" marT="50800" marB="50800" anchor="ctr" anchorCtr="0" horzOverflow="overflow"/>
                </a:tc>
                <a:tc hMerge="1">
                  <a:tcPr/>
                </a:tc>
                <a:tc hMerge="1">
                  <a:tcPr/>
                </a:tc>
                <a:tc hMerge="1">
                  <a:tcPr/>
                </a:tc>
                <a:tc gridSpan="3">
                  <a:txBody>
                    <a:bodyPr/>
                    <a:lstStyle/>
                    <a:p>
                      <a:pPr defTabSz="914400">
                        <a:tabLst>
                          <a:tab pos="1663700" algn="l"/>
                        </a:tabLst>
                      </a:pPr>
                      <a:r>
                        <a:rPr b="1" sz="1600"/>
                        <a:t>Infrastructure Audit</a:t>
                      </a:r>
                    </a:p>
                  </a:txBody>
                  <a:tcPr marL="50800" marR="50800" marT="50800" marB="50800" anchor="ctr" anchorCtr="0" horzOverflow="overflow"/>
                </a:tc>
                <a:tc hMerge="1">
                  <a:tcPr/>
                </a:tc>
                <a:tc hMerge="1">
                  <a:tcPr/>
                </a:tc>
                <a:tc>
                  <a:txBody>
                    <a:bodyPr/>
                    <a:lstStyle/>
                    <a:p>
                      <a:pPr defTabSz="914400">
                        <a:tabLst>
                          <a:tab pos="1663700" algn="l"/>
                        </a:tabLst>
                      </a:pPr>
                      <a:r>
                        <a:rPr b="1" sz="900"/>
                        <a:t>Experience</a:t>
                      </a:r>
                    </a:p>
                  </a:txBody>
                  <a:tcPr marL="50800" marR="50800" marT="50800" marB="50800" anchor="ctr" anchorCtr="0" horzOverflow="overflow"/>
                </a:tc>
                <a:tc gridSpan="2">
                  <a:txBody>
                    <a:bodyPr/>
                    <a:lstStyle/>
                    <a:p>
                      <a:pPr defTabSz="914400">
                        <a:tabLst>
                          <a:tab pos="1663700" algn="l"/>
                        </a:tabLst>
                      </a:pPr>
                      <a:r>
                        <a:rPr b="1" sz="1600"/>
                        <a:t>SI Capacity</a:t>
                      </a:r>
                    </a:p>
                  </a:txBody>
                  <a:tcPr marL="50800" marR="50800" marT="50800" marB="50800" anchor="ctr" anchorCtr="0" horzOverflow="overflow"/>
                </a:tc>
                <a:tc hMerge="1">
                  <a:tcPr/>
                </a:tc>
                <a:tc gridSpan="5">
                  <a:txBody>
                    <a:bodyPr/>
                    <a:lstStyle/>
                    <a:p>
                      <a:pPr defTabSz="914400">
                        <a:tabLst>
                          <a:tab pos="1663700" algn="l"/>
                        </a:tabLst>
                      </a:pPr>
                      <a:r>
                        <a:rPr b="1" sz="1600"/>
                        <a:t>Blockers, TTM</a:t>
                      </a:r>
                    </a:p>
                  </a:txBody>
                  <a:tcPr marL="50800" marR="50800" marT="50800" marB="50800" anchor="ctr" anchorCtr="0" horzOverflow="overflow"/>
                </a:tc>
                <a:tc hMerge="1">
                  <a:tcPr/>
                </a:tc>
                <a:tc hMerge="1">
                  <a:tcPr/>
                </a:tc>
                <a:tc hMerge="1">
                  <a:tcPr/>
                </a:tc>
                <a:tc hMerge="1">
                  <a:tcPr/>
                </a:tc>
                <a:tc gridSpan="3">
                  <a:txBody>
                    <a:bodyPr/>
                    <a:lstStyle/>
                    <a:p>
                      <a:pPr defTabSz="914400">
                        <a:tabLst>
                          <a:tab pos="1663700" algn="l"/>
                        </a:tabLst>
                      </a:pPr>
                      <a:r>
                        <a:rPr b="1" sz="1600"/>
                        <a:t>Top SI Potential</a:t>
                      </a:r>
                    </a:p>
                  </a:txBody>
                  <a:tcPr marL="50800" marR="50800" marT="50800" marB="50800" anchor="ctr" anchorCtr="0" horzOverflow="overflow"/>
                </a:tc>
                <a:tc hMerge="1">
                  <a:tcPr/>
                </a:tc>
                <a:tc hMerge="1">
                  <a:tcPr/>
                </a:tc>
                <a:tc rowSpan="5">
                  <a:txBody>
                    <a:bodyPr/>
                    <a:lstStyle/>
                    <a:p>
                      <a:pPr defTabSz="914400">
                        <a:tabLst>
                          <a:tab pos="1663700" algn="l"/>
                        </a:tabLst>
                        <a:defRPr b="1" sz="1400"/>
                      </a:pPr>
                      <a:r>
                        <a:t>Forced Rank </a:t>
                      </a:r>
                    </a:p>
                    <a:p>
                      <a:pPr defTabSz="914400">
                        <a:tabLst>
                          <a:tab pos="1663700" algn="l"/>
                        </a:tabLst>
                        <a:defRPr b="1" sz="1400"/>
                      </a:pPr>
                      <a:r>
                        <a:rPr i="1" sz="1200"/>
                        <a:t>(Un-weighted)</a:t>
                      </a:r>
                    </a:p>
                  </a:txBody>
                  <a:tcPr marL="50800" marR="50800" marT="50800" marB="50800" anchor="ctr" anchorCtr="0" horzOverflow="overflow"/>
                </a:tc>
              </a:tr>
              <a:tr h="470694">
                <a:tc vMerge="1">
                  <a:tcPr/>
                </a:tc>
                <a:tc>
                  <a:txBody>
                    <a:bodyPr/>
                    <a:lstStyle/>
                    <a:p>
                      <a:pPr defTabSz="914400">
                        <a:tabLst>
                          <a:tab pos="1663700" algn="l"/>
                        </a:tabLst>
                      </a:pPr>
                      <a:r>
                        <a:rPr sz="1400"/>
                        <a:t>Legal</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pPr>
                      <a:r>
                        <a:rPr sz="1200"/>
                        <a:t>Commercial</a:t>
                      </a:r>
                    </a:p>
                  </a:txBody>
                  <a:tcPr marL="50800" marR="50800" marT="50800" marB="50800" anchor="ctr" anchorCtr="0" horzOverflow="overflow"/>
                </a:tc>
                <a:tc>
                  <a:txBody>
                    <a:bodyPr/>
                    <a:lstStyle/>
                    <a:p>
                      <a:pPr defTabSz="914400">
                        <a:tabLst>
                          <a:tab pos="1663700" algn="l"/>
                        </a:tabLst>
                      </a:pPr>
                      <a:r>
                        <a:rPr sz="1200"/>
                        <a:t>Non PRC HQ</a:t>
                      </a:r>
                    </a:p>
                  </a:txBody>
                  <a:tcPr marL="50800" marR="50800" marT="50800" marB="50800" anchor="ctr" anchorCtr="0" horzOverflow="overflow"/>
                </a:tc>
                <a:tc>
                  <a:txBody>
                    <a:bodyPr/>
                    <a:lstStyle/>
                    <a:p>
                      <a:pPr defTabSz="914400">
                        <a:tabLst>
                          <a:tab pos="1663700" algn="l"/>
                        </a:tabLst>
                      </a:pPr>
                      <a:r>
                        <a:rPr sz="1400"/>
                        <a:t>IN</a:t>
                      </a:r>
                    </a:p>
                  </a:txBody>
                  <a:tcPr marL="50800" marR="50800" marT="50800" marB="50800" anchor="ctr" anchorCtr="0" horzOverflow="overflow"/>
                </a:tc>
                <a:tc>
                  <a:txBody>
                    <a:bodyPr/>
                    <a:lstStyle/>
                    <a:p>
                      <a:pPr defTabSz="914400">
                        <a:tabLst>
                          <a:tab pos="1663700" algn="l"/>
                        </a:tabLst>
                      </a:pPr>
                      <a:r>
                        <a:rPr sz="1400"/>
                        <a:t>CN</a:t>
                      </a:r>
                    </a:p>
                  </a:txBody>
                  <a:tcPr marL="50800" marR="50800" marT="50800" marB="50800" anchor="ctr" anchorCtr="0" horzOverflow="overflow"/>
                </a:tc>
                <a:tc>
                  <a:txBody>
                    <a:bodyPr/>
                    <a:lstStyle/>
                    <a:p>
                      <a:pPr defTabSz="914400">
                        <a:tabLst>
                          <a:tab pos="1663700" algn="l"/>
                        </a:tabLst>
                      </a:pPr>
                      <a:r>
                        <a:rPr sz="1400"/>
                        <a:t>Other Geo</a:t>
                      </a:r>
                    </a:p>
                  </a:txBody>
                  <a:tcPr marL="50800" marR="50800" marT="50800" marB="50800" anchor="ctr" anchorCtr="0" horzOverflow="overflow"/>
                </a:tc>
                <a:tc>
                  <a:txBody>
                    <a:bodyPr/>
                    <a:lstStyle/>
                    <a:p>
                      <a:pPr defTabSz="914400">
                        <a:tabLst>
                          <a:tab pos="1663700" algn="l"/>
                        </a:tabLst>
                      </a:pPr>
                      <a:r>
                        <a:rPr sz="1400"/>
                        <a:t>CN</a:t>
                      </a:r>
                    </a:p>
                  </a:txBody>
                  <a:tcPr marL="50800" marR="50800" marT="50800" marB="50800" anchor="ctr" anchorCtr="0" horzOverflow="overflow"/>
                </a:tc>
                <a:tc>
                  <a:txBody>
                    <a:bodyPr/>
                    <a:lstStyle/>
                    <a:p>
                      <a:pPr defTabSz="914400">
                        <a:tabLst>
                          <a:tab pos="1663700" algn="l"/>
                        </a:tabLst>
                      </a:pPr>
                      <a:r>
                        <a:rPr sz="1400"/>
                        <a:t>IN</a:t>
                      </a:r>
                    </a:p>
                  </a:txBody>
                  <a:tcPr marL="50800" marR="50800" marT="50800" marB="50800" anchor="ctr" anchorCtr="0" horzOverflow="overflow"/>
                </a:tc>
                <a:tc>
                  <a:txBody>
                    <a:bodyPr/>
                    <a:lstStyle/>
                    <a:p>
                      <a:pPr defTabSz="914400">
                        <a:tabLst>
                          <a:tab pos="1663700" algn="l"/>
                        </a:tabLst>
                      </a:pPr>
                      <a:r>
                        <a:rPr sz="1400"/>
                        <a:t>Other</a:t>
                      </a:r>
                    </a:p>
                  </a:txBody>
                  <a:tcPr marL="50800" marR="50800" marT="50800" marB="50800" anchor="ctr" anchorCtr="0" horzOverflow="overflow"/>
                </a:tc>
                <a:tc>
                  <a:txBody>
                    <a:bodyPr/>
                    <a:lstStyle/>
                    <a:p>
                      <a:pPr defTabSz="914400">
                        <a:tabLst>
                          <a:tab pos="1663700" algn="l"/>
                        </a:tabLst>
                      </a:pPr>
                      <a:r>
                        <a:rPr sz="1400"/>
                        <a:t>Qual done?</a:t>
                      </a:r>
                    </a:p>
                  </a:txBody>
                  <a:tcPr marL="50800" marR="50800" marT="50800" marB="50800" anchor="ctr" anchorCtr="0" horzOverflow="overflow"/>
                </a:tc>
                <a:tc>
                  <a:txBody>
                    <a:bodyPr/>
                    <a:lstStyle/>
                    <a:p>
                      <a:pPr defTabSz="914400">
                        <a:tabLst>
                          <a:tab pos="1663700" algn="l"/>
                        </a:tabLst>
                      </a:pPr>
                      <a:r>
                        <a:rPr sz="1400"/>
                        <a:t>MP</a:t>
                      </a:r>
                    </a:p>
                  </a:txBody>
                  <a:tcPr marL="50800" marR="50800" marT="50800" marB="50800" anchor="ctr" anchorCtr="0" horzOverflow="overflow"/>
                </a:tc>
                <a:tc>
                  <a:txBody>
                    <a:bodyPr/>
                    <a:lstStyle/>
                    <a:p>
                      <a:pPr defTabSz="914400">
                        <a:tabLst>
                          <a:tab pos="1663700" algn="l"/>
                        </a:tabLst>
                      </a:pPr>
                      <a:r>
                        <a:rPr sz="1400"/>
                        <a:t>NPI</a:t>
                      </a:r>
                    </a:p>
                  </a:txBody>
                  <a:tcPr marL="50800" marR="50800" marT="50800" marB="50800" anchor="ctr" anchorCtr="0" horzOverflow="overflow"/>
                </a:tc>
                <a:tc>
                  <a:txBody>
                    <a:bodyPr/>
                    <a:lstStyle/>
                    <a:p>
                      <a:pPr defTabSz="914400">
                        <a:tabLst>
                          <a:tab pos="1663700" algn="l"/>
                        </a:tabLst>
                      </a:pPr>
                      <a:r>
                        <a:rPr sz="1400"/>
                        <a:t>Build</a:t>
                      </a:r>
                    </a:p>
                  </a:txBody>
                  <a:tcPr marL="50800" marR="50800" marT="50800" marB="50800" anchor="ctr" anchorCtr="0" horzOverflow="overflow"/>
                </a:tc>
                <a:tc>
                  <a:txBody>
                    <a:bodyPr/>
                    <a:lstStyle/>
                    <a:p>
                      <a:pPr defTabSz="914400">
                        <a:tabLst>
                          <a:tab pos="1663700" algn="l"/>
                        </a:tabLst>
                      </a:pPr>
                      <a:r>
                        <a:rPr sz="1200"/>
                        <a:t>Test Readiness</a:t>
                      </a:r>
                    </a:p>
                  </a:txBody>
                  <a:tcPr marL="50800" marR="50800" marT="50800" marB="50800" anchor="ctr" anchorCtr="0" horzOverflow="overflow"/>
                </a:tc>
                <a:tc>
                  <a:txBody>
                    <a:bodyPr/>
                    <a:lstStyle/>
                    <a:p>
                      <a:pPr defTabSz="914400">
                        <a:tabLst>
                          <a:tab pos="1663700" algn="l"/>
                        </a:tabLst>
                      </a:pPr>
                      <a:r>
                        <a:rPr sz="1400"/>
                        <a:t>EIH</a:t>
                      </a:r>
                    </a:p>
                  </a:txBody>
                  <a:tcPr marL="50800" marR="50800" marT="50800" marB="50800" anchor="ctr" anchorCtr="0" horzOverflow="overflow"/>
                </a:tc>
                <a:tc>
                  <a:txBody>
                    <a:bodyPr/>
                    <a:lstStyle/>
                    <a:p>
                      <a:pPr defTabSz="914400">
                        <a:tabLst>
                          <a:tab pos="1663700" algn="l"/>
                        </a:tabLst>
                      </a:pPr>
                      <a:r>
                        <a:rPr sz="1400"/>
                        <a:t>Design Lock</a:t>
                      </a:r>
                    </a:p>
                  </a:txBody>
                  <a:tcPr marL="50800" marR="50800" marT="50800" marB="50800" anchor="ctr" anchorCtr="0" horzOverflow="overflow"/>
                </a:tc>
                <a:tc>
                  <a:txBody>
                    <a:bodyPr/>
                    <a:lstStyle/>
                    <a:p>
                      <a:pPr defTabSz="914400">
                        <a:tabLst>
                          <a:tab pos="1663700" algn="l"/>
                        </a:tabLst>
                      </a:pPr>
                      <a:r>
                        <a:rPr sz="1400"/>
                        <a:t>Near Misses</a:t>
                      </a:r>
                    </a:p>
                  </a:txBody>
                  <a:tcPr marL="50800" marR="50800" marT="50800" marB="50800" anchor="ctr" anchorCtr="0" horzOverflow="overflow"/>
                </a:tc>
                <a:tc rowSpan="2">
                  <a:txBody>
                    <a:bodyPr/>
                    <a:lstStyle/>
                    <a:p>
                      <a:pPr defTabSz="914400">
                        <a:tabLst>
                          <a:tab pos="1663700" algn="l"/>
                        </a:tabLst>
                      </a:pPr>
                      <a:r>
                        <a:rPr sz="1400"/>
                        <a:t>GSSM</a:t>
                      </a:r>
                    </a:p>
                  </a:txBody>
                  <a:tcPr marL="50800" marR="50800" marT="50800" marB="50800" anchor="ctr" anchorCtr="0" horzOverflow="overflow"/>
                </a:tc>
                <a:tc rowSpan="2">
                  <a:txBody>
                    <a:bodyPr/>
                    <a:lstStyle/>
                    <a:p>
                      <a:pPr defTabSz="914400">
                        <a:tabLst>
                          <a:tab pos="1663700" algn="l"/>
                        </a:tabLst>
                      </a:pPr>
                      <a:r>
                        <a:rPr sz="1400"/>
                        <a:t>HWTE</a:t>
                      </a:r>
                    </a:p>
                  </a:txBody>
                  <a:tcPr marL="50800" marR="50800" marT="50800" marB="50800" anchor="ctr" anchorCtr="0" horzOverflow="overflow"/>
                </a:tc>
                <a:tc rowSpan="2">
                  <a:txBody>
                    <a:bodyPr/>
                    <a:lstStyle/>
                    <a:p>
                      <a:pPr defTabSz="914400">
                        <a:tabLst>
                          <a:tab pos="1663700" algn="l"/>
                        </a:tabLst>
                      </a:pPr>
                      <a:r>
                        <a:rPr sz="1400"/>
                        <a:t>OpsTE</a:t>
                      </a:r>
                    </a:p>
                  </a:txBody>
                  <a:tcPr marL="50800" marR="50800" marT="50800" marB="50800" anchor="ctr" anchorCtr="0" horzOverflow="overflow"/>
                </a:tc>
                <a:tc vMerge="1">
                  <a:tcPr/>
                </a:tc>
              </a:tr>
              <a:tr h="319173">
                <a:tc>
                  <a:txBody>
                    <a:bodyPr/>
                    <a:lstStyle/>
                    <a:p>
                      <a:pPr defTabSz="914400">
                        <a:tabLst>
                          <a:tab pos="1663700" algn="l"/>
                        </a:tabLst>
                        <a:defRPr b="0"/>
                      </a:pPr>
                      <a:r>
                        <a:rPr b="1" sz="1600"/>
                        <a:t>DRI</a:t>
                      </a:r>
                    </a:p>
                  </a:txBody>
                  <a:tcPr marL="50800" marR="50800" marT="50800" marB="50800" anchor="ctr" anchorCtr="0" horzOverflow="overflow">
                    <a:lnR w="12700">
                      <a:solidFill>
                        <a:srgbClr val="000000"/>
                      </a:solidFill>
                      <a:miter lim="400000"/>
                    </a:lnR>
                  </a:tcPr>
                </a:tc>
                <a:tc>
                  <a:txBody>
                    <a:bodyPr/>
                    <a:lstStyle/>
                    <a:p>
                      <a:pPr defTabSz="914400">
                        <a:tabLst>
                          <a:tab pos="1663700" algn="l"/>
                        </a:tabLst>
                      </a:pPr>
                      <a:r>
                        <a:rPr sz="1400"/>
                        <a:t>GSM</a:t>
                      </a:r>
                    </a:p>
                  </a:txBody>
                  <a:tcPr marL="50800" marR="50800" marT="50800" marB="50800" anchor="ctr" anchorCtr="0" horzOverflow="overflow">
                    <a:lnL w="12700">
                      <a:solidFill>
                        <a:srgbClr val="000000"/>
                      </a:solidFill>
                      <a:miter lim="400000"/>
                    </a:lnL>
                  </a:tcPr>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HWTE</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a:txBody>
                    <a:bodyPr/>
                    <a:lstStyle/>
                    <a:p>
                      <a:pPr defTabSz="914400">
                        <a:tabLst>
                          <a:tab pos="1663700" algn="l"/>
                        </a:tabLst>
                      </a:pPr>
                      <a:r>
                        <a:rPr sz="1400"/>
                        <a:t>GSM</a:t>
                      </a:r>
                    </a:p>
                  </a:txBody>
                  <a:tcPr marL="50800" marR="50800" marT="50800" marB="50800" anchor="ctr" anchorCtr="0" horzOverflow="overflow"/>
                </a:tc>
                <a:tc gridSpan="5">
                  <a:txBody>
                    <a:bodyPr/>
                    <a:lstStyle/>
                    <a:p>
                      <a:pPr defTabSz="914400">
                        <a:tabLst>
                          <a:tab pos="1663700" algn="l"/>
                        </a:tabLst>
                      </a:pPr>
                      <a:r>
                        <a:rPr sz="1400"/>
                        <a:t>All (GSM, HWTE, OpsTE, Capex)</a:t>
                      </a:r>
                    </a:p>
                  </a:txBody>
                  <a:tcPr marL="50800" marR="50800" marT="50800" marB="50800" anchor="ctr" anchorCtr="0" horzOverflow="overflow"/>
                </a:tc>
                <a:tc hMerge="1">
                  <a:tcPr/>
                </a:tc>
                <a:tc hMerge="1">
                  <a:tcPr/>
                </a:tc>
                <a:tc hMerge="1">
                  <a:tcPr/>
                </a:tc>
                <a:tc hMerge="1">
                  <a:tcPr/>
                </a:tc>
                <a:tc vMerge="1">
                  <a:tcPr/>
                </a:tc>
                <a:tc vMerge="1">
                  <a:tcPr/>
                </a:tc>
                <a:tc vMerge="1">
                  <a:tcPr/>
                </a:tc>
                <a:tc vMerge="1">
                  <a:tcPr/>
                </a:tc>
              </a:tr>
              <a:tr h="319173">
                <a:tc>
                  <a:txBody>
                    <a:bodyPr/>
                    <a:lstStyle/>
                    <a:p>
                      <a:pPr defTabSz="914400">
                        <a:tabLst>
                          <a:tab pos="1663700" algn="l"/>
                        </a:tabLst>
                        <a:defRPr b="0"/>
                      </a:pPr>
                      <a:r>
                        <a:rPr b="1" sz="1600"/>
                        <a:t>Source</a:t>
                      </a:r>
                    </a:p>
                  </a:txBody>
                  <a:tcPr marL="50800" marR="50800" marT="50800" marB="50800" anchor="ctr" anchorCtr="0" horzOverflow="overflow">
                    <a:lnR w="12700">
                      <a:solidFill>
                        <a:srgbClr val="000000"/>
                      </a:solidFill>
                      <a:miter lim="400000"/>
                    </a:lnR>
                  </a:tcPr>
                </a:tc>
                <a:tc>
                  <a:txBody>
                    <a:bodyPr/>
                    <a:lstStyle/>
                    <a:p>
                      <a:pPr defTabSz="914400">
                        <a:tabLst>
                          <a:tab pos="1663700" algn="l"/>
                        </a:tabLst>
                        <a:defRPr sz="1400"/>
                      </a:pPr>
                    </a:p>
                  </a:txBody>
                  <a:tcPr marL="50800" marR="50800" marT="50800" marB="50800" anchor="ctr" anchorCtr="0" horzOverflow="overflow">
                    <a:lnL w="12700">
                      <a:solidFill>
                        <a:srgbClr val="000000"/>
                      </a:solidFill>
                      <a:miter lim="400000"/>
                    </a:lnL>
                  </a:tcPr>
                </a:tc>
                <a:tc>
                  <a:txBody>
                    <a:bodyPr/>
                    <a:lstStyle/>
                    <a:p>
                      <a:pPr defTabSz="914400">
                        <a:tabLst>
                          <a:tab pos="1663700" algn="l"/>
                        </a:tabLst>
                        <a:defRPr sz="1400"/>
                      </a:pPr>
                    </a:p>
                  </a:txBody>
                  <a:tcPr marL="50800" marR="50800" marT="50800" marB="50800" anchor="ctr" anchorCtr="0" horzOverflow="overflow"/>
                </a:tc>
                <a:tc>
                  <a:txBody>
                    <a:bodyPr/>
                    <a:lstStyle/>
                    <a:p>
                      <a:pPr defTabSz="914400">
                        <a:tabLst>
                          <a:tab pos="1663700" algn="l"/>
                        </a:tabLst>
                        <a:defRPr sz="1400"/>
                      </a:pPr>
                    </a:p>
                  </a:txBody>
                  <a:tcPr marL="50800" marR="50800" marT="50800" marB="50800" anchor="ctr" anchorCtr="0" horzOverflow="overflow"/>
                </a:tc>
                <a:tc>
                  <a:txBody>
                    <a:bodyPr/>
                    <a:lstStyle/>
                    <a:p>
                      <a:pPr defTabSz="914400">
                        <a:tabLst>
                          <a:tab pos="1663700" algn="l"/>
                        </a:tabLst>
                        <a:defRPr sz="1400"/>
                      </a:pPr>
                    </a:p>
                  </a:txBody>
                  <a:tcPr marL="50800" marR="50800" marT="50800" marB="50800" anchor="ctr" anchorCtr="0" horzOverflow="overflow"/>
                </a:tc>
                <a:tc>
                  <a:txBody>
                    <a:bodyPr/>
                    <a:lstStyle/>
                    <a:p>
                      <a:pPr defTabSz="914400">
                        <a:tabLst>
                          <a:tab pos="1663700" algn="l"/>
                        </a:tabLst>
                        <a:defRPr sz="1400"/>
                      </a:pPr>
                    </a:p>
                  </a:txBody>
                  <a:tcPr marL="50800" marR="50800" marT="50800" marB="50800" anchor="ctr" anchorCtr="0" horzOverflow="overflow"/>
                </a:tc>
                <a:tc>
                  <a:txBody>
                    <a:bodyPr/>
                    <a:lstStyle/>
                    <a:p>
                      <a:pPr defTabSz="914400">
                        <a:tabLst>
                          <a:tab pos="1663700" algn="l"/>
                        </a:tabLst>
                        <a:defRPr sz="1400"/>
                      </a:pPr>
                    </a:p>
                  </a:txBody>
                  <a:tcPr marL="50800" marR="50800" marT="50800" marB="50800" anchor="ctr" anchorCtr="0" horzOverflow="overflow"/>
                </a:tc>
                <a:tc>
                  <a:txBody>
                    <a:bodyPr/>
                    <a:lstStyle/>
                    <a:p>
                      <a:pPr defTabSz="914400">
                        <a:tabLst>
                          <a:tab pos="1663700" algn="l"/>
                        </a:tabLst>
                      </a:pPr>
                      <a:r>
                        <a:rPr sz="1400"/>
                        <a:t>Bob</a:t>
                      </a:r>
                    </a:p>
                  </a:txBody>
                  <a:tcPr marL="50800" marR="50800" marT="50800" marB="50800" anchor="ctr" anchorCtr="0" horzOverflow="overflow"/>
                </a:tc>
                <a:tc>
                  <a:txBody>
                    <a:bodyPr/>
                    <a:lstStyle/>
                    <a:p>
                      <a:pPr defTabSz="914400">
                        <a:tabLst>
                          <a:tab pos="1663700" algn="l"/>
                        </a:tabLst>
                      </a:pPr>
                      <a:r>
                        <a:rPr sz="1400"/>
                        <a:t>Bob</a:t>
                      </a:r>
                    </a:p>
                  </a:txBody>
                  <a:tcPr marL="50800" marR="50800" marT="50800" marB="50800" anchor="ctr" anchorCtr="0" horzOverflow="overflow"/>
                </a:tc>
                <a:tc>
                  <a:txBody>
                    <a:bodyPr/>
                    <a:lstStyle/>
                    <a:p>
                      <a:pPr defTabSz="914400">
                        <a:tabLst>
                          <a:tab pos="1663700" algn="l"/>
                        </a:tabLst>
                      </a:pPr>
                      <a:r>
                        <a:rPr sz="1400"/>
                        <a:t>Bob</a:t>
                      </a:r>
                    </a:p>
                  </a:txBody>
                  <a:tcPr marL="50800" marR="50800" marT="50800" marB="50800" anchor="ctr" anchorCtr="0" horzOverflow="overflow"/>
                </a:tc>
                <a:tc>
                  <a:txBody>
                    <a:bodyPr/>
                    <a:lstStyle/>
                    <a:p>
                      <a:pPr defTabSz="914400">
                        <a:tabLst>
                          <a:tab pos="1663700" algn="l"/>
                        </a:tabLst>
                      </a:pPr>
                      <a:r>
                        <a:rPr sz="1400"/>
                        <a:t>TBC</a:t>
                      </a:r>
                    </a:p>
                  </a:txBody>
                  <a:tcPr marL="50800" marR="50800" marT="50800" marB="50800" anchor="ctr" anchorCtr="0" horzOverflow="overflow"/>
                </a:tc>
                <a:tc>
                  <a:txBody>
                    <a:bodyPr/>
                    <a:lstStyle/>
                    <a:p>
                      <a:pPr defTabSz="914400">
                        <a:tabLst>
                          <a:tab pos="1663700" algn="l"/>
                        </a:tabLst>
                        <a:defRPr sz="1400"/>
                      </a:pPr>
                    </a:p>
                  </a:txBody>
                  <a:tcPr marL="50800" marR="50800" marT="50800" marB="50800" anchor="ctr" anchorCtr="0" horzOverflow="overflow"/>
                </a:tc>
                <a:tc>
                  <a:txBody>
                    <a:bodyPr/>
                    <a:lstStyle/>
                    <a:p>
                      <a:pPr defTabSz="914400">
                        <a:tabLst>
                          <a:tab pos="1663700" algn="l"/>
                        </a:tabLst>
                        <a:defRPr sz="1400"/>
                      </a:pPr>
                    </a:p>
                  </a:txBody>
                  <a:tcPr marL="50800" marR="50800" marT="50800" marB="50800" anchor="ctr" anchorCtr="0" horzOverflow="overflow"/>
                </a:tc>
                <a:tc gridSpan="5">
                  <a:txBody>
                    <a:bodyPr/>
                    <a:lstStyle/>
                    <a:p>
                      <a:pPr defTabSz="914400">
                        <a:tabLst>
                          <a:tab pos="1663700" algn="l"/>
                        </a:tabLst>
                      </a:pPr>
                      <a:r>
                        <a:rPr sz="1400"/>
                        <a:t>PerformanceKit  | Capex Quarterly phone update |  [xx]</a:t>
                      </a:r>
                    </a:p>
                  </a:txBody>
                  <a:tcPr marL="50800" marR="50800" marT="50800" marB="50800" anchor="ctr" anchorCtr="0" horzOverflow="overflow"/>
                </a:tc>
                <a:tc hMerge="1">
                  <a:tcPr/>
                </a:tc>
                <a:tc hMerge="1">
                  <a:tcPr/>
                </a:tc>
                <a:tc hMerge="1">
                  <a:tcPr/>
                </a:tc>
                <a:tc hMerge="1">
                  <a:tcPr/>
                </a:tc>
                <a:tc>
                  <a:txBody>
                    <a:bodyPr/>
                    <a:lstStyle/>
                    <a:p>
                      <a:pPr defTabSz="914400">
                        <a:tabLst>
                          <a:tab pos="1663700" algn="l"/>
                        </a:tabLst>
                        <a:defRPr sz="1400"/>
                      </a:pPr>
                    </a:p>
                  </a:txBody>
                  <a:tcPr marL="50800" marR="50800" marT="50800" marB="50800" anchor="ctr" anchorCtr="0" horzOverflow="overflow"/>
                </a:tc>
                <a:tc>
                  <a:txBody>
                    <a:bodyPr/>
                    <a:lstStyle/>
                    <a:p>
                      <a:pPr defTabSz="914400">
                        <a:tabLst>
                          <a:tab pos="1663700" algn="l"/>
                        </a:tabLst>
                        <a:defRPr sz="1400"/>
                      </a:pPr>
                    </a:p>
                  </a:txBody>
                  <a:tcPr marL="50800" marR="50800" marT="50800" marB="50800" anchor="ctr" anchorCtr="0" horzOverflow="overflow"/>
                </a:tc>
                <a:tc>
                  <a:txBody>
                    <a:bodyPr/>
                    <a:lstStyle/>
                    <a:p>
                      <a:pPr defTabSz="914400">
                        <a:tabLst>
                          <a:tab pos="1663700" algn="l"/>
                        </a:tabLst>
                        <a:defRPr sz="1400"/>
                      </a:pPr>
                    </a:p>
                  </a:txBody>
                  <a:tcPr marL="50800" marR="50800" marT="50800" marB="50800" anchor="ctr" anchorCtr="0" horzOverflow="overflow"/>
                </a:tc>
                <a:tc vMerge="1">
                  <a:tcPr/>
                </a:tc>
              </a:tr>
              <a:tr h="319173">
                <a:tc>
                  <a:txBody>
                    <a:bodyPr/>
                    <a:lstStyle/>
                    <a:p>
                      <a:pPr defTabSz="914400">
                        <a:tabLst>
                          <a:tab pos="1663700" algn="l"/>
                        </a:tabLst>
                        <a:defRPr b="0"/>
                      </a:pPr>
                      <a:r>
                        <a:rPr b="1" sz="1600"/>
                        <a:t>MH/NTH</a:t>
                      </a:r>
                    </a:p>
                  </a:txBody>
                  <a:tcPr marL="50800" marR="50800" marT="50800" marB="50800" anchor="ctr" anchorCtr="0" horzOverflow="overflow">
                    <a:lnR w="12700">
                      <a:solidFill>
                        <a:srgbClr val="000000"/>
                      </a:solidFill>
                      <a:miter lim="400000"/>
                    </a:lnR>
                  </a:tcPr>
                </a:tc>
                <a:tc gridSpan="11">
                  <a:txBody>
                    <a:bodyPr/>
                    <a:lstStyle/>
                    <a:p>
                      <a:pPr defTabSz="914400">
                        <a:tabLst>
                          <a:tab pos="1663700" algn="l"/>
                        </a:tabLst>
                      </a:pPr>
                      <a:r>
                        <a:rPr sz="1400"/>
                        <a:t>Must Have</a:t>
                      </a:r>
                    </a:p>
                  </a:txBody>
                  <a:tcPr marL="50800" marR="50800" marT="50800" marB="50800" anchor="ctr" anchorCtr="0" horzOverflow="overflow">
                    <a:lnL w="12700">
                      <a:solidFill>
                        <a:srgbClr val="000000"/>
                      </a:solidFill>
                      <a:miter lim="400000"/>
                    </a:lnL>
                  </a:tcPr>
                </a:tc>
                <a:tc hMerge="1">
                  <a:tcPr/>
                </a:tc>
                <a:tc hMerge="1">
                  <a:tcPr/>
                </a:tc>
                <a:tc hMerge="1">
                  <a:tcPr/>
                </a:tc>
                <a:tc hMerge="1">
                  <a:tcPr/>
                </a:tc>
                <a:tc hMerge="1">
                  <a:tcPr/>
                </a:tc>
                <a:tc hMerge="1">
                  <a:tcPr/>
                </a:tc>
                <a:tc hMerge="1">
                  <a:tcPr/>
                </a:tc>
                <a:tc hMerge="1">
                  <a:tcPr/>
                </a:tc>
                <a:tc hMerge="1">
                  <a:tcPr/>
                </a:tc>
                <a:tc hMerge="1">
                  <a:tcPr/>
                </a:tc>
                <a:tc gridSpan="9">
                  <a:txBody>
                    <a:bodyPr/>
                    <a:lstStyle/>
                    <a:p>
                      <a:pPr defTabSz="914400">
                        <a:tabLst>
                          <a:tab pos="1663700" algn="l"/>
                        </a:tabLst>
                      </a:pPr>
                      <a:r>
                        <a:rPr sz="1400"/>
                        <a:t>Nice to Have</a:t>
                      </a:r>
                    </a:p>
                  </a:txBody>
                  <a:tcPr marL="50800" marR="50800" marT="50800" marB="50800" anchor="ctr" anchorCtr="0" horzOverflow="overflow"/>
                </a:tc>
                <a:tc hMerge="1">
                  <a:tcPr/>
                </a:tc>
                <a:tc hMerge="1">
                  <a:tcPr/>
                </a:tc>
                <a:tc hMerge="1">
                  <a:tcPr/>
                </a:tc>
                <a:tc hMerge="1">
                  <a:tcPr/>
                </a:tc>
                <a:tc hMerge="1">
                  <a:tcPr/>
                </a:tc>
                <a:tc hMerge="1">
                  <a:tcPr/>
                </a:tc>
                <a:tc hMerge="1">
                  <a:tcPr/>
                </a:tc>
                <a:tc hMerge="1">
                  <a:tcPr/>
                </a:tc>
                <a:tc vMerge="1">
                  <a:tcPr/>
                </a:tc>
              </a:tr>
              <a:tr h="285235">
                <a:tc>
                  <a:txBody>
                    <a:bodyPr/>
                    <a:lstStyle/>
                    <a:p>
                      <a:pPr algn="l" defTabSz="457200">
                        <a:defRPr b="0"/>
                      </a:pPr>
                      <a:r>
                        <a:rPr sz="1400"/>
                        <a:t>Amphenol</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17.25</a:t>
                      </a:r>
                    </a:p>
                  </a:txBody>
                  <a:tcPr marL="63500" marR="63500" marT="0" marB="0" anchor="ctr" anchorCtr="0" horzOverflow="overflow"/>
                </a:tc>
              </a:tr>
              <a:tr h="296869">
                <a:tc>
                  <a:txBody>
                    <a:bodyPr/>
                    <a:lstStyle/>
                    <a:p>
                      <a:pPr algn="l" defTabSz="457200">
                        <a:defRPr b="0"/>
                      </a:pPr>
                      <a:r>
                        <a:rPr sz="1400"/>
                        <a:t>Averna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17</a:t>
                      </a:r>
                    </a:p>
                  </a:txBody>
                  <a:tcPr marL="63500" marR="63500" marT="0" marB="0" anchor="ctr" anchorCtr="0" horzOverflow="overflow"/>
                </a:tc>
              </a:tr>
              <a:tr h="296869">
                <a:tc>
                  <a:txBody>
                    <a:bodyPr/>
                    <a:lstStyle/>
                    <a:p>
                      <a:pPr algn="l" defTabSz="457200">
                        <a:defRPr b="0"/>
                      </a:pPr>
                      <a:r>
                        <a:rPr sz="1400"/>
                        <a:t>SPEA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15.75</a:t>
                      </a:r>
                    </a:p>
                  </a:txBody>
                  <a:tcPr marL="63500" marR="63500" marT="0" marB="0" anchor="ctr" anchorCtr="0" horzOverflow="overflow"/>
                </a:tc>
              </a:tr>
              <a:tr h="285235">
                <a:tc>
                  <a:txBody>
                    <a:bodyPr/>
                    <a:lstStyle/>
                    <a:p>
                      <a:pPr algn="l" defTabSz="457200">
                        <a:defRPr b="0"/>
                      </a:pPr>
                      <a:r>
                        <a:rPr sz="1400"/>
                        <a:t>HVS</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14.5</a:t>
                      </a:r>
                    </a:p>
                  </a:txBody>
                  <a:tcPr marL="63500" marR="63500" marT="0" marB="0" anchor="ctr" anchorCtr="0" horzOverflow="overflow"/>
                </a:tc>
              </a:tr>
              <a:tr h="285235">
                <a:tc>
                  <a:txBody>
                    <a:bodyPr/>
                    <a:lstStyle/>
                    <a:p>
                      <a:pPr algn="l" defTabSz="457200">
                        <a:defRPr b="0"/>
                      </a:pPr>
                      <a:r>
                        <a:rPr sz="1400"/>
                        <a:t>JLK</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14.25</a:t>
                      </a:r>
                    </a:p>
                  </a:txBody>
                  <a:tcPr marL="63500" marR="63500" marT="0" marB="0" anchor="ctr" anchorCtr="0" horzOverflow="overflow"/>
                </a:tc>
              </a:tr>
              <a:tr h="281517">
                <a:tc>
                  <a:txBody>
                    <a:bodyPr/>
                    <a:lstStyle/>
                    <a:p>
                      <a:pPr algn="l" defTabSz="457200">
                        <a:defRPr b="0"/>
                      </a:pPr>
                      <a:r>
                        <a:rPr sz="1400"/>
                        <a:t>PRM</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14.25</a:t>
                      </a:r>
                    </a:p>
                  </a:txBody>
                  <a:tcPr marL="63500" marR="63500" marT="0" marB="0" anchor="ctr" anchorCtr="0" horzOverflow="overflow"/>
                </a:tc>
              </a:tr>
              <a:tr h="285235">
                <a:tc>
                  <a:txBody>
                    <a:bodyPr/>
                    <a:lstStyle/>
                    <a:p>
                      <a:pPr algn="l" defTabSz="457200">
                        <a:defRPr b="0"/>
                      </a:pPr>
                      <a:r>
                        <a:rPr sz="1400"/>
                        <a:t>Cencorp</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13.75</a:t>
                      </a:r>
                    </a:p>
                  </a:txBody>
                  <a:tcPr marL="63500" marR="63500" marT="0" marB="0" anchor="ctr" anchorCtr="0" horzOverflow="overflow"/>
                </a:tc>
              </a:tr>
              <a:tr h="281517">
                <a:tc>
                  <a:txBody>
                    <a:bodyPr/>
                    <a:lstStyle/>
                    <a:p>
                      <a:pPr algn="l" defTabSz="457200">
                        <a:defRPr b="0"/>
                      </a:pPr>
                      <a:r>
                        <a:rPr sz="1400"/>
                        <a:t>Innorev</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0.75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t>11.75</a:t>
                      </a:r>
                    </a:p>
                  </a:txBody>
                  <a:tcPr marL="63500" marR="63500" marT="0" marB="0" anchor="ctr" anchorCtr="0" horzOverflow="overflow"/>
                </a:tc>
              </a:tr>
              <a:tr h="296869">
                <a:tc>
                  <a:txBody>
                    <a:bodyPr/>
                    <a:lstStyle/>
                    <a:p>
                      <a:pPr algn="l" defTabSz="457200">
                        <a:defRPr b="0"/>
                      </a:pPr>
                      <a:r>
                        <a:rPr sz="1400"/>
                        <a:t>Pentamaster</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11.5</a:t>
                      </a:r>
                    </a:p>
                  </a:txBody>
                  <a:tcPr marL="63500" marR="63500" marT="0" marB="0" anchor="ctr" anchorCtr="0" horzOverflow="overflow"/>
                </a:tc>
              </a:tr>
              <a:tr h="307582">
                <a:tc>
                  <a:txBody>
                    <a:bodyPr/>
                    <a:lstStyle/>
                    <a:p>
                      <a:pPr algn="l" defTabSz="457200">
                        <a:defRPr b="0"/>
                      </a:pPr>
                      <a:r>
                        <a:rPr sz="1400"/>
                        <a:t>IVD</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0.25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t>10.25</a:t>
                      </a:r>
                    </a:p>
                  </a:txBody>
                  <a:tcPr marL="63500" marR="63500" marT="0" marB="0" anchor="ctr" anchorCtr="0" horzOverflow="overflow"/>
                </a:tc>
              </a:tr>
              <a:tr h="307582">
                <a:tc>
                  <a:txBody>
                    <a:bodyPr/>
                    <a:lstStyle/>
                    <a:p>
                      <a:pPr algn="l" defTabSz="457200">
                        <a:defRPr b="0"/>
                      </a:pPr>
                      <a:r>
                        <a:rPr sz="1400"/>
                        <a:t>VVDN</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9.5</a:t>
                      </a:r>
                    </a:p>
                  </a:txBody>
                  <a:tcPr marL="63500" marR="63500" marT="0" marB="0" anchor="ctr" anchorCtr="0" horzOverflow="overflow"/>
                </a:tc>
              </a:tr>
              <a:tr h="281517">
                <a:tc>
                  <a:txBody>
                    <a:bodyPr/>
                    <a:lstStyle/>
                    <a:p>
                      <a:pPr algn="l" defTabSz="457200">
                        <a:defRPr b="0"/>
                      </a:pPr>
                      <a:r>
                        <a:rPr sz="1400"/>
                        <a:t>Accurate</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8</a:t>
                      </a:r>
                    </a:p>
                  </a:txBody>
                  <a:tcPr marL="63500" marR="63500" marT="0" marB="0" anchor="ctr" anchorCtr="0" horzOverflow="overflow"/>
                </a:tc>
              </a:tr>
              <a:tr h="307582">
                <a:tc>
                  <a:txBody>
                    <a:bodyPr/>
                    <a:lstStyle/>
                    <a:p>
                      <a:pPr algn="l" defTabSz="457200">
                        <a:defRPr b="0"/>
                      </a:pPr>
                      <a:r>
                        <a:rPr sz="1400"/>
                        <a:t>SFO</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7</a:t>
                      </a:r>
                    </a:p>
                  </a:txBody>
                  <a:tcPr marL="63500" marR="63500" marT="0" marB="0" anchor="ctr" anchorCtr="0" horzOverflow="overflow"/>
                </a:tc>
              </a:tr>
              <a:tr h="296869">
                <a:tc>
                  <a:txBody>
                    <a:bodyPr/>
                    <a:lstStyle/>
                    <a:p>
                      <a:pPr algn="l" defTabSz="457200">
                        <a:defRPr b="0"/>
                      </a:pPr>
                      <a:r>
                        <a:rPr sz="1400"/>
                        <a:t>Anora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6</a:t>
                      </a:r>
                    </a:p>
                  </a:txBody>
                  <a:tcPr marL="63500" marR="63500" marT="0" marB="0" anchor="ctr" anchorCtr="0" horzOverflow="overflow"/>
                </a:tc>
              </a:tr>
              <a:tr h="281517">
                <a:tc>
                  <a:txBody>
                    <a:bodyPr/>
                    <a:lstStyle/>
                    <a:p>
                      <a:pPr algn="l" defTabSz="457200">
                        <a:defRPr b="0"/>
                      </a:pPr>
                      <a:r>
                        <a:rPr sz="1400"/>
                        <a:t>Stiwa</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t>5.5</a:t>
                      </a:r>
                    </a:p>
                  </a:txBody>
                  <a:tcPr marL="63500" marR="63500" marT="0" marB="0" anchor="ctr" anchorCtr="0" horzOverflow="overflow"/>
                </a:tc>
              </a:tr>
              <a:tr h="296869">
                <a:tc>
                  <a:txBody>
                    <a:bodyPr/>
                    <a:lstStyle/>
                    <a:p>
                      <a:pPr algn="l" defTabSz="457200">
                        <a:defRPr b="0"/>
                      </a:pPr>
                      <a:r>
                        <a:rPr sz="1400"/>
                        <a:t>Zeiss</a:t>
                      </a:r>
                    </a:p>
                  </a:txBody>
                  <a:tcPr marL="63500" marR="63500" marT="0" marB="0" anchor="ctr" anchorCtr="0" horzOverflow="overflow">
                    <a:lnR w="12700">
                      <a:solidFill>
                        <a:srgbClr val="000000"/>
                      </a:solidFill>
                      <a:miter lim="400000"/>
                    </a:lnR>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lnL w="12700">
                      <a:solidFill>
                        <a:srgbClr val="000000"/>
                      </a:solidFill>
                      <a:miter lim="400000"/>
                    </a:lnL>
                    <a:solidFill>
                      <a:srgbClr val="53AC79"/>
                    </a:solidFill>
                  </a:tcPr>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0.5</a:t>
                      </a:r>
                    </a:p>
                  </a:txBody>
                  <a:tcPr marL="63500" marR="63500" marT="0" marB="0" anchor="ctr" anchorCtr="0" horzOverflow="overflow">
                    <a:solidFill>
                      <a:srgbClr val="FEF0D6"/>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5</a:t>
                      </a:r>
                    </a:p>
                  </a:txBody>
                  <a:tcPr marL="63500" marR="63500" marT="0" marB="0" anchor="ctr" anchorCtr="0" horzOverflow="overflow"/>
                </a:tc>
              </a:tr>
              <a:tr h="281517">
                <a:tc>
                  <a:txBody>
                    <a:bodyPr/>
                    <a:lstStyle/>
                    <a:p>
                      <a:pPr algn="l" defTabSz="457200">
                        <a:defRPr b="0"/>
                      </a:pPr>
                      <a:r>
                        <a:rPr sz="1400"/>
                        <a:t>ATS</a:t>
                      </a:r>
                    </a:p>
                  </a:txBody>
                  <a:tcPr marL="63500" marR="63500" marT="0" marB="0" anchor="ctr" anchorCtr="0" horzOverflow="overflow">
                    <a:lnR w="12700">
                      <a:solidFill>
                        <a:srgbClr val="000000"/>
                      </a:solidFill>
                      <a:miter lim="400000"/>
                    </a:lnR>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lnL w="12700">
                      <a:solidFill>
                        <a:srgbClr val="000000"/>
                      </a:solidFill>
                      <a:miter lim="400000"/>
                    </a:ln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r>
              <a:tr h="296869">
                <a:tc>
                  <a:txBody>
                    <a:bodyPr/>
                    <a:lstStyle/>
                    <a:p>
                      <a:pPr algn="l" defTabSz="457200">
                        <a:defRPr b="0"/>
                      </a:pPr>
                      <a:r>
                        <a:rPr sz="1400"/>
                        <a:t>AIR</a:t>
                      </a:r>
                    </a:p>
                  </a:txBody>
                  <a:tcPr marL="63500" marR="63500" marT="0" marB="0" anchor="ctr" anchorCtr="0" horzOverflow="overflow">
                    <a:lnR w="12700">
                      <a:solidFill>
                        <a:srgbClr val="000000"/>
                      </a:solidFill>
                      <a:miter lim="400000"/>
                    </a:lnR>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lnL w="12700">
                      <a:solidFill>
                        <a:srgbClr val="000000"/>
                      </a:solidFill>
                      <a:miter lim="400000"/>
                    </a:lnL>
                    <a:solidFill>
                      <a:srgbClr val="D5D5D5"/>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r>
              <a:tr h="296869">
                <a:tc>
                  <a:txBody>
                    <a:bodyPr/>
                    <a:lstStyle/>
                    <a:p>
                      <a:pPr algn="l" defTabSz="457200">
                        <a:defRPr b="0"/>
                      </a:pPr>
                      <a:r>
                        <a:rPr sz="1400"/>
                        <a:t>Zetwerk</a:t>
                      </a:r>
                    </a:p>
                  </a:txBody>
                  <a:tcPr marL="63500" marR="63500" marT="0" marB="0" anchor="ctr" anchorCtr="0" horzOverflow="overflow">
                    <a:lnR w="12700">
                      <a:solidFill>
                        <a:srgbClr val="000000"/>
                      </a:solidFill>
                      <a:miter lim="400000"/>
                    </a:lnR>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lnL w="12700">
                      <a:solidFill>
                        <a:srgbClr val="000000"/>
                      </a:solidFill>
                      <a:miter lim="400000"/>
                    </a:ln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solidFill>
                      <a:srgbClr val="D5D5D5"/>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457200"/>
                      <a:r>
                        <a:rPr sz="1600">
                          <a:latin typeface="Helvetica Neue Thin"/>
                          <a:ea typeface="Helvetica Neue Thin"/>
                          <a:cs typeface="Helvetica Neue Thin"/>
                          <a:sym typeface="Helvetica Neue Thin"/>
                        </a:rPr>
                        <a:t>1</a:t>
                      </a:r>
                    </a:p>
                  </a:txBody>
                  <a:tcPr marL="63500" marR="63500" marT="0" marB="0" anchor="ctr" anchorCtr="0" horzOverflow="overflow">
                    <a:solidFill>
                      <a:srgbClr val="53AC79"/>
                    </a:solidFill>
                  </a:tcPr>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457200">
                        <a:defRPr sz="1600">
                          <a:latin typeface="Helvetica Neue Thin"/>
                          <a:ea typeface="Helvetica Neue Thin"/>
                          <a:cs typeface="Helvetica Neue Thin"/>
                          <a:sym typeface="Helvetica Neue Thin"/>
                        </a:defRPr>
                      </a:pP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457200"/>
                      <a:r>
                        <a:rPr sz="1600">
                          <a:latin typeface="Helvetica Neue Thin"/>
                          <a:ea typeface="Helvetica Neue Thin"/>
                          <a:cs typeface="Helvetica Neue Thin"/>
                          <a:sym typeface="Helvetica Neue Thin"/>
                        </a:rPr>
                        <a:t>-</a:t>
                      </a:r>
                    </a:p>
                  </a:txBody>
                  <a:tcPr marL="63500" marR="63500" marT="0" marB="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914400">
                        <a:defRPr sz="1600">
                          <a:latin typeface="Helvetica Neue Thin"/>
                          <a:ea typeface="Helvetica Neue Thin"/>
                          <a:cs typeface="Helvetica Neue Thin"/>
                          <a:sym typeface="Helvetica Neue Thin"/>
                        </a:defRPr>
                      </a:pPr>
                    </a:p>
                  </a:txBody>
                  <a:tcPr marL="50800" marR="50800" marT="50800" marB="50800" anchor="ctr" anchorCtr="0" horzOverflow="overflow"/>
                </a:tc>
                <a:tc>
                  <a:txBody>
                    <a:bodyPr/>
                    <a:lstStyle/>
                    <a:p>
                      <a:pPr defTabSz="457200"/>
                      <a:r>
                        <a:rPr sz="1600"/>
                        <a:t>3</a:t>
                      </a:r>
                    </a:p>
                  </a:txBody>
                  <a:tcPr marL="63500" marR="63500" marT="0" marB="0" anchor="ctr" anchorCtr="0" horzOverflow="overflow"/>
                </a:tc>
              </a:tr>
            </a:tbl>
          </a:graphicData>
        </a:graphic>
      </p:graphicFrame>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